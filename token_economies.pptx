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Arial"/>
              </a:rPr>
              <a:t>BTC Supply Approaching Hard Cap of 21M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BTC Circulating Supply (M)</c:v>
                </c:pt>
              </c:strCache>
            </c:strRef>
          </c:tx>
          <c:spPr>
            <a:solidFill>
              <a:srgbClr val="00D4AA"/>
            </a:solidFill>
            <a:ln w="38100" cap="flat">
              <a:solidFill>
                <a:srgbClr val="00D4A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D4AA"/>
              </a:solidFill>
              <a:ln w="9525" cap="flat">
                <a:solidFill>
                  <a:srgbClr val="00D4A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2009</c:v>
                  </c:pt>
                  <c:pt idx="1">
                    <c:v>2012</c:v>
                  </c:pt>
                  <c:pt idx="2">
                    <c:v>2016</c:v>
                  </c:pt>
                  <c:pt idx="3">
                    <c:v>2020</c:v>
                  </c:pt>
                  <c:pt idx="4">
                    <c:v>2024</c:v>
                  </c:pt>
                  <c:pt idx="5">
                    <c:v>2028</c:v>
                  </c:pt>
                  <c:pt idx="6">
                    <c:v>2032</c:v>
                  </c:pt>
                  <c:pt idx="7">
                    <c:v>2036</c:v>
                  </c:pt>
                  <c:pt idx="8">
                    <c:v>2040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</c:v>
                </c:pt>
                <c:pt idx="1">
                  <c:v>10.5</c:v>
                </c:pt>
                <c:pt idx="2">
                  <c:v>15.5</c:v>
                </c:pt>
                <c:pt idx="3">
                  <c:v>18.4</c:v>
                </c:pt>
                <c:pt idx="4">
                  <c:v>19.7</c:v>
                </c:pt>
                <c:pt idx="5">
                  <c:v>20.5</c:v>
                </c:pt>
                <c:pt idx="6">
                  <c:v>20.9</c:v>
                </c:pt>
                <c:pt idx="7">
                  <c:v>21</c:v>
                </c:pt>
                <c:pt idx="8">
                  <c:v>21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A8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A8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32B4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Example: UNI Token Distribution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D4AA"/>
              </a:solidFill>
              <a:effectLst/>
            </c:spPr>
          </c:dPt>
          <c:dPt>
            <c:idx val="1"/>
            <c:bubble3D val="0"/>
            <c:spPr>
              <a:solidFill>
                <a:srgbClr val="F5A623"/>
              </a:solidFill>
              <a:effectLst/>
            </c:spPr>
          </c:dPt>
          <c:dPt>
            <c:idx val="2"/>
            <c:bubble3D val="0"/>
            <c:spPr>
              <a:solidFill>
                <a:srgbClr val="A78BFA"/>
              </a:solidFill>
              <a:effectLst/>
            </c:spPr>
          </c:dPt>
          <c:dPt>
            <c:idx val="3"/>
            <c:bubble3D val="0"/>
            <c:spPr>
              <a:solidFill>
                <a:srgbClr val="34D399"/>
              </a:solidFill>
              <a:effectLst/>
            </c:spPr>
          </c:dPt>
          <c:dPt>
            <c:idx val="4"/>
            <c:bubble3D val="0"/>
            <c:spPr>
              <a:solidFill>
                <a:srgbClr val="F472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Community Treasury (43%)</c:v>
                </c:pt>
                <c:pt idx="1">
                  <c:v>Team &amp; Advisors (21.51%)</c:v>
                </c:pt>
                <c:pt idx="2">
                  <c:v>Investors (17.8%)</c:v>
                </c:pt>
                <c:pt idx="3">
                  <c:v>Ecosystem Grants (12.7%)</c:v>
                </c:pt>
                <c:pt idx="4">
                  <c:v>Airdrop (5%)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43</c:v>
                </c:pt>
                <c:pt idx="1">
                  <c:v>21.51</c:v>
                </c:pt>
                <c:pt idx="2">
                  <c:v>17.8</c:v>
                </c:pt>
                <c:pt idx="3">
                  <c:v>12.7</c:v>
                </c:pt>
                <c:pt idx="4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Arial"/>
              </a:rPr>
              <a:t>The Halving: Block Reward Over Time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BTC Mined Per Block (BTC)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2009
(Genesis)</c:v>
                  </c:pt>
                  <c:pt idx="1">
                    <c:v>2012
(1st Halving)</c:v>
                  </c:pt>
                  <c:pt idx="2">
                    <c:v>2016
(2nd Halving)</c:v>
                  </c:pt>
                  <c:pt idx="3">
                    <c:v>2020
(3rd Halving)</c:v>
                  </c:pt>
                  <c:pt idx="4">
                    <c:v>2024
(4th Halving)</c:v>
                  </c:pt>
                  <c:pt idx="5">
                    <c:v>2028
(5th Halving)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</c:v>
                </c:pt>
                <c:pt idx="1">
                  <c:v>25</c:v>
                </c:pt>
                <c:pt idx="2">
                  <c:v>12.5</c:v>
                </c:pt>
                <c:pt idx="3">
                  <c:v>6.25</c:v>
                </c:pt>
                <c:pt idx="4">
                  <c:v>3.125</c:v>
                </c:pt>
                <c:pt idx="5">
                  <c:v>1.5625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0A1628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Arial"/>
              </a:rPr>
              <a:t>DeFi Total Value Locked ($B)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DeFi TVL ($B)</c:v>
                </c:pt>
              </c:strCache>
            </c:strRef>
          </c:tx>
          <c:spPr>
            <a:solidFill>
              <a:srgbClr val="00D4A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 Peak</c:v>
                  </c:pt>
                  <c:pt idx="3">
                    <c:v>2022 Bear</c:v>
                  </c:pt>
                  <c:pt idx="4">
                    <c:v>2023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</c:v>
                </c:pt>
                <c:pt idx="1">
                  <c:v>15</c:v>
                </c:pt>
                <c:pt idx="2">
                  <c:v>180</c:v>
                </c:pt>
                <c:pt idx="3">
                  <c:v>40</c:v>
                </c:pt>
                <c:pt idx="4">
                  <c:v>48</c:v>
                </c:pt>
                <c:pt idx="5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32B4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-1371600"/>
            <a:ext cx="4572000" cy="4572000"/>
          </a:xfrm>
          <a:prstGeom prst="ellipse">
            <a:avLst/>
          </a:prstGeom>
          <a:solidFill>
            <a:srgbClr val="007A60">
              <a:alpha val="25000"/>
            </a:srgbClr>
          </a:solidFill>
          <a:ln w="12700">
            <a:solidFill>
              <a:srgbClr val="007A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-457200"/>
            <a:ext cx="2743200" cy="2743200"/>
          </a:xfrm>
          <a:prstGeom prst="ellipse">
            <a:avLst/>
          </a:prstGeom>
          <a:solidFill>
            <a:srgbClr val="00D4AA">
              <a:alpha val="15000"/>
            </a:srgbClr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0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4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ECONOMIES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WEB3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02920" y="2423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blockchain tokens power decentralized ecosystems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3383280"/>
            <a:ext cx="2560320" cy="502920"/>
          </a:xfrm>
          <a:prstGeom prst="rect">
            <a:avLst/>
          </a:prstGeom>
          <a:solidFill>
            <a:srgbClr val="00D4AA">
              <a:alpha val="2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3832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&amp; Cryptoeconomics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3383280"/>
            <a:ext cx="2011680" cy="502920"/>
          </a:xfrm>
          <a:prstGeom prst="rect">
            <a:avLst/>
          </a:prstGeom>
          <a:solidFill>
            <a:srgbClr val="F5A623">
              <a:alpha val="2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33832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Presentation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33272"/>
            <a:ext cx="50292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33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10698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Token Economy?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947672"/>
            <a:ext cx="50292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9842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Crypto Tokens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862072"/>
            <a:ext cx="50292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862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8986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Tokenomics — Supply &amp; Demand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776472"/>
            <a:ext cx="50292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3776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38130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Examples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033272"/>
            <a:ext cx="50292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33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49240" y="10698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Use Cases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1947672"/>
            <a:ext cx="50292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49240" y="19842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&amp; Governance Tokens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2862072"/>
            <a:ext cx="50292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2862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9240" y="28986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Risks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3776472"/>
            <a:ext cx="50292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3776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49240" y="38130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of Token Economies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TOKEN ECONOMY?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8412480" cy="123444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70432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token economy is a system in which digital tokens — issued on a blockchain — are used to represent value, incentivize behavior, and coordinate participants in a decentralized network without a central authority.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560320"/>
            <a:ext cx="2011680" cy="21031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2560320"/>
            <a:ext cx="20116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697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scarcity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finite — scarcity creates value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2560320"/>
            <a:ext cx="2011680" cy="21031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2560320"/>
            <a:ext cx="20116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2" name="Text 10"/>
          <p:cNvSpPr/>
          <p:nvPr/>
        </p:nvSpPr>
        <p:spPr>
          <a:xfrm>
            <a:off x="2606040" y="2697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Programmable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06040" y="3200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contracts automate rules &amp; rewards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2560320"/>
            <a:ext cx="2011680" cy="21031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2560320"/>
            <a:ext cx="20116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2697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Permissionless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3200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globally can participate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12280" y="2560320"/>
            <a:ext cx="2011680" cy="21031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12280" y="2560320"/>
            <a:ext cx="20116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0" name="Text 18"/>
          <p:cNvSpPr/>
          <p:nvPr/>
        </p:nvSpPr>
        <p:spPr>
          <a:xfrm>
            <a:off x="6903720" y="2697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3200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transactions visible on-chain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HISTORY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96112"/>
            <a:ext cx="804672" cy="40233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896112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78992" y="1097280"/>
            <a:ext cx="2286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896112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launches — the first digital currency with a fixed supply of 21M BTC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472184"/>
            <a:ext cx="804672" cy="40233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472184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78992" y="1673352"/>
            <a:ext cx="2286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1472184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Mastercoin (first token sale) — tokens issued on top of Bitcoin blockchain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048256"/>
            <a:ext cx="804672" cy="40233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048256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78992" y="2249424"/>
            <a:ext cx="2286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2048256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launches smart contracts — enabling programmable token creation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624328"/>
            <a:ext cx="804672" cy="40233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624328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78992" y="2825496"/>
            <a:ext cx="2286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2624328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 boom — $5.6B raised via token sales; ERC-20 standard popularized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3200400"/>
            <a:ext cx="804672" cy="40233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3200400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78992" y="3401568"/>
            <a:ext cx="2286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3200400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summer — tokens power lending, trading, yield farming at scale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3776472"/>
            <a:ext cx="804672" cy="40233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5" name="Text 23"/>
          <p:cNvSpPr/>
          <p:nvPr/>
        </p:nvSpPr>
        <p:spPr>
          <a:xfrm>
            <a:off x="274320" y="3776472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78992" y="3977640"/>
            <a:ext cx="2286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3776472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explosion — non-fungible tokens reach mainstream with billions in sales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4320" y="4352544"/>
            <a:ext cx="804672" cy="40233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" y="4352544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2023+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78992" y="4553712"/>
            <a:ext cx="2286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4352544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assets (RWA) tokenization — bringing stocks, real estate on-chain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VS COIN — WHAT'S THE DIFFERENCE?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023360" cy="356616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402336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972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its own blockchain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as currency / store of value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by its own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BTC, ETH, SOL, ADA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"Layer 1" native asset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1097280"/>
            <a:ext cx="4023360" cy="356616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097280"/>
            <a:ext cx="4023360" cy="502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0972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2920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existing blockchain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assets, rights, or utility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2926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Relies on host chain's security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3474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USDT, UNI, LINK, AAVE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"Layer 2" or smart contract asset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CRYPTO TOKENS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788920" cy="19202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278892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978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Tokens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139903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access to a product or service. Users buy/hold to use the platform.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" y="21671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Filecoin (FIL) — pay for decentralized storage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18688" y="868680"/>
            <a:ext cx="2788920" cy="19202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18688" y="868680"/>
            <a:ext cx="2788920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3328416" y="978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Tokens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28416" y="139903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 ownership in real-world assets. Subject to securities regulation.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8416" y="21671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tZERO — tokenized equity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63056" y="868680"/>
            <a:ext cx="2788920" cy="19202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63056" y="868680"/>
            <a:ext cx="2788920" cy="5486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6272784" y="978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Tokens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72784" y="139903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holders voting rights on protocol decisions and upgrades.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72784" y="21671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UNI — vote on Uniswap protocol changes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926080"/>
            <a:ext cx="2788920" cy="19202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926080"/>
            <a:ext cx="278892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1" name="Text 19"/>
          <p:cNvSpPr/>
          <p:nvPr/>
        </p:nvSpPr>
        <p:spPr>
          <a:xfrm>
            <a:off x="384048" y="30358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4048" y="345643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Price-pegged to fiat (USD) or commodities. Reduce volatility.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84048" y="42245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USDC — 1:1 backed by US dollars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18688" y="2926080"/>
            <a:ext cx="2788920" cy="19202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18688" y="2926080"/>
            <a:ext cx="2788920" cy="54864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6" name="Text 24"/>
          <p:cNvSpPr/>
          <p:nvPr/>
        </p:nvSpPr>
        <p:spPr>
          <a:xfrm>
            <a:off x="3328416" y="30358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328416" y="345643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Non-fungible — each token is unique. Used for art, gaming, identity.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28416" y="42245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CryptoPunks — unique digital collectibles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63056" y="2926080"/>
            <a:ext cx="2788920" cy="19202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63056" y="2926080"/>
            <a:ext cx="2788920" cy="54864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31" name="Text 29"/>
          <p:cNvSpPr/>
          <p:nvPr/>
        </p:nvSpPr>
        <p:spPr>
          <a:xfrm>
            <a:off x="6272784" y="30358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Tokens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272784" y="345643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when providing liquidity to DeFi pools. Represent your pool share.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72784" y="42245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Uniswap V3 LP positions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TOKENOMICS — THE ECONOMICS OF TOKENS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Tokenomics = Token + Economics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1554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a token's design, supply mechanics, distribution, and incentive structures that determine its economic behavior.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194560"/>
            <a:ext cx="502920" cy="411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21945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2128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468880" y="22128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supply, circulating supply, max supply, inflation/deflation rate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761488"/>
            <a:ext cx="502920" cy="411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76148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7797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7797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tokens are allocated: team, investors, community, ecosystem fund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328416"/>
            <a:ext cx="502920" cy="411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332841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334670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468880" y="334670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behaviors tokens reward: staking, liquidity provision, usage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3895344"/>
            <a:ext cx="502920" cy="411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895344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39136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468880" y="39136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 tokens change hands — high velocity = lower price pressure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4462272"/>
            <a:ext cx="502920" cy="411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4622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4480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468880" y="4480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you DO with the token? More use cases = more demand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MECHANICS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822960"/>
          <a:ext cx="5029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822960"/>
            <a:ext cx="3291840" cy="91440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577840" y="822960"/>
            <a:ext cx="54864" cy="9144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4"/>
          <p:cNvSpPr/>
          <p:nvPr/>
        </p:nvSpPr>
        <p:spPr>
          <a:xfrm>
            <a:off x="5715000" y="8686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Supply (Deflationary)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715000" y="1207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cap. Scarcity drives value over time.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15000" y="146304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Bitcoin: 21M max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577840" y="1828800"/>
            <a:ext cx="3291840" cy="91440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77840" y="1828800"/>
            <a:ext cx="54864" cy="9144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2" name="Text 9"/>
          <p:cNvSpPr/>
          <p:nvPr/>
        </p:nvSpPr>
        <p:spPr>
          <a:xfrm>
            <a:off x="5715000" y="18745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Inflationary Supply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715000" y="22128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tokens minted continuously to reward stakers.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715000" y="246888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post-merge: ~0.5% issuance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577840" y="2834640"/>
            <a:ext cx="3291840" cy="91440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577840" y="2834640"/>
            <a:ext cx="54864" cy="91440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17" name="Text 14"/>
          <p:cNvSpPr/>
          <p:nvPr/>
        </p:nvSpPr>
        <p:spPr>
          <a:xfrm>
            <a:off x="5715000" y="28803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 Mechanisms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715000" y="32186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destroyed to reduce supply. Deflationary pressure.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715000" y="347472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 burns gas fees via EIP-1559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577840" y="3840480"/>
            <a:ext cx="3291840" cy="91440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577840" y="3840480"/>
            <a:ext cx="54864" cy="9144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2" name="Text 19"/>
          <p:cNvSpPr/>
          <p:nvPr/>
        </p:nvSpPr>
        <p:spPr>
          <a:xfrm>
            <a:off x="5715000" y="38862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Vesting Schedules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715000" y="4224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Team/investor tokens unlock over time — prevents dumps.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715000" y="448056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Typical: 4yr vest, 1yr cliff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DISTRIBUTION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4572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029200" y="1005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Distribution Matters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029200" y="1600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ownership → centralization risk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0" y="2148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team/investor allocations → selling pressure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0" y="26974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Community-first = better long-term decentralization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3246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Airdrops bootstrap adoption &amp; reward early users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0" y="37947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funds protocol development indefinitely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0" y="4251960"/>
            <a:ext cx="3840480" cy="5486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0" y="42519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Red Flag: &gt;30% team allocation with short vesting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27EEA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137160"/>
            <a:ext cx="8595360" cy="749808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2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46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(ETH)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Computer — programmable blockchain powering the token economy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2011680" cy="132588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600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2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~120M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74320" y="221284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Supply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1508760"/>
            <a:ext cx="2011680" cy="132588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1600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2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~$3T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468880" y="221284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Market Cap (2021)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508760"/>
            <a:ext cx="2011680" cy="132588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1600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2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EIP-1559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663440" y="221284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Burn Model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0" y="1508760"/>
            <a:ext cx="2011680" cy="132588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0" y="1600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2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~0.5%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858000" y="221284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Issuance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" y="2971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2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currency: 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828800" y="29718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 pays for computation (gas) — every transaction requires ETH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" y="345643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2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EIP-1559: 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828800" y="3456432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fee is burned with every transaction — reduces supply over time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" y="39410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2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Stake: 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28800" y="3941064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 stake 32 ETH to secure network, earning ~4% yield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" y="442569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2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DeFi: 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828800" y="4425696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90%+ of DeFi protocols built on Ethereum or EVM-compatible chains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137160"/>
            <a:ext cx="8595360" cy="749808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94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46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(SOL)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High-throughput blockchain — speed and low cost as core tokenomics features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2011680" cy="132588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600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4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65,000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" y="221284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TPS Capacity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1508760"/>
            <a:ext cx="2011680" cy="132588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1600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4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~600M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68880" y="221284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Supply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508760"/>
            <a:ext cx="2011680" cy="132588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1600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4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~$0.001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221284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Fee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0" y="1508760"/>
            <a:ext cx="2011680" cy="132588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0" y="1600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4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PoH + PoS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58000" y="221284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" y="29718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4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History: 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11680" y="29718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clock enables massively parallel transaction processing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" y="345643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4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Inflationary model: 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011680" y="345643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8% inflation/year, decreasing 15% annually toward 1.5% floor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" y="394106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4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rewards: 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011680" y="394106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Delegators earn ~6–7% APY for securing the network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" y="442569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4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growth: 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011680" y="442569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demand for SOL — Firedancer upgrade targets 1M TPS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03 — BITCOIN: DESIGNED FOR SCARCITY</a:t>
            </a:r>
            <a:endParaRPr lang="en-US" sz="2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1005840"/>
            <a:ext cx="3291840" cy="658368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687568" y="104241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Million Hard Cap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687568" y="133502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BTC will ever be minted — absolute scarcity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577840" y="1728216"/>
            <a:ext cx="3291840" cy="658368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687568" y="17647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Halving Every ~4 Years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87568" y="20574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reward cuts in half — reduces new supply entering market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2450592"/>
            <a:ext cx="3291840" cy="658368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687568" y="24871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Stock-to-Flow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87568" y="277977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S2F ratio (like gold) suggests store-of-value properties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77840" y="3172968"/>
            <a:ext cx="3291840" cy="658368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687568" y="320954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Pre-mine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687568" y="350215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Satoshi never held a private ICO — fair launch principle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577840" y="3895344"/>
            <a:ext cx="3291840" cy="658368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687568" y="39319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Coins = Deflation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87568" y="42245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3–4M BTC estimated permanently lost, tightening supply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5ADA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137160"/>
            <a:ext cx="8595360" cy="749808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A5A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46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CHAINLINK (LINK) — UTILITY TOKEN IN ACTION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powers Chainlink's decentralized oracle network — connecting smart contracts to real-world data.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2286000" cy="109728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600200"/>
            <a:ext cx="2286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Off-chain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0" y="1600200"/>
            <a:ext cx="2286000" cy="109728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600200"/>
            <a:ext cx="2286000" cy="54864"/>
          </a:xfrm>
          <a:prstGeom prst="rect">
            <a:avLst/>
          </a:prstGeom>
          <a:solidFill>
            <a:srgbClr val="2A5ADA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A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Chainlink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A5A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Node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1600200"/>
            <a:ext cx="2286000" cy="109728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600200"/>
            <a:ext cx="2286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5" name="Text 13"/>
          <p:cNvSpPr/>
          <p:nvPr/>
        </p:nvSpPr>
        <p:spPr>
          <a:xfrm>
            <a:off x="6035040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651760" y="2148840"/>
            <a:ext cx="548640" cy="0"/>
          </a:xfrm>
          <a:prstGeom prst="line">
            <a:avLst/>
          </a:prstGeom>
          <a:noFill/>
          <a:ln w="3175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920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0" y="2148840"/>
            <a:ext cx="548640" cy="0"/>
          </a:xfrm>
          <a:prstGeom prst="line">
            <a:avLst/>
          </a:prstGeom>
          <a:noFill/>
          <a:ln w="3175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0" y="1920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0040" y="2926080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5A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operators stake LINK as collateral — slashed if they provide wrong data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" y="3429000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5A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pay LINK to request data feeds — creates constant utility demand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" y="3931920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5A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total supply; large reserves held by Chainlink Labs for ecosystem funding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" y="4434840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5A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90%+ of DeFi price feeds — deeply embedded in Web3 infrastructure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USE CASES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88920" cy="182880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278892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188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Remittances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" y="1645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transfers in seconds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84048" y="20482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 stable settlement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24505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Micropayments &amp; streaming money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18688" y="1097280"/>
            <a:ext cx="2788920" cy="182880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18688" y="1097280"/>
            <a:ext cx="2788920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2" name="Text 10"/>
          <p:cNvSpPr/>
          <p:nvPr/>
        </p:nvSpPr>
        <p:spPr>
          <a:xfrm>
            <a:off x="3328416" y="1188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Finance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28416" y="1645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yield without a bank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28416" y="20482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against crypto collateral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28416" y="24505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on DEXes permissionlessly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3056" y="1097280"/>
            <a:ext cx="2788920" cy="182880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63056" y="1097280"/>
            <a:ext cx="2788920" cy="5486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272784" y="1188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Gaming &amp; Metaverse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72784" y="1645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in-game assets as NFTs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72784" y="20482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tokens for gameplay (P2E)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72784" y="24505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Interoperable items across games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3063240"/>
            <a:ext cx="2788920" cy="182880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063240"/>
            <a:ext cx="278892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Access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4048" y="3611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Token-gated communities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84048" y="40142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membership (SBTs)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84048" y="44165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reputation scores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18688" y="3063240"/>
            <a:ext cx="2788920" cy="182880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18688" y="3063240"/>
            <a:ext cx="2788920" cy="54864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30" name="Text 28"/>
          <p:cNvSpPr/>
          <p:nvPr/>
        </p:nvSpPr>
        <p:spPr>
          <a:xfrm>
            <a:off x="3328416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328416" y="3611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goods provenance on-chain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328416" y="40142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 physical inventory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328416" y="44165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payments on delivery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63056" y="3063240"/>
            <a:ext cx="2788920" cy="182880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63056" y="3063240"/>
            <a:ext cx="2788920" cy="54864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36" name="Text 34"/>
          <p:cNvSpPr/>
          <p:nvPr/>
        </p:nvSpPr>
        <p:spPr>
          <a:xfrm>
            <a:off x="6272784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Economy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72784" y="3611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tokens for sports clubs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272784" y="40142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 content directly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272784" y="44165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Royalties auto-paid via smart contract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FINANCE (DeFi)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8229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recreates traditional financial services — lending, borrowing, trading — using tokens and smart contracts, with no banks or intermediaries.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417320"/>
          <a:ext cx="4572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029200" y="1417320"/>
            <a:ext cx="3840480" cy="777240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0" y="1417320"/>
            <a:ext cx="54864" cy="7772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8" name="Text 5"/>
          <p:cNvSpPr/>
          <p:nvPr/>
        </p:nvSpPr>
        <p:spPr>
          <a:xfrm>
            <a:off x="5166360" y="14538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166360" y="17556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market makers (AMMs) like Uniswap replace order books with liquidity pools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0" y="2276856"/>
            <a:ext cx="3840480" cy="777240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11" name="Shape 8"/>
          <p:cNvSpPr/>
          <p:nvPr/>
        </p:nvSpPr>
        <p:spPr>
          <a:xfrm>
            <a:off x="5029200" y="2276856"/>
            <a:ext cx="54864" cy="7772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2" name="Text 9"/>
          <p:cNvSpPr/>
          <p:nvPr/>
        </p:nvSpPr>
        <p:spPr>
          <a:xfrm>
            <a:off x="5166360" y="2313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166360" y="261518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Aave, Compound: deposit tokens as collateral, borrow against it — overcollateralized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0" y="3136392"/>
            <a:ext cx="3840480" cy="777240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15" name="Shape 12"/>
          <p:cNvSpPr/>
          <p:nvPr/>
        </p:nvSpPr>
        <p:spPr>
          <a:xfrm>
            <a:off x="5029200" y="3136392"/>
            <a:ext cx="54864" cy="7772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6" name="Text 13"/>
          <p:cNvSpPr/>
          <p:nvPr/>
        </p:nvSpPr>
        <p:spPr>
          <a:xfrm>
            <a:off x="5166360" y="31729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Farming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166360" y="3474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liquidity → earn trading fees + governance token rewards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0" y="3995928"/>
            <a:ext cx="3840480" cy="777240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0" y="3995928"/>
            <a:ext cx="54864" cy="77724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0" name="Text 17"/>
          <p:cNvSpPr/>
          <p:nvPr/>
        </p:nvSpPr>
        <p:spPr>
          <a:xfrm>
            <a:off x="5166360" y="40325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166360" y="433425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DAI: overcollateralized by ETH; algorithmic models (higher risk)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TOKENS &amp; DAOs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8595360" cy="5943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2412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DAO (Decentralized Autonomous Organization) is governed by token holders who vote on proposals using governance tokens — no CEO, no board.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783080"/>
            <a:ext cx="2011680" cy="30175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1874520"/>
            <a:ext cx="640080" cy="64008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651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10896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token holder can submit a governance proposal on-chain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50592" y="1783080"/>
            <a:ext cx="2011680" cy="30175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36392" y="1874520"/>
            <a:ext cx="640080" cy="64008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3" name="Text 11"/>
          <p:cNvSpPr/>
          <p:nvPr/>
        </p:nvSpPr>
        <p:spPr>
          <a:xfrm>
            <a:off x="3136392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42032" y="2651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42032" y="310896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debates pros/cons via forums (Discourse, Snapshot)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26864" y="1783080"/>
            <a:ext cx="2011680" cy="30175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12664" y="1874520"/>
            <a:ext cx="640080" cy="64008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8" name="Text 16"/>
          <p:cNvSpPr/>
          <p:nvPr/>
        </p:nvSpPr>
        <p:spPr>
          <a:xfrm>
            <a:off x="5312664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18304" y="2651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18304" y="310896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holders vote on-chain — 1 token = 1 vote (or quadratic)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03136" y="1783080"/>
            <a:ext cx="2011680" cy="30175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874520"/>
            <a:ext cx="640080" cy="64008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3" name="Text 21"/>
          <p:cNvSpPr/>
          <p:nvPr/>
        </p:nvSpPr>
        <p:spPr>
          <a:xfrm>
            <a:off x="7488936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94576" y="2651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94576" y="310896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proposals auto-execute via smart contract timelock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86000" y="2926080"/>
            <a:ext cx="164592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62272" y="2926080"/>
            <a:ext cx="164592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38544" y="2926080"/>
            <a:ext cx="164592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&amp; EARNING YIELD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91440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73152" cy="9144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235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Stake Staking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30759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tokens to validate transactions → earn newly minted tokens as reward. Ethereum: ~4% APY. Solana: ~6–7% APY.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892808"/>
            <a:ext cx="8595360" cy="91440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892808"/>
            <a:ext cx="73152" cy="9144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47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Mining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tokens into a DEX liquidity pool. Earn trading fees (0.3% per trade on Uniswap) + governance token rewards.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916936"/>
            <a:ext cx="8595360" cy="91440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916936"/>
            <a:ext cx="73152" cy="9144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971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APY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335584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tokens on Aave/Compound. Borrowers pay interest; lenders earn APY. Rates float based on utilization.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941064"/>
            <a:ext cx="8595360" cy="91440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941064"/>
            <a:ext cx="73152" cy="91440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9959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Yield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" y="437997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Protocol-generated revenue shared with stakers (e.g. GMX, dYdX). Considered more sustainable than inflationary emissions.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Warning: High APY often = high inflation/risk. Always check: is yield sustainable or just token printing?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RISKS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251960" cy="11887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4251960" cy="5486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143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 Market Volatility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150876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markets can drop 80–90% in bear markets. Token value is speculative and can go to zero. Terra/LUNA wiped out $40B in days (May 2022).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4251960" cy="11887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51560"/>
            <a:ext cx="4251960" cy="54864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10" name="Text 8"/>
          <p:cNvSpPr/>
          <p:nvPr/>
        </p:nvSpPr>
        <p:spPr>
          <a:xfrm>
            <a:off x="4864608" y="1143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Regulatory Uncertainty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64608" y="150876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tokens are unregistered securities. SEC lawsuits against Ripple, Coinbase. Unclear rules differ across countries — creating compliance risk.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77440"/>
            <a:ext cx="4251960" cy="11887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377440"/>
            <a:ext cx="4251960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" y="24688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 Smart Contract Bugs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$3B+ lost to smart contract exploits in 2022 alone. Code is law — bugs are irreversible. Audits reduce but can't eliminate risk.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377440"/>
            <a:ext cx="4251960" cy="11887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377440"/>
            <a:ext cx="4251960" cy="5486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4864608" y="24688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🐋  Token Concentration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64608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Whale wallets (top 1%) hold 90%+ of many tokens. Price manipulation, governance capture, and pump-and-dump schemes are common.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703320"/>
            <a:ext cx="4251960" cy="11887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703320"/>
            <a:ext cx="425196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2" name="Text 20"/>
          <p:cNvSpPr/>
          <p:nvPr/>
        </p:nvSpPr>
        <p:spPr>
          <a:xfrm>
            <a:off x="384048" y="37947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 Mercenary Liquidity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" y="416052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farmers move capital to highest returns, abandoning protocols when emissions drop. Sustainable tokenomics must solve this.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703320"/>
            <a:ext cx="4251960" cy="11887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3703320"/>
            <a:ext cx="4251960" cy="54864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6" name="Text 24"/>
          <p:cNvSpPr/>
          <p:nvPr/>
        </p:nvSpPr>
        <p:spPr>
          <a:xfrm>
            <a:off x="4864608" y="37947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 Scams &amp; Rug Pulls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64608" y="416052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raise funds, then devs exit with all money. 2021: $7.7B stolen via rug pulls. Due diligence is critical before investing.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LANDSCAPE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251960" cy="12344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84048" y="9418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978408"/>
            <a:ext cx="1188720" cy="274320"/>
          </a:xfrm>
          <a:prstGeom prst="rect">
            <a:avLst/>
          </a:prstGeom>
          <a:solidFill>
            <a:srgbClr val="F87171">
              <a:alpha val="3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0" y="9784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4048" y="1371600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treats most tokens as securities. Ongoing lawsuits. MiCA-equivalent legislation pending in Congress.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251960" cy="12344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64608" y="9418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Union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80960" y="978408"/>
            <a:ext cx="1188720" cy="274320"/>
          </a:xfrm>
          <a:prstGeom prst="rect">
            <a:avLst/>
          </a:prstGeom>
          <a:solidFill>
            <a:srgbClr val="34D399">
              <a:alpha val="3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0" y="9784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(MiCA)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64608" y="1371600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in Crypto Assets (MiCA) regulation in force since 2024 — most comprehensive global framework.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240280"/>
            <a:ext cx="4251960" cy="12344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4048" y="2313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0" y="2350008"/>
            <a:ext cx="1188720" cy="274320"/>
          </a:xfrm>
          <a:prstGeom prst="rect">
            <a:avLst/>
          </a:prstGeom>
          <a:solidFill>
            <a:srgbClr val="00D4AA">
              <a:alpha val="3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23500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Crypto-Friendly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4048" y="2743200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licensing regime. Clear utility vs security token distinction. Major hub for Web3 companies.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240280"/>
            <a:ext cx="4251960" cy="12344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2313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80960" y="2350008"/>
            <a:ext cx="1188720" cy="274320"/>
          </a:xfrm>
          <a:prstGeom prst="rect">
            <a:avLst/>
          </a:prstGeom>
          <a:solidFill>
            <a:srgbClr val="F87171">
              <a:alpha val="3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0" y="23500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64608" y="2743200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trading and mining banned since 2021. State-issued CBDC (digital yuan) is the official direction.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611880"/>
            <a:ext cx="4251960" cy="12344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84048" y="36850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Korea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200400" y="3721608"/>
            <a:ext cx="1188720" cy="274320"/>
          </a:xfrm>
          <a:prstGeom prst="rect">
            <a:avLst/>
          </a:prstGeom>
          <a:solidFill>
            <a:srgbClr val="F5A623">
              <a:alpha val="3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721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84048" y="4114800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Rule enforced. Exchange licensing required. Strong retail participation; strict AML/KYC rules.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3611880"/>
            <a:ext cx="4251960" cy="1234440"/>
          </a:xfrm>
          <a:prstGeom prst="rect">
            <a:avLst/>
          </a:prstGeom>
          <a:solidFill>
            <a:srgbClr val="132B47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64608" y="36850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 / Dubai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80960" y="3721608"/>
            <a:ext cx="1188720" cy="274320"/>
          </a:xfrm>
          <a:prstGeom prst="rect">
            <a:avLst/>
          </a:prstGeom>
          <a:solidFill>
            <a:srgbClr val="34D399">
              <a:alpha val="3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0" y="3721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Hub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64608" y="4114800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VARA framework — Virtual Assets Regulatory Authority. Attracted hundreds of major crypto firms.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OF TOKEN ECONOMIES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8595360" cy="713232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502920" cy="71323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5156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106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Asset (RWA) Tokenization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399032"/>
            <a:ext cx="7772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BlackRock, Franklin Templeton tokenizing treasuries/bonds. Projected $16T market by 2030 (BCG). Property, stocks, commodities on-chain.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47088"/>
            <a:ext cx="8595360" cy="713232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847088"/>
            <a:ext cx="502920" cy="7132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847088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1901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Abstraction &amp; UX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2194560"/>
            <a:ext cx="7772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wallets replace seed phrases. Gasless transactions. Social login. Making Web3 as easy as Web2 — expanding token economy access.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642616"/>
            <a:ext cx="8595360" cy="713232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642616"/>
            <a:ext cx="502920" cy="71323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42616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2697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× Blockchain Agents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2990088"/>
            <a:ext cx="7772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transact autonomously using crypto wallets. Agent-to-agent micropayments. New token models for AI services and compute.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3438144"/>
            <a:ext cx="8595360" cy="713232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438144"/>
            <a:ext cx="502920" cy="71323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3438144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Digital Currencies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3785616"/>
            <a:ext cx="7772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130+ countries developing CBDCs. Could compete with or complement crypto tokens. New programmable money at sovereign scale.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4233672"/>
            <a:ext cx="8595360" cy="713232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4233672"/>
            <a:ext cx="502920" cy="713232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" y="4233672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" y="42885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Interoperability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4400" y="4581144"/>
            <a:ext cx="7772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move freely across Ethereum, Solana, Cosmos. Unified liquidity. LayerZero, Wormhole bridging ecosystems — one token economy.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594360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5" name="Shape 3"/>
          <p:cNvSpPr/>
          <p:nvPr/>
        </p:nvSpPr>
        <p:spPr>
          <a:xfrm>
            <a:off x="347472" y="96012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347472" y="960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960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programmable digital assets on a blockchain — far more than just "crypto coins"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554480"/>
            <a:ext cx="8595360" cy="594360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" y="1645920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16459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Tokenomics = supply, distribution, incentives, velocity, and utility working together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240280"/>
            <a:ext cx="8595360" cy="594360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13" name="Shape 11"/>
          <p:cNvSpPr/>
          <p:nvPr/>
        </p:nvSpPr>
        <p:spPr>
          <a:xfrm>
            <a:off x="347472" y="2331720"/>
            <a:ext cx="411480" cy="4114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" y="2331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2331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examples: BTC (scarcity), ETH (utility + burn), LINK (oracle payments), UNI (governance)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926080"/>
            <a:ext cx="8595360" cy="594360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17" name="Shape 15"/>
          <p:cNvSpPr/>
          <p:nvPr/>
        </p:nvSpPr>
        <p:spPr>
          <a:xfrm>
            <a:off x="347472" y="3017520"/>
            <a:ext cx="411480" cy="4114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6112" y="3017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uses tokens to replace banks — enabling permissionless lending, trading, and yield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3611880"/>
            <a:ext cx="8595360" cy="594360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21" name="Shape 19"/>
          <p:cNvSpPr/>
          <p:nvPr/>
        </p:nvSpPr>
        <p:spPr>
          <a:xfrm>
            <a:off x="347472" y="3703320"/>
            <a:ext cx="411480" cy="4114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6112" y="37033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are real: volatility, regulation, hacks, and concentration risk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8595360" cy="594360"/>
          </a:xfrm>
          <a:prstGeom prst="rect">
            <a:avLst/>
          </a:prstGeom>
          <a:solidFill>
            <a:srgbClr val="132B47"/>
          </a:solidFill>
          <a:ln/>
        </p:spPr>
      </p:sp>
      <p:sp>
        <p:nvSpPr>
          <p:cNvPr id="25" name="Shape 23"/>
          <p:cNvSpPr/>
          <p:nvPr/>
        </p:nvSpPr>
        <p:spPr>
          <a:xfrm>
            <a:off x="347472" y="4389120"/>
            <a:ext cx="411480" cy="411480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" y="4389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96112" y="4389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is converging: AI agents, RWAs, CBDCs, and cross-chain economies are next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1371600"/>
            <a:ext cx="4572000" cy="4572000"/>
          </a:xfrm>
          <a:prstGeom prst="ellipse">
            <a:avLst/>
          </a:prstGeom>
          <a:solidFill>
            <a:srgbClr val="007A60">
              <a:alpha val="20000"/>
            </a:srgbClr>
          </a:solidFill>
          <a:ln w="12700">
            <a:solidFill>
              <a:srgbClr val="007A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777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5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economies are reshaping how value is created, distributed,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governed in the digital age.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926080"/>
            <a:ext cx="8046720" cy="36576"/>
          </a:xfrm>
          <a:prstGeom prst="rect">
            <a:avLst/>
          </a:prstGeom>
          <a:solidFill>
            <a:srgbClr val="00D4AA">
              <a:alpha val="4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3154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Learn more: 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965960" y="3154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ethereum.org/en/defi  |  docs.uniswap.org  |  chain.link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36301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Data: 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965960" y="36301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defillama.com  |  coingecko.com  |  messari.io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41056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Research: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65960" y="410565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arxiv.org/abs/1903.10461  |  vitalik.ca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Token Economies in Web3</dc:title>
  <dc:subject>PptxGenJS Presentation</dc:subject>
  <dc:creator>PptxGenJS</dc:creator>
  <cp:lastModifiedBy>PptxGenJS</cp:lastModifiedBy>
  <cp:revision>1</cp:revision>
  <dcterms:created xsi:type="dcterms:W3CDTF">2026-04-16T03:35:04Z</dcterms:created>
  <dcterms:modified xsi:type="dcterms:W3CDTF">2026-04-16T03:35:04Z</dcterms:modified>
</cp:coreProperties>
</file>