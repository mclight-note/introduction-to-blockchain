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90"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7" autoAdjust="0"/>
    <p:restoredTop sz="94660"/>
  </p:normalViewPr>
  <p:slideViewPr>
    <p:cSldViewPr snapToGrid="0">
      <p:cViewPr>
        <p:scale>
          <a:sx n="120" d="100"/>
          <a:sy n="120" d="100"/>
        </p:scale>
        <p:origin x="8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44F4-5983-FB1C-988B-66DF5C584C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35C5C2-DF79-3DFB-8C24-19E2D73074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2E90BE-429C-19C2-FDBA-DF1CFA35EF5D}"/>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5" name="Footer Placeholder 4">
            <a:extLst>
              <a:ext uri="{FF2B5EF4-FFF2-40B4-BE49-F238E27FC236}">
                <a16:creationId xmlns:a16="http://schemas.microsoft.com/office/drawing/2014/main" id="{844255C7-7A42-DF38-FF43-4FE8B2A108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B1732-3E5B-528F-4EC1-1AE3DF5B04E8}"/>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3774057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16B6-BE50-B933-1A3B-BF2784517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D20781-5F0E-3CB7-0A19-364D65875D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A67C5-FF2B-08F4-55D1-B526DBD05837}"/>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5" name="Footer Placeholder 4">
            <a:extLst>
              <a:ext uri="{FF2B5EF4-FFF2-40B4-BE49-F238E27FC236}">
                <a16:creationId xmlns:a16="http://schemas.microsoft.com/office/drawing/2014/main" id="{D49422B1-018F-F920-A33C-250387C79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ADC0F-E97C-0DA8-FD11-AEC976333823}"/>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406469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72616-0147-92CB-0A4E-D6300B0BBE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F15A3D-4DF9-868B-5307-EC88DAA2A0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2A8682-2F7F-78B7-CD88-7633FD0DCB03}"/>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5" name="Footer Placeholder 4">
            <a:extLst>
              <a:ext uri="{FF2B5EF4-FFF2-40B4-BE49-F238E27FC236}">
                <a16:creationId xmlns:a16="http://schemas.microsoft.com/office/drawing/2014/main" id="{78891085-765A-6761-7B80-760E350C9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3FF51-DB62-035B-E466-BE50C3E8277C}"/>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2932911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FEC74-8188-9199-D7B2-3DD9322FE8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C9E245-D3C6-2624-3B22-980F9B782D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4D3BD0-427F-DE03-F8C6-0CEF490574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F40E18-CE4C-B176-CDF4-00B080BE404B}"/>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6" name="Footer Placeholder 5">
            <a:extLst>
              <a:ext uri="{FF2B5EF4-FFF2-40B4-BE49-F238E27FC236}">
                <a16:creationId xmlns:a16="http://schemas.microsoft.com/office/drawing/2014/main" id="{1DAB5710-82EA-DA90-58DE-4C8CB8D427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3429BD-77B9-26C5-B271-A6155D91BF7D}"/>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37584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C1C4-5860-5416-FC0E-545B73E0A6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BB1D2B-3EDF-5B67-E0CC-CCD512BA82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7157C2-AC6B-8289-05CA-9AAC41A6C6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2EA651-1C9F-946D-32DE-29A517BA39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7E8745-28D8-EE44-2686-54788F1EB5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6EEEAB-1E9B-952C-10B4-B799371C299B}"/>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8" name="Footer Placeholder 7">
            <a:extLst>
              <a:ext uri="{FF2B5EF4-FFF2-40B4-BE49-F238E27FC236}">
                <a16:creationId xmlns:a16="http://schemas.microsoft.com/office/drawing/2014/main" id="{A5089BC7-42BC-86F3-F925-A09BBEEEE2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B3B68C-2A78-9765-3D29-72798E118738}"/>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3941942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50AF4-15FD-8E41-1B42-FDD4E18AB4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59F41E-693E-670D-7036-D0E93A540C0B}"/>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4" name="Footer Placeholder 3">
            <a:extLst>
              <a:ext uri="{FF2B5EF4-FFF2-40B4-BE49-F238E27FC236}">
                <a16:creationId xmlns:a16="http://schemas.microsoft.com/office/drawing/2014/main" id="{23C71386-7941-563D-622A-142344EDA1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3215B6-A769-262A-08E3-D3C4714617B4}"/>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427667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20C9F8-328C-7492-5215-2F72D2E44D1F}"/>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3" name="Footer Placeholder 2">
            <a:extLst>
              <a:ext uri="{FF2B5EF4-FFF2-40B4-BE49-F238E27FC236}">
                <a16:creationId xmlns:a16="http://schemas.microsoft.com/office/drawing/2014/main" id="{1787FA79-9908-1E99-44CF-18B407AB38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B9EA0F-AC8F-D29D-1332-797EAEC776F3}"/>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3631704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9A15C-1996-246F-212C-44C0D2F031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142101-D4E9-AAD7-E5CC-5FCD229FAA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AF776D-809F-0227-FC9F-8E594C24B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04CF18-7AA8-CE5B-9A37-D259BFCB8C55}"/>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6" name="Footer Placeholder 5">
            <a:extLst>
              <a:ext uri="{FF2B5EF4-FFF2-40B4-BE49-F238E27FC236}">
                <a16:creationId xmlns:a16="http://schemas.microsoft.com/office/drawing/2014/main" id="{7FFAE1AE-2407-0ADF-6311-C549F1161F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53902-9926-0CF2-76A5-F2D582D32F98}"/>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1818359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B0E7F-288E-5E8D-F29E-CE82CED473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ECE50A-D37E-F65F-5592-5E1B6A8FD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06367F-96DF-B26B-0BBF-808A790B2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CC490-E657-DE0F-5EA5-A8C4A6D1E903}"/>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6" name="Footer Placeholder 5">
            <a:extLst>
              <a:ext uri="{FF2B5EF4-FFF2-40B4-BE49-F238E27FC236}">
                <a16:creationId xmlns:a16="http://schemas.microsoft.com/office/drawing/2014/main" id="{9B3028F1-7FCF-9C33-E10F-C69EEEA39B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E0257-3DEA-A8F3-14DB-7E71C4D758F8}"/>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739241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4FC9-2735-7CCC-0CB4-BA8EA3C9BC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D949B7-2DFF-ACAC-F639-7278A9B6AF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C87BD-E34E-7F7E-70EB-76D6A10B4F57}"/>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5" name="Footer Placeholder 4">
            <a:extLst>
              <a:ext uri="{FF2B5EF4-FFF2-40B4-BE49-F238E27FC236}">
                <a16:creationId xmlns:a16="http://schemas.microsoft.com/office/drawing/2014/main" id="{1AAB5761-6722-282C-1437-E016D4743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054A5-76F1-B8D2-BE4D-FC55A565FCF7}"/>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4158485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D72EBD-F749-D5C5-5FAC-68B395D56C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40DD7B-E150-A2D2-A467-61CC091E5A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83344-A6B6-9F36-A43E-943DFC38D07C}"/>
              </a:ext>
            </a:extLst>
          </p:cNvPr>
          <p:cNvSpPr>
            <a:spLocks noGrp="1"/>
          </p:cNvSpPr>
          <p:nvPr>
            <p:ph type="dt" sz="half" idx="10"/>
          </p:nvPr>
        </p:nvSpPr>
        <p:spPr/>
        <p:txBody>
          <a:bodyPr/>
          <a:lstStyle/>
          <a:p>
            <a:fld id="{1CF5F0FA-6146-4328-8121-0F3FAB393826}" type="datetimeFigureOut">
              <a:rPr lang="en-US" smtClean="0"/>
              <a:t>3/27/2026</a:t>
            </a:fld>
            <a:endParaRPr lang="en-US"/>
          </a:p>
        </p:txBody>
      </p:sp>
      <p:sp>
        <p:nvSpPr>
          <p:cNvPr id="5" name="Footer Placeholder 4">
            <a:extLst>
              <a:ext uri="{FF2B5EF4-FFF2-40B4-BE49-F238E27FC236}">
                <a16:creationId xmlns:a16="http://schemas.microsoft.com/office/drawing/2014/main" id="{BAE23A4F-9E34-5CDA-2C73-325562E5F5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AF179-BCD3-F0DB-25C4-4CB75664E0D3}"/>
              </a:ext>
            </a:extLst>
          </p:cNvPr>
          <p:cNvSpPr>
            <a:spLocks noGrp="1"/>
          </p:cNvSpPr>
          <p:nvPr>
            <p:ph type="sldNum" sz="quarter" idx="12"/>
          </p:nvPr>
        </p:nvSpPr>
        <p:spPr/>
        <p:txBody>
          <a:bodyPr/>
          <a:lstStyle/>
          <a:p>
            <a:fld id="{758E9A18-D24B-4DB3-B7B7-01000354CFFB}" type="slidenum">
              <a:rPr lang="en-US" smtClean="0"/>
              <a:t>‹#›</a:t>
            </a:fld>
            <a:endParaRPr lang="en-US"/>
          </a:p>
        </p:txBody>
      </p:sp>
    </p:spTree>
    <p:extLst>
      <p:ext uri="{BB962C8B-B14F-4D97-AF65-F5344CB8AC3E}">
        <p14:creationId xmlns:p14="http://schemas.microsoft.com/office/powerpoint/2010/main" val="729416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F91AA-CAEA-437D-C693-1305F339A9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3FDE6D-B269-25C0-F42A-CE5D5C0244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6B1ED-7FA2-33EE-C715-9C24F222EE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F5F0FA-6146-4328-8121-0F3FAB393826}" type="datetimeFigureOut">
              <a:rPr lang="en-US" smtClean="0"/>
              <a:t>3/27/2026</a:t>
            </a:fld>
            <a:endParaRPr lang="en-US"/>
          </a:p>
        </p:txBody>
      </p:sp>
      <p:sp>
        <p:nvSpPr>
          <p:cNvPr id="5" name="Footer Placeholder 4">
            <a:extLst>
              <a:ext uri="{FF2B5EF4-FFF2-40B4-BE49-F238E27FC236}">
                <a16:creationId xmlns:a16="http://schemas.microsoft.com/office/drawing/2014/main" id="{3C1578A7-1EE4-3248-E314-EDC0547023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12AD35-D9B0-4F3E-C1B1-F167EDAF74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8E9A18-D24B-4DB3-B7B7-01000354CFFB}" type="slidenum">
              <a:rPr lang="en-US" smtClean="0"/>
              <a:t>‹#›</a:t>
            </a:fld>
            <a:endParaRPr lang="en-US"/>
          </a:p>
        </p:txBody>
      </p:sp>
    </p:spTree>
    <p:extLst>
      <p:ext uri="{BB962C8B-B14F-4D97-AF65-F5344CB8AC3E}">
        <p14:creationId xmlns:p14="http://schemas.microsoft.com/office/powerpoint/2010/main" val="2534235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58770-2B30-CAC2-8375-2D622CD031B5}"/>
              </a:ext>
            </a:extLst>
          </p:cNvPr>
          <p:cNvSpPr>
            <a:spLocks noGrp="1"/>
          </p:cNvSpPr>
          <p:nvPr>
            <p:ph type="ctrTitle"/>
          </p:nvPr>
        </p:nvSpPr>
        <p:spPr/>
        <p:txBody>
          <a:bodyPr/>
          <a:lstStyle/>
          <a:p>
            <a:r>
              <a:rPr lang="en-US" dirty="0"/>
              <a:t>Week 5</a:t>
            </a:r>
          </a:p>
        </p:txBody>
      </p:sp>
      <p:sp>
        <p:nvSpPr>
          <p:cNvPr id="3" name="Subtitle 2">
            <a:extLst>
              <a:ext uri="{FF2B5EF4-FFF2-40B4-BE49-F238E27FC236}">
                <a16:creationId xmlns:a16="http://schemas.microsoft.com/office/drawing/2014/main" id="{8330F11C-80CC-E95E-2293-B2F903F96D41}"/>
              </a:ext>
            </a:extLst>
          </p:cNvPr>
          <p:cNvSpPr>
            <a:spLocks noGrp="1"/>
          </p:cNvSpPr>
          <p:nvPr>
            <p:ph type="subTitle" idx="1"/>
          </p:nvPr>
        </p:nvSpPr>
        <p:spPr/>
        <p:txBody>
          <a:bodyPr>
            <a:normAutofit/>
          </a:bodyPr>
          <a:lstStyle/>
          <a:p>
            <a:r>
              <a:rPr lang="en-US" sz="2800" b="1" dirty="0"/>
              <a:t>Using Blockchain to Secure IoT</a:t>
            </a:r>
          </a:p>
        </p:txBody>
      </p:sp>
    </p:spTree>
    <p:extLst>
      <p:ext uri="{BB962C8B-B14F-4D97-AF65-F5344CB8AC3E}">
        <p14:creationId xmlns:p14="http://schemas.microsoft.com/office/powerpoint/2010/main" val="4024110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B6E1-CB23-55AB-6C0F-E1D5BDA7B401}"/>
              </a:ext>
            </a:extLst>
          </p:cNvPr>
          <p:cNvSpPr>
            <a:spLocks noGrp="1"/>
          </p:cNvSpPr>
          <p:nvPr>
            <p:ph type="title"/>
          </p:nvPr>
        </p:nvSpPr>
        <p:spPr/>
        <p:txBody>
          <a:bodyPr/>
          <a:lstStyle/>
          <a:p>
            <a:r>
              <a:rPr lang="en-US" dirty="0"/>
              <a:t>Challenges to Secure IoT Deployments</a:t>
            </a:r>
          </a:p>
        </p:txBody>
      </p:sp>
      <p:sp>
        <p:nvSpPr>
          <p:cNvPr id="3" name="Content Placeholder 2">
            <a:extLst>
              <a:ext uri="{FF2B5EF4-FFF2-40B4-BE49-F238E27FC236}">
                <a16:creationId xmlns:a16="http://schemas.microsoft.com/office/drawing/2014/main" id="{8BA72E3F-8C8F-7803-0997-F8FD18F2CB66}"/>
              </a:ext>
            </a:extLst>
          </p:cNvPr>
          <p:cNvSpPr>
            <a:spLocks noGrp="1"/>
          </p:cNvSpPr>
          <p:nvPr>
            <p:ph idx="1"/>
          </p:nvPr>
        </p:nvSpPr>
        <p:spPr/>
        <p:txBody>
          <a:bodyPr>
            <a:normAutofit lnSpcReduction="10000"/>
          </a:bodyPr>
          <a:lstStyle/>
          <a:p>
            <a:r>
              <a:rPr lang="en-US" dirty="0"/>
              <a:t>In an IoT world, information is the “fuel” that is used to change the physical state of environments through devices that are not general-purpose computers but, instead, devices and services that are designed for specific purposes. As such, the IoT is at a conspicuous inflection point for IT security.</a:t>
            </a:r>
          </a:p>
          <a:p>
            <a:endParaRPr lang="en-US" dirty="0"/>
          </a:p>
          <a:p>
            <a:r>
              <a:rPr lang="en-US" dirty="0"/>
              <a:t>Regardless of the role, your business has within the Internet of Things ecosystem – device manufacturer, solution provider, cloud provider, systems integrator or service provider – you need to know how to get the greatest benefit from this new technology that offers such highly diverse and rapidly changing opportunities.</a:t>
            </a:r>
          </a:p>
        </p:txBody>
      </p:sp>
    </p:spTree>
    <p:extLst>
      <p:ext uri="{BB962C8B-B14F-4D97-AF65-F5344CB8AC3E}">
        <p14:creationId xmlns:p14="http://schemas.microsoft.com/office/powerpoint/2010/main" val="1783540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F10EB-13EF-7031-266E-6571959033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0F2006-FDD8-F69C-20C5-2C0DB722D09C}"/>
              </a:ext>
            </a:extLst>
          </p:cNvPr>
          <p:cNvSpPr>
            <a:spLocks noGrp="1"/>
          </p:cNvSpPr>
          <p:nvPr>
            <p:ph idx="1"/>
          </p:nvPr>
        </p:nvSpPr>
        <p:spPr/>
        <p:txBody>
          <a:bodyPr/>
          <a:lstStyle/>
          <a:p>
            <a:r>
              <a:rPr lang="en-US" dirty="0"/>
              <a:t>The existing security technologies will play a role in mitigating IoT risks, but they are not enough. The goal is to get data securely at the right place, at the right time and in the right format, and it is easier said than done for many reasons</a:t>
            </a:r>
          </a:p>
        </p:txBody>
      </p:sp>
    </p:spTree>
    <p:extLst>
      <p:ext uri="{BB962C8B-B14F-4D97-AF65-F5344CB8AC3E}">
        <p14:creationId xmlns:p14="http://schemas.microsoft.com/office/powerpoint/2010/main" val="1241320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C610-7D21-30F3-707C-DC3919EDE88C}"/>
              </a:ext>
            </a:extLst>
          </p:cNvPr>
          <p:cNvSpPr>
            <a:spLocks noGrp="1"/>
          </p:cNvSpPr>
          <p:nvPr>
            <p:ph type="title"/>
          </p:nvPr>
        </p:nvSpPr>
        <p:spPr/>
        <p:txBody>
          <a:bodyPr/>
          <a:lstStyle/>
          <a:p>
            <a:r>
              <a:rPr lang="en-US" dirty="0"/>
              <a:t>Dealing with the Challenges and Threats</a:t>
            </a:r>
          </a:p>
        </p:txBody>
      </p:sp>
      <p:sp>
        <p:nvSpPr>
          <p:cNvPr id="3" name="Content Placeholder 2">
            <a:extLst>
              <a:ext uri="{FF2B5EF4-FFF2-40B4-BE49-F238E27FC236}">
                <a16:creationId xmlns:a16="http://schemas.microsoft.com/office/drawing/2014/main" id="{E90E1968-E1F3-EE07-4D3B-33DAF99750BD}"/>
              </a:ext>
            </a:extLst>
          </p:cNvPr>
          <p:cNvSpPr>
            <a:spLocks noGrp="1"/>
          </p:cNvSpPr>
          <p:nvPr>
            <p:ph idx="1"/>
          </p:nvPr>
        </p:nvSpPr>
        <p:spPr/>
        <p:txBody>
          <a:bodyPr>
            <a:normAutofit fontScale="92500" lnSpcReduction="10000"/>
          </a:bodyPr>
          <a:lstStyle/>
          <a:p>
            <a:r>
              <a:rPr lang="en-US" dirty="0"/>
              <a:t>It is reported that more than 20% of businesses need to deploy security solutions for protecting their IoT devices and services. IoT devices and services will expand the surface area for cyber-attacks on businesses, by turning physical objects that used to be offline into online assets communicating with enterprise networks. Businesses will have to respond by broadening the scope of their security strategy to include these new online devices. </a:t>
            </a:r>
          </a:p>
          <a:p>
            <a:r>
              <a:rPr lang="en-US" dirty="0"/>
              <a:t>Businesses will have to tailor security to each IoT deployment ac cording to the unique capabilities of the devices involved and the risks associated with the networks connected to those devices. BI Intelli </a:t>
            </a:r>
            <a:r>
              <a:rPr lang="en-US" dirty="0" err="1"/>
              <a:t>gence</a:t>
            </a:r>
            <a:r>
              <a:rPr lang="en-US" dirty="0"/>
              <a:t> expects spending on solutions to secure IoT devices and systems to increase 5-fold over the next 4 years. </a:t>
            </a:r>
          </a:p>
        </p:txBody>
      </p:sp>
    </p:spTree>
    <p:extLst>
      <p:ext uri="{BB962C8B-B14F-4D97-AF65-F5344CB8AC3E}">
        <p14:creationId xmlns:p14="http://schemas.microsoft.com/office/powerpoint/2010/main" val="1476375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9602-E814-69E7-0F22-6EC2B7100AC0}"/>
              </a:ext>
            </a:extLst>
          </p:cNvPr>
          <p:cNvSpPr>
            <a:spLocks noGrp="1"/>
          </p:cNvSpPr>
          <p:nvPr>
            <p:ph type="title"/>
          </p:nvPr>
        </p:nvSpPr>
        <p:spPr/>
        <p:txBody>
          <a:bodyPr/>
          <a:lstStyle/>
          <a:p>
            <a:r>
              <a:rPr lang="en-US" dirty="0"/>
              <a:t>Current Deficiency in IoT</a:t>
            </a:r>
          </a:p>
        </p:txBody>
      </p:sp>
      <p:sp>
        <p:nvSpPr>
          <p:cNvPr id="3" name="Content Placeholder 2">
            <a:extLst>
              <a:ext uri="{FF2B5EF4-FFF2-40B4-BE49-F238E27FC236}">
                <a16:creationId xmlns:a16="http://schemas.microsoft.com/office/drawing/2014/main" id="{F8E5E281-2A0C-7FF5-D3BE-5359B667C84B}"/>
              </a:ext>
            </a:extLst>
          </p:cNvPr>
          <p:cNvSpPr>
            <a:spLocks noGrp="1"/>
          </p:cNvSpPr>
          <p:nvPr>
            <p:ph idx="1"/>
          </p:nvPr>
        </p:nvSpPr>
        <p:spPr/>
        <p:txBody>
          <a:bodyPr/>
          <a:lstStyle/>
          <a:p>
            <a:r>
              <a:rPr lang="en-US" dirty="0"/>
              <a:t>Developing solutions for the Internet of Things requires unprecedented collaboration, coordination and connectivity for each piece in the system, and throughout the system as a whole. All devices must work together and be integrated with all other devices, and all devices must communicate and interact seamlessly with connected systems and infrastructures in a secure way. It is possible, but it can be expensive, time-consuming, and difficult unless the new line of thinking and a new approach to IoT security emerged away from the current centralized model.</a:t>
            </a:r>
          </a:p>
        </p:txBody>
      </p:sp>
    </p:spTree>
    <p:extLst>
      <p:ext uri="{BB962C8B-B14F-4D97-AF65-F5344CB8AC3E}">
        <p14:creationId xmlns:p14="http://schemas.microsoft.com/office/powerpoint/2010/main" val="41139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C9FD-253E-D0AD-E066-10A91EE2F8C5}"/>
              </a:ext>
            </a:extLst>
          </p:cNvPr>
          <p:cNvSpPr>
            <a:spLocks noGrp="1"/>
          </p:cNvSpPr>
          <p:nvPr>
            <p:ph type="title"/>
          </p:nvPr>
        </p:nvSpPr>
        <p:spPr/>
        <p:txBody>
          <a:bodyPr>
            <a:normAutofit fontScale="90000"/>
          </a:bodyPr>
          <a:lstStyle/>
          <a:p>
            <a:r>
              <a:rPr lang="en-US" dirty="0"/>
              <a:t>.</a:t>
            </a:r>
            <a:br>
              <a:rPr lang="en-US" dirty="0"/>
            </a:br>
            <a:br>
              <a:rPr lang="en-US" dirty="0"/>
            </a:br>
            <a:endParaRPr lang="en-US" dirty="0"/>
          </a:p>
        </p:txBody>
      </p:sp>
      <p:sp>
        <p:nvSpPr>
          <p:cNvPr id="3" name="Content Placeholder 2">
            <a:extLst>
              <a:ext uri="{FF2B5EF4-FFF2-40B4-BE49-F238E27FC236}">
                <a16:creationId xmlns:a16="http://schemas.microsoft.com/office/drawing/2014/main" id="{A2A61ED2-4693-6CCB-8216-CC4EDB27132B}"/>
              </a:ext>
            </a:extLst>
          </p:cNvPr>
          <p:cNvSpPr>
            <a:spLocks noGrp="1"/>
          </p:cNvSpPr>
          <p:nvPr>
            <p:ph idx="1"/>
          </p:nvPr>
        </p:nvSpPr>
        <p:spPr/>
        <p:txBody>
          <a:bodyPr>
            <a:normAutofit lnSpcReduction="10000"/>
          </a:bodyPr>
          <a:lstStyle/>
          <a:p>
            <a:r>
              <a:rPr lang="en-US" dirty="0"/>
              <a:t>The current IoT ecosystems rely on centralized, brokered </a:t>
            </a:r>
            <a:r>
              <a:rPr lang="en-US" dirty="0" err="1"/>
              <a:t>commu</a:t>
            </a:r>
            <a:r>
              <a:rPr lang="en-US" dirty="0"/>
              <a:t> </a:t>
            </a:r>
            <a:r>
              <a:rPr lang="en-US" dirty="0" err="1"/>
              <a:t>nication</a:t>
            </a:r>
            <a:r>
              <a:rPr lang="en-US" dirty="0"/>
              <a:t> models, otherwise known as the server/client paradigm. All devices are identified, authenticated and connected through cloud servers that support huge processing and storage capacities. The connection between devices will have to exclusively go through the Internet, even if they happen to be a few feet apart. </a:t>
            </a:r>
          </a:p>
          <a:p>
            <a:r>
              <a:rPr lang="en-US" dirty="0"/>
              <a:t>While this model has connected generic computing devices for de cades and will continue to support small-scale IoT networks as we see them today, it will not be able to respond to the growing needs of the huge IoT ecosystems of tomorrow.</a:t>
            </a:r>
          </a:p>
        </p:txBody>
      </p:sp>
    </p:spTree>
    <p:extLst>
      <p:ext uri="{BB962C8B-B14F-4D97-AF65-F5344CB8AC3E}">
        <p14:creationId xmlns:p14="http://schemas.microsoft.com/office/powerpoint/2010/main" val="1243883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CB03B-8ABB-386F-5DB0-EEF176FBB8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015581-0372-DDCE-92ED-C9EC72237067}"/>
              </a:ext>
            </a:extLst>
          </p:cNvPr>
          <p:cNvSpPr>
            <a:spLocks noGrp="1"/>
          </p:cNvSpPr>
          <p:nvPr>
            <p:ph idx="1"/>
          </p:nvPr>
        </p:nvSpPr>
        <p:spPr/>
        <p:txBody>
          <a:bodyPr/>
          <a:lstStyle/>
          <a:p>
            <a:r>
              <a:rPr lang="en-US" dirty="0"/>
              <a:t>Existing IoT solutions are expensive because of the high infra structure and maintenance cost associated with centralized clouds, large server farms and networking equipment. The sheer amount of communications that will have to be handled when IoT devices grow to tens of billions will increase those costs substantially. </a:t>
            </a:r>
          </a:p>
          <a:p>
            <a:r>
              <a:rPr lang="en-US" dirty="0"/>
              <a:t>Even if the unprecedented economical and engineering challenges are overcome, cloud servers will remain a bottleneck and point of fail </a:t>
            </a:r>
            <a:r>
              <a:rPr lang="en-US" dirty="0" err="1"/>
              <a:t>ure</a:t>
            </a:r>
            <a:r>
              <a:rPr lang="en-US" dirty="0"/>
              <a:t> that can disrupt the entire network. This is especially important as more critical tasks.</a:t>
            </a:r>
          </a:p>
        </p:txBody>
      </p:sp>
    </p:spTree>
    <p:extLst>
      <p:ext uri="{BB962C8B-B14F-4D97-AF65-F5344CB8AC3E}">
        <p14:creationId xmlns:p14="http://schemas.microsoft.com/office/powerpoint/2010/main" val="196879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5802-B93E-8760-FA00-D4F3D3C329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129651-4AED-598E-E5A6-507E28426CDA}"/>
              </a:ext>
            </a:extLst>
          </p:cNvPr>
          <p:cNvSpPr>
            <a:spLocks noGrp="1"/>
          </p:cNvSpPr>
          <p:nvPr>
            <p:ph idx="1"/>
          </p:nvPr>
        </p:nvSpPr>
        <p:spPr/>
        <p:txBody>
          <a:bodyPr/>
          <a:lstStyle/>
          <a:p>
            <a:r>
              <a:rPr lang="en-US" dirty="0"/>
              <a:t>Moreover, the diversity of ownership of devices and their support </a:t>
            </a:r>
            <a:r>
              <a:rPr lang="en-US" dirty="0" err="1"/>
              <a:t>ing</a:t>
            </a:r>
            <a:r>
              <a:rPr lang="en-US" dirty="0"/>
              <a:t> cloud infrastructure makes machine-to-machine (M2M) communications difficult. There is no single platform that connects all devices and no guarantee that cloud services offered by different manufacturers are interoperable and compatible.</a:t>
            </a:r>
          </a:p>
        </p:txBody>
      </p:sp>
    </p:spTree>
    <p:extLst>
      <p:ext uri="{BB962C8B-B14F-4D97-AF65-F5344CB8AC3E}">
        <p14:creationId xmlns:p14="http://schemas.microsoft.com/office/powerpoint/2010/main" val="2462373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B31A0-843C-4B1A-F129-C5CBBC321316}"/>
              </a:ext>
            </a:extLst>
          </p:cNvPr>
          <p:cNvSpPr>
            <a:spLocks noGrp="1"/>
          </p:cNvSpPr>
          <p:nvPr>
            <p:ph type="title"/>
          </p:nvPr>
        </p:nvSpPr>
        <p:spPr/>
        <p:txBody>
          <a:bodyPr/>
          <a:lstStyle/>
          <a:p>
            <a:r>
              <a:rPr lang="en-US" b="1" dirty="0"/>
              <a:t>Security challenges of IoT</a:t>
            </a:r>
            <a:endParaRPr lang="en-US" dirty="0"/>
          </a:p>
        </p:txBody>
      </p:sp>
      <p:sp>
        <p:nvSpPr>
          <p:cNvPr id="3" name="Content Placeholder 2">
            <a:extLst>
              <a:ext uri="{FF2B5EF4-FFF2-40B4-BE49-F238E27FC236}">
                <a16:creationId xmlns:a16="http://schemas.microsoft.com/office/drawing/2014/main" id="{E9AE6BAB-06E2-9CF6-E1AC-A33A5ACC05CB}"/>
              </a:ext>
            </a:extLst>
          </p:cNvPr>
          <p:cNvSpPr>
            <a:spLocks noGrp="1"/>
          </p:cNvSpPr>
          <p:nvPr>
            <p:ph idx="1"/>
          </p:nvPr>
        </p:nvSpPr>
        <p:spPr/>
        <p:txBody>
          <a:bodyPr>
            <a:normAutofit fontScale="55000" lnSpcReduction="20000"/>
          </a:bodyPr>
          <a:lstStyle/>
          <a:p>
            <a:pPr marL="0" indent="0">
              <a:buNone/>
            </a:pPr>
            <a:r>
              <a:rPr lang="en-US" dirty="0"/>
              <a:t>Here are the </a:t>
            </a:r>
            <a:r>
              <a:rPr lang="en-US" b="1" dirty="0"/>
              <a:t>security challenges of IoT (Internet of Things)</a:t>
            </a:r>
            <a:r>
              <a:rPr lang="en-US" dirty="0"/>
              <a:t> </a:t>
            </a:r>
          </a:p>
          <a:p>
            <a:r>
              <a:rPr lang="en-US" b="1" dirty="0"/>
              <a:t>Weak passwords / default credentials</a:t>
            </a:r>
            <a:r>
              <a:rPr lang="en-US" dirty="0"/>
              <a:t> – Many IoT devices use simple or factory passwords that hackers can easily guess.</a:t>
            </a:r>
          </a:p>
          <a:p>
            <a:r>
              <a:rPr lang="en-US" b="1" dirty="0"/>
              <a:t>Lack of regular updates</a:t>
            </a:r>
            <a:r>
              <a:rPr lang="en-US" dirty="0"/>
              <a:t> – Devices often don’t receive security patches, leaving known vulnerabilities open.</a:t>
            </a:r>
          </a:p>
          <a:p>
            <a:r>
              <a:rPr lang="en-US" b="1" dirty="0"/>
              <a:t>Poor encryption</a:t>
            </a:r>
            <a:r>
              <a:rPr lang="en-US" dirty="0"/>
              <a:t> – Some IoT devices send data without strong encryption, making it easy to intercept.</a:t>
            </a:r>
          </a:p>
          <a:p>
            <a:r>
              <a:rPr lang="en-US" b="1" dirty="0"/>
              <a:t>Data privacy risks</a:t>
            </a:r>
            <a:r>
              <a:rPr lang="en-US" dirty="0"/>
              <a:t> – Personal and sensitive data collected by IoT devices can be stolen or misused.</a:t>
            </a:r>
          </a:p>
          <a:p>
            <a:r>
              <a:rPr lang="en-US" b="1" dirty="0"/>
              <a:t>Insecure network connections</a:t>
            </a:r>
            <a:r>
              <a:rPr lang="en-US" dirty="0"/>
              <a:t> – Weak Wi-Fi or network security allows attackers to access devices remotely.</a:t>
            </a:r>
          </a:p>
          <a:p>
            <a:r>
              <a:rPr lang="en-US" b="1" dirty="0"/>
              <a:t>Botnet attacks (DDoS)</a:t>
            </a:r>
            <a:r>
              <a:rPr lang="en-US" dirty="0"/>
              <a:t> – Compromised IoT devices can be controlled by hackers to launch large cyberattacks.</a:t>
            </a:r>
          </a:p>
          <a:p>
            <a:r>
              <a:rPr lang="en-US" b="1" dirty="0"/>
              <a:t>Device hijacking</a:t>
            </a:r>
            <a:r>
              <a:rPr lang="en-US" dirty="0"/>
              <a:t> – Hackers can take full control of smart devices (cameras, locks, cars, etc.).</a:t>
            </a:r>
          </a:p>
          <a:p>
            <a:r>
              <a:rPr lang="en-US" b="1" dirty="0"/>
              <a:t>Lack of authentication</a:t>
            </a:r>
            <a:r>
              <a:rPr lang="en-US" dirty="0"/>
              <a:t> – Some devices do not properly verify users or other devices.</a:t>
            </a:r>
          </a:p>
          <a:p>
            <a:r>
              <a:rPr lang="en-US" b="1" dirty="0"/>
              <a:t>Physical tampering</a:t>
            </a:r>
            <a:r>
              <a:rPr lang="en-US" dirty="0"/>
              <a:t> – Attackers can directly access devices and manipulate hardware or data.</a:t>
            </a:r>
          </a:p>
          <a:p>
            <a:r>
              <a:rPr lang="en-US" b="1" dirty="0"/>
              <a:t>Too many connected devices</a:t>
            </a:r>
            <a:r>
              <a:rPr lang="en-US" dirty="0"/>
              <a:t> – More devices = larger attack surface for hackers.</a:t>
            </a:r>
          </a:p>
          <a:p>
            <a:r>
              <a:rPr lang="en-US" b="1" dirty="0"/>
              <a:t>Poor security design</a:t>
            </a:r>
            <a:r>
              <a:rPr lang="en-US" dirty="0"/>
              <a:t> – Many low-cost IoT devices are built with minimal security to save cost.</a:t>
            </a:r>
          </a:p>
          <a:p>
            <a:r>
              <a:rPr lang="en-US" b="1" dirty="0"/>
              <a:t>Data integrity issues</a:t>
            </a:r>
            <a:r>
              <a:rPr lang="en-US" dirty="0"/>
              <a:t> – Data from sensors can be altered, leading to wrong decisions or system failure.</a:t>
            </a:r>
          </a:p>
          <a:p>
            <a:endParaRPr lang="en-US" dirty="0"/>
          </a:p>
        </p:txBody>
      </p:sp>
    </p:spTree>
    <p:extLst>
      <p:ext uri="{BB962C8B-B14F-4D97-AF65-F5344CB8AC3E}">
        <p14:creationId xmlns:p14="http://schemas.microsoft.com/office/powerpoint/2010/main" val="4183206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2A992-69B6-258C-ABFD-D4C7362E528B}"/>
              </a:ext>
            </a:extLst>
          </p:cNvPr>
          <p:cNvSpPr>
            <a:spLocks noGrp="1"/>
          </p:cNvSpPr>
          <p:nvPr>
            <p:ph type="title"/>
          </p:nvPr>
        </p:nvSpPr>
        <p:spPr/>
        <p:txBody>
          <a:bodyPr/>
          <a:lstStyle/>
          <a:p>
            <a:r>
              <a:rPr lang="en-US" b="1" dirty="0"/>
              <a:t>Blockchain-based IoT Security Solutions</a:t>
            </a:r>
            <a:endParaRPr lang="en-US" dirty="0"/>
          </a:p>
        </p:txBody>
      </p:sp>
      <p:sp>
        <p:nvSpPr>
          <p:cNvPr id="3" name="Content Placeholder 2">
            <a:extLst>
              <a:ext uri="{FF2B5EF4-FFF2-40B4-BE49-F238E27FC236}">
                <a16:creationId xmlns:a16="http://schemas.microsoft.com/office/drawing/2014/main" id="{FFFCB17D-2449-97BC-0D94-81B4BDEDD3A2}"/>
              </a:ext>
            </a:extLst>
          </p:cNvPr>
          <p:cNvSpPr>
            <a:spLocks noGrp="1"/>
          </p:cNvSpPr>
          <p:nvPr>
            <p:ph idx="1"/>
          </p:nvPr>
        </p:nvSpPr>
        <p:spPr/>
        <p:txBody>
          <a:bodyPr>
            <a:normAutofit fontScale="40000" lnSpcReduction="20000"/>
          </a:bodyPr>
          <a:lstStyle/>
          <a:p>
            <a:r>
              <a:rPr lang="en-US" b="1" dirty="0"/>
              <a:t>Decentralization (No single control)</a:t>
            </a:r>
            <a:br>
              <a:rPr lang="en-US" dirty="0"/>
            </a:br>
            <a:r>
              <a:rPr lang="en-US" dirty="0"/>
              <a:t>Blockchain removes central servers → harder for hackers to attack one single point.</a:t>
            </a:r>
          </a:p>
          <a:p>
            <a:r>
              <a:rPr lang="en-US" b="1" dirty="0"/>
              <a:t>Strong device identity (Cryptographic keys)</a:t>
            </a:r>
            <a:br>
              <a:rPr lang="en-US" dirty="0"/>
            </a:br>
            <a:r>
              <a:rPr lang="en-US" dirty="0"/>
              <a:t>Each IoT device gets a unique </a:t>
            </a:r>
            <a:r>
              <a:rPr lang="en-US" b="1" dirty="0"/>
              <a:t>public–private key</a:t>
            </a:r>
            <a:r>
              <a:rPr lang="en-US" dirty="0"/>
              <a:t> → prevents fake or unauthorized devices.</a:t>
            </a:r>
          </a:p>
          <a:p>
            <a:r>
              <a:rPr lang="en-US" b="1" dirty="0"/>
              <a:t>Secure data transmission (Encryption)</a:t>
            </a:r>
            <a:br>
              <a:rPr lang="en-US" dirty="0"/>
            </a:br>
            <a:r>
              <a:rPr lang="en-US" dirty="0"/>
              <a:t>Data from IoT devices is encrypted and stored in blockchain → protects from interception and tampering.</a:t>
            </a:r>
          </a:p>
          <a:p>
            <a:r>
              <a:rPr lang="en-US" b="1" dirty="0"/>
              <a:t>Data integrity (Tamper-proof records)</a:t>
            </a:r>
            <a:br>
              <a:rPr lang="en-US" dirty="0"/>
            </a:br>
            <a:r>
              <a:rPr lang="en-US" dirty="0"/>
              <a:t>Once data is written on blockchain, it cannot be changed → ensures sensor data is trustworthy.</a:t>
            </a:r>
          </a:p>
          <a:p>
            <a:r>
              <a:rPr lang="en-US" b="1" dirty="0"/>
              <a:t>Smart contracts for automatic security</a:t>
            </a:r>
            <a:br>
              <a:rPr lang="en-US" dirty="0"/>
            </a:br>
            <a:r>
              <a:rPr lang="en-US" dirty="0"/>
              <a:t>Self-executing rules can:</a:t>
            </a:r>
          </a:p>
          <a:p>
            <a:pPr lvl="1"/>
            <a:r>
              <a:rPr lang="en-US" dirty="0"/>
              <a:t>Allow only authorized devices</a:t>
            </a:r>
          </a:p>
          <a:p>
            <a:pPr lvl="1"/>
            <a:r>
              <a:rPr lang="en-US" dirty="0"/>
              <a:t>Block suspicious behavior</a:t>
            </a:r>
          </a:p>
          <a:p>
            <a:pPr lvl="1"/>
            <a:r>
              <a:rPr lang="en-US" dirty="0"/>
              <a:t>Auto-update permissions</a:t>
            </a:r>
          </a:p>
          <a:p>
            <a:r>
              <a:rPr lang="en-US" b="1" dirty="0"/>
              <a:t>Secure firmware updates</a:t>
            </a:r>
            <a:br>
              <a:rPr lang="en-US" dirty="0"/>
            </a:br>
            <a:r>
              <a:rPr lang="en-US" dirty="0"/>
              <a:t>Blockchain verifies update source → prevents hackers from installing malicious software.</a:t>
            </a:r>
          </a:p>
          <a:p>
            <a:r>
              <a:rPr lang="en-US" b="1" dirty="0"/>
              <a:t>DDoS / Botnet protection</a:t>
            </a:r>
            <a:br>
              <a:rPr lang="en-US" dirty="0"/>
            </a:br>
            <a:r>
              <a:rPr lang="en-US" dirty="0"/>
              <a:t>Decentralized networks reduce risk of large-scale IoT bot attacks.</a:t>
            </a:r>
          </a:p>
          <a:p>
            <a:r>
              <a:rPr lang="en-US" b="1" dirty="0"/>
              <a:t>Access control &amp; authentication</a:t>
            </a:r>
            <a:br>
              <a:rPr lang="en-US" dirty="0"/>
            </a:br>
            <a:r>
              <a:rPr lang="en-US" dirty="0"/>
              <a:t>Only verified users/devices can access IoT systems using blockchain identity verification.</a:t>
            </a:r>
          </a:p>
          <a:p>
            <a:r>
              <a:rPr lang="en-US" b="1" dirty="0"/>
              <a:t>Privacy protection</a:t>
            </a:r>
            <a:br>
              <a:rPr lang="en-US" dirty="0"/>
            </a:br>
            <a:r>
              <a:rPr lang="en-US" dirty="0"/>
              <a:t>Sensitive IoT data can be shared with permission using cryptography + blockchain.</a:t>
            </a:r>
          </a:p>
          <a:p>
            <a:r>
              <a:rPr lang="en-US" b="1" dirty="0"/>
              <a:t>Trusted device communication (M2M security)</a:t>
            </a:r>
            <a:br>
              <a:rPr lang="en-US" dirty="0"/>
            </a:br>
            <a:r>
              <a:rPr lang="en-US" dirty="0"/>
              <a:t>Devices can safely communicate with each other without needing a central authority.</a:t>
            </a:r>
          </a:p>
          <a:p>
            <a:endParaRPr lang="en-US" dirty="0"/>
          </a:p>
        </p:txBody>
      </p:sp>
    </p:spTree>
    <p:extLst>
      <p:ext uri="{BB962C8B-B14F-4D97-AF65-F5344CB8AC3E}">
        <p14:creationId xmlns:p14="http://schemas.microsoft.com/office/powerpoint/2010/main" val="3681962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E784-943C-811C-7FE3-55B50CA4C107}"/>
              </a:ext>
            </a:extLst>
          </p:cNvPr>
          <p:cNvSpPr>
            <a:spLocks noGrp="1"/>
          </p:cNvSpPr>
          <p:nvPr>
            <p:ph type="title"/>
          </p:nvPr>
        </p:nvSpPr>
        <p:spPr/>
        <p:txBody>
          <a:bodyPr/>
          <a:lstStyle/>
          <a:p>
            <a:r>
              <a:rPr lang="en-US" dirty="0"/>
              <a:t>Decentralizing IoT Networks</a:t>
            </a:r>
          </a:p>
        </p:txBody>
      </p:sp>
      <p:sp>
        <p:nvSpPr>
          <p:cNvPr id="3" name="Content Placeholder 2">
            <a:extLst>
              <a:ext uri="{FF2B5EF4-FFF2-40B4-BE49-F238E27FC236}">
                <a16:creationId xmlns:a16="http://schemas.microsoft.com/office/drawing/2014/main" id="{E74E2148-F959-E4D5-ED11-33174B55DD90}"/>
              </a:ext>
            </a:extLst>
          </p:cNvPr>
          <p:cNvSpPr>
            <a:spLocks noGrp="1"/>
          </p:cNvSpPr>
          <p:nvPr>
            <p:ph idx="1"/>
          </p:nvPr>
        </p:nvSpPr>
        <p:spPr/>
        <p:txBody>
          <a:bodyPr>
            <a:normAutofit/>
          </a:bodyPr>
          <a:lstStyle/>
          <a:p>
            <a:r>
              <a:rPr lang="en-US" dirty="0"/>
              <a:t>A decentralized approach to IoT networking would solve many of the questions above. </a:t>
            </a:r>
          </a:p>
          <a:p>
            <a:r>
              <a:rPr lang="en-US" dirty="0"/>
              <a:t>Adopting a standardized peer-to-peer communication model to process the hundreds of billions of transactions between devices will significantly reduce the costs associated with installing and maintaining large centralized data centers and will distribute computation and storage needs across the billions of devices that form IoT net works. This will prevent failure in any single node in a network from bringing the entire network to a halting collapse. </a:t>
            </a:r>
          </a:p>
        </p:txBody>
      </p:sp>
    </p:spTree>
    <p:extLst>
      <p:ext uri="{BB962C8B-B14F-4D97-AF65-F5344CB8AC3E}">
        <p14:creationId xmlns:p14="http://schemas.microsoft.com/office/powerpoint/2010/main" val="3742984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F41-64B1-3F7E-0C9A-F89DBD953A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B5B247-B615-0F29-4A4B-47D1FDC83DE3}"/>
              </a:ext>
            </a:extLst>
          </p:cNvPr>
          <p:cNvSpPr>
            <a:spLocks noGrp="1"/>
          </p:cNvSpPr>
          <p:nvPr>
            <p:ph idx="1"/>
          </p:nvPr>
        </p:nvSpPr>
        <p:spPr/>
        <p:txBody>
          <a:bodyPr>
            <a:normAutofit fontScale="92500" lnSpcReduction="20000"/>
          </a:bodyPr>
          <a:lstStyle/>
          <a:p>
            <a:pPr marL="0" indent="0">
              <a:buNone/>
            </a:pPr>
            <a:r>
              <a:rPr lang="en-US" dirty="0"/>
              <a:t>However, establishing peer-to-peer communications will present its own set of challenges, chief among them the issue of security. And as we all know, IoT security is much more than just about protecting sensitive data. </a:t>
            </a:r>
          </a:p>
          <a:p>
            <a:pPr marL="0" indent="0">
              <a:buNone/>
            </a:pPr>
            <a:r>
              <a:rPr lang="en-US" dirty="0"/>
              <a:t>The proposed solution will have to maintain privacy and security in huge IoT networks and offer some form of validation and consensus for transactions to prevent spoofing and theft. To perform the functions of traditional IoT solutions without a centralized control, any decentralized approach must support three fundamental functions </a:t>
            </a:r>
          </a:p>
          <a:p>
            <a:pPr marL="0" indent="0">
              <a:buNone/>
            </a:pPr>
            <a:r>
              <a:rPr lang="en-US" dirty="0"/>
              <a:t>• Peer-to-peer messaging </a:t>
            </a:r>
          </a:p>
          <a:p>
            <a:pPr marL="0" indent="0">
              <a:buNone/>
            </a:pPr>
            <a:r>
              <a:rPr lang="en-US" dirty="0"/>
              <a:t>• Distributed file sharing </a:t>
            </a:r>
          </a:p>
          <a:p>
            <a:pPr marL="0" indent="0">
              <a:buNone/>
            </a:pPr>
            <a:r>
              <a:rPr lang="en-US" dirty="0"/>
              <a:t>• Autonomous device coordination</a:t>
            </a:r>
          </a:p>
        </p:txBody>
      </p:sp>
    </p:spTree>
    <p:extLst>
      <p:ext uri="{BB962C8B-B14F-4D97-AF65-F5344CB8AC3E}">
        <p14:creationId xmlns:p14="http://schemas.microsoft.com/office/powerpoint/2010/main" val="2102348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AD65-BC83-A872-3A83-818D2482CDCA}"/>
              </a:ext>
            </a:extLst>
          </p:cNvPr>
          <p:cNvSpPr>
            <a:spLocks noGrp="1"/>
          </p:cNvSpPr>
          <p:nvPr>
            <p:ph type="title"/>
          </p:nvPr>
        </p:nvSpPr>
        <p:spPr/>
        <p:txBody>
          <a:bodyPr/>
          <a:lstStyle/>
          <a:p>
            <a:r>
              <a:rPr lang="en-US" dirty="0"/>
              <a:t>The Blockchain Approach</a:t>
            </a:r>
          </a:p>
        </p:txBody>
      </p:sp>
      <p:sp>
        <p:nvSpPr>
          <p:cNvPr id="3" name="Content Placeholder 2">
            <a:extLst>
              <a:ext uri="{FF2B5EF4-FFF2-40B4-BE49-F238E27FC236}">
                <a16:creationId xmlns:a16="http://schemas.microsoft.com/office/drawing/2014/main" id="{ED8DBB30-0071-43BA-E475-B232751DE0F4}"/>
              </a:ext>
            </a:extLst>
          </p:cNvPr>
          <p:cNvSpPr>
            <a:spLocks noGrp="1"/>
          </p:cNvSpPr>
          <p:nvPr>
            <p:ph idx="1"/>
          </p:nvPr>
        </p:nvSpPr>
        <p:spPr/>
        <p:txBody>
          <a:bodyPr>
            <a:normAutofit fontScale="55000" lnSpcReduction="20000"/>
          </a:bodyPr>
          <a:lstStyle/>
          <a:p>
            <a:pPr marL="0" indent="0">
              <a:buNone/>
            </a:pPr>
            <a:r>
              <a:rPr lang="en-US" b="1" dirty="0"/>
              <a:t>Why Blockchain is More Secure than Traditional IoT</a:t>
            </a:r>
          </a:p>
          <a:p>
            <a:pPr marL="0" indent="0">
              <a:buNone/>
            </a:pPr>
            <a:r>
              <a:rPr lang="en-US" b="1" dirty="0"/>
              <a:t>1. No Single Point of Failure</a:t>
            </a:r>
          </a:p>
          <a:p>
            <a:r>
              <a:rPr lang="en-US" b="1" dirty="0"/>
              <a:t>Traditional IoT:</a:t>
            </a:r>
            <a:r>
              <a:rPr lang="en-US" dirty="0"/>
              <a:t> Uses central servers → if hacked, whole system is compromised.</a:t>
            </a:r>
          </a:p>
          <a:p>
            <a:r>
              <a:rPr lang="en-US" b="1" dirty="0"/>
              <a:t>Blockchain IoT:</a:t>
            </a:r>
            <a:r>
              <a:rPr lang="en-US" dirty="0"/>
              <a:t> Decentralized network → no single target for hackers.</a:t>
            </a:r>
          </a:p>
          <a:p>
            <a:pPr marL="0" indent="0">
              <a:buNone/>
            </a:pPr>
            <a:br>
              <a:rPr lang="en-US" dirty="0"/>
            </a:br>
            <a:endParaRPr lang="en-US" dirty="0"/>
          </a:p>
          <a:p>
            <a:pPr marL="0" indent="0">
              <a:buNone/>
            </a:pPr>
            <a:r>
              <a:rPr lang="en-US" b="1" dirty="0"/>
              <a:t>2. Stronger Device Authentication</a:t>
            </a:r>
          </a:p>
          <a:p>
            <a:r>
              <a:rPr lang="en-US" b="1" dirty="0"/>
              <a:t>Traditional IoT:</a:t>
            </a:r>
            <a:r>
              <a:rPr lang="en-US" dirty="0"/>
              <a:t> Weak passwords or basic authentication.</a:t>
            </a:r>
          </a:p>
          <a:p>
            <a:r>
              <a:rPr lang="en-US" b="1" dirty="0"/>
              <a:t>Blockchain IoT:</a:t>
            </a:r>
            <a:r>
              <a:rPr lang="en-US" dirty="0"/>
              <a:t> Each device has a </a:t>
            </a:r>
            <a:r>
              <a:rPr lang="en-US" b="1" dirty="0"/>
              <a:t>unique cryptographic identity (public–private key)</a:t>
            </a:r>
            <a:r>
              <a:rPr lang="en-US" dirty="0"/>
              <a:t> → fake devices cannot join.</a:t>
            </a:r>
          </a:p>
          <a:p>
            <a:pPr marL="0" indent="0">
              <a:buNone/>
            </a:pPr>
            <a:br>
              <a:rPr lang="en-US" dirty="0"/>
            </a:br>
            <a:endParaRPr lang="en-US" dirty="0"/>
          </a:p>
          <a:p>
            <a:pPr marL="0" indent="0">
              <a:buNone/>
            </a:pPr>
            <a:r>
              <a:rPr lang="en-US" b="1" dirty="0"/>
              <a:t>3. Tamper-Proof Data (Data Integrity)</a:t>
            </a:r>
          </a:p>
          <a:p>
            <a:r>
              <a:rPr lang="en-US" b="1" dirty="0"/>
              <a:t>Traditional IoT:</a:t>
            </a:r>
            <a:r>
              <a:rPr lang="en-US" dirty="0"/>
              <a:t> Data stored in central database → can be changed or deleted by attackers.</a:t>
            </a:r>
          </a:p>
          <a:p>
            <a:r>
              <a:rPr lang="en-US" b="1" dirty="0"/>
              <a:t>Blockchain IoT:</a:t>
            </a:r>
            <a:r>
              <a:rPr lang="en-US" dirty="0"/>
              <a:t> Data stored in immutable blocks → </a:t>
            </a:r>
            <a:r>
              <a:rPr lang="en-US" b="1" dirty="0"/>
              <a:t>cannot be altered once recorded</a:t>
            </a:r>
            <a:r>
              <a:rPr lang="en-US" dirty="0"/>
              <a:t>.</a:t>
            </a:r>
          </a:p>
          <a:p>
            <a:br>
              <a:rPr lang="en-US" dirty="0"/>
            </a:br>
            <a:endParaRPr lang="en-US" dirty="0"/>
          </a:p>
          <a:p>
            <a:endParaRPr lang="en-US" dirty="0"/>
          </a:p>
        </p:txBody>
      </p:sp>
    </p:spTree>
    <p:extLst>
      <p:ext uri="{BB962C8B-B14F-4D97-AF65-F5344CB8AC3E}">
        <p14:creationId xmlns:p14="http://schemas.microsoft.com/office/powerpoint/2010/main" val="2052015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1A364-A490-2947-C3CA-DA92F633FC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8EE55F-8329-992E-4C88-94A8BD0B7511}"/>
              </a:ext>
            </a:extLst>
          </p:cNvPr>
          <p:cNvSpPr>
            <a:spLocks noGrp="1"/>
          </p:cNvSpPr>
          <p:nvPr>
            <p:ph idx="1"/>
          </p:nvPr>
        </p:nvSpPr>
        <p:spPr/>
        <p:txBody>
          <a:bodyPr>
            <a:normAutofit fontScale="55000" lnSpcReduction="20000"/>
          </a:bodyPr>
          <a:lstStyle/>
          <a:p>
            <a:pPr marL="0" indent="0">
              <a:buNone/>
            </a:pPr>
            <a:r>
              <a:rPr lang="en-US" b="1" dirty="0"/>
              <a:t>4. Better Data Encryption</a:t>
            </a:r>
          </a:p>
          <a:p>
            <a:r>
              <a:rPr lang="en-US" b="1" dirty="0"/>
              <a:t>Traditional IoT:</a:t>
            </a:r>
            <a:r>
              <a:rPr lang="en-US" dirty="0"/>
              <a:t> Some devices send unencrypted or weakly encrypted data.</a:t>
            </a:r>
          </a:p>
          <a:p>
            <a:r>
              <a:rPr lang="en-US" b="1" dirty="0"/>
              <a:t>Blockchain IoT:</a:t>
            </a:r>
            <a:r>
              <a:rPr lang="en-US" dirty="0"/>
              <a:t> Uses strong cryptography → protects data from interception and spying.</a:t>
            </a:r>
          </a:p>
          <a:p>
            <a:br>
              <a:rPr lang="en-US" dirty="0"/>
            </a:br>
            <a:endParaRPr lang="en-US" dirty="0"/>
          </a:p>
          <a:p>
            <a:pPr marL="0" indent="0">
              <a:buNone/>
            </a:pPr>
            <a:r>
              <a:rPr lang="en-US" b="1" dirty="0"/>
              <a:t>5. Secure Device-to-Device Communication</a:t>
            </a:r>
          </a:p>
          <a:p>
            <a:r>
              <a:rPr lang="en-US" b="1" dirty="0"/>
              <a:t>Traditional IoT:</a:t>
            </a:r>
            <a:r>
              <a:rPr lang="en-US" dirty="0"/>
              <a:t> Devices rely on central server → vulnerable if server fails.</a:t>
            </a:r>
          </a:p>
          <a:p>
            <a:r>
              <a:rPr lang="en-US" b="1" dirty="0"/>
              <a:t>Blockchain IoT:</a:t>
            </a:r>
            <a:r>
              <a:rPr lang="en-US" dirty="0"/>
              <a:t> Devices communicate securely using decentralized trust (no middleman).</a:t>
            </a:r>
          </a:p>
          <a:p>
            <a:br>
              <a:rPr lang="en-US" dirty="0"/>
            </a:br>
            <a:endParaRPr lang="en-US" dirty="0"/>
          </a:p>
          <a:p>
            <a:pPr marL="0" indent="0">
              <a:buNone/>
            </a:pPr>
            <a:r>
              <a:rPr lang="en-US" b="1" dirty="0"/>
              <a:t>6. Protection from DDoS / Botnet Attacks</a:t>
            </a:r>
          </a:p>
          <a:p>
            <a:r>
              <a:rPr lang="en-US" b="1" dirty="0"/>
              <a:t>Traditional IoT:</a:t>
            </a:r>
            <a:r>
              <a:rPr lang="en-US" dirty="0"/>
              <a:t> Central servers can be overloaded by botnet attacks.</a:t>
            </a:r>
          </a:p>
          <a:p>
            <a:r>
              <a:rPr lang="en-US" b="1" dirty="0"/>
              <a:t>Blockchain IoT:</a:t>
            </a:r>
            <a:r>
              <a:rPr lang="en-US" dirty="0"/>
              <a:t> Decentralized → harder to crash entire network.</a:t>
            </a:r>
          </a:p>
          <a:p>
            <a:br>
              <a:rPr lang="en-US" dirty="0"/>
            </a:br>
            <a:endParaRPr lang="en-US" dirty="0"/>
          </a:p>
          <a:p>
            <a:endParaRPr lang="en-US" dirty="0"/>
          </a:p>
        </p:txBody>
      </p:sp>
    </p:spTree>
    <p:extLst>
      <p:ext uri="{BB962C8B-B14F-4D97-AF65-F5344CB8AC3E}">
        <p14:creationId xmlns:p14="http://schemas.microsoft.com/office/powerpoint/2010/main" val="3555106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50F4-9AEA-F3DB-4ACF-129206DE58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15956D-DC28-F01B-FD9B-CB5970E23007}"/>
              </a:ext>
            </a:extLst>
          </p:cNvPr>
          <p:cNvSpPr>
            <a:spLocks noGrp="1"/>
          </p:cNvSpPr>
          <p:nvPr>
            <p:ph idx="1"/>
          </p:nvPr>
        </p:nvSpPr>
        <p:spPr/>
        <p:txBody>
          <a:bodyPr>
            <a:normAutofit fontScale="55000" lnSpcReduction="20000"/>
          </a:bodyPr>
          <a:lstStyle/>
          <a:p>
            <a:pPr marL="0" indent="0">
              <a:buNone/>
            </a:pPr>
            <a:r>
              <a:rPr lang="en-US" b="1" dirty="0"/>
              <a:t>7. Automatic Security using Smart Contracts</a:t>
            </a:r>
          </a:p>
          <a:p>
            <a:r>
              <a:rPr lang="en-US" b="1" dirty="0"/>
              <a:t>Traditional IoT:</a:t>
            </a:r>
            <a:r>
              <a:rPr lang="en-US" dirty="0"/>
              <a:t> Security rules must be manually managed.</a:t>
            </a:r>
          </a:p>
          <a:p>
            <a:r>
              <a:rPr lang="en-US" b="1" dirty="0"/>
              <a:t>Blockchain IoT:</a:t>
            </a:r>
            <a:r>
              <a:rPr lang="en-US" dirty="0"/>
              <a:t> Smart contracts can automatically:</a:t>
            </a:r>
          </a:p>
          <a:p>
            <a:pPr lvl="1"/>
            <a:r>
              <a:rPr lang="en-US" dirty="0"/>
              <a:t>Allow only authorized devices</a:t>
            </a:r>
          </a:p>
          <a:p>
            <a:pPr lvl="1"/>
            <a:r>
              <a:rPr lang="en-US" dirty="0"/>
              <a:t>Detect unusual behavior</a:t>
            </a:r>
          </a:p>
          <a:p>
            <a:pPr lvl="1"/>
            <a:r>
              <a:rPr lang="en-US" dirty="0"/>
              <a:t>Block attackers instantly</a:t>
            </a:r>
          </a:p>
          <a:p>
            <a:pPr marL="0" indent="0">
              <a:buNone/>
            </a:pPr>
            <a:r>
              <a:rPr lang="en-US" b="1" dirty="0"/>
              <a:t>8. Secure Firmware / Software Updates</a:t>
            </a:r>
          </a:p>
          <a:p>
            <a:r>
              <a:rPr lang="en-US" b="1" dirty="0"/>
              <a:t>Traditional IoT:</a:t>
            </a:r>
            <a:r>
              <a:rPr lang="en-US" dirty="0"/>
              <a:t> Hackers can push fake/malicious updates.</a:t>
            </a:r>
          </a:p>
          <a:p>
            <a:r>
              <a:rPr lang="en-US" b="1" dirty="0"/>
              <a:t>Blockchain IoT:</a:t>
            </a:r>
            <a:r>
              <a:rPr lang="en-US" dirty="0"/>
              <a:t> Updates verified using blockchain → only trusted updates allowed.</a:t>
            </a:r>
            <a:br>
              <a:rPr lang="en-US" dirty="0"/>
            </a:br>
            <a:endParaRPr lang="en-US" dirty="0"/>
          </a:p>
          <a:p>
            <a:pPr marL="0" indent="0">
              <a:buNone/>
            </a:pPr>
            <a:r>
              <a:rPr lang="en-US" b="1" dirty="0"/>
              <a:t>9. Better Privacy Control</a:t>
            </a:r>
          </a:p>
          <a:p>
            <a:r>
              <a:rPr lang="en-US" b="1" dirty="0"/>
              <a:t>Traditional IoT:</a:t>
            </a:r>
            <a:r>
              <a:rPr lang="en-US" dirty="0"/>
              <a:t> Central authority controls user data.</a:t>
            </a:r>
          </a:p>
          <a:p>
            <a:r>
              <a:rPr lang="en-US" b="1" dirty="0"/>
              <a:t>Blockchain IoT:</a:t>
            </a:r>
            <a:r>
              <a:rPr lang="en-US" dirty="0"/>
              <a:t> Users control access using cryptographic permission.</a:t>
            </a:r>
            <a:br>
              <a:rPr lang="en-US" dirty="0"/>
            </a:br>
            <a:endParaRPr lang="en-US" dirty="0"/>
          </a:p>
          <a:p>
            <a:pPr marL="0" indent="0">
              <a:buNone/>
            </a:pPr>
            <a:r>
              <a:rPr lang="en-US" b="1" dirty="0"/>
              <a:t>10. Transparency &amp; Trust</a:t>
            </a:r>
          </a:p>
          <a:p>
            <a:r>
              <a:rPr lang="en-US" b="1" dirty="0"/>
              <a:t>Traditional IoT:</a:t>
            </a:r>
            <a:r>
              <a:rPr lang="en-US" dirty="0"/>
              <a:t> Hard to verify logs or system activity.</a:t>
            </a:r>
          </a:p>
          <a:p>
            <a:r>
              <a:rPr lang="en-US" b="1" dirty="0"/>
              <a:t>Blockchain IoT:</a:t>
            </a:r>
            <a:r>
              <a:rPr lang="en-US" dirty="0"/>
              <a:t> All transactions are traceable and verifiable.</a:t>
            </a:r>
          </a:p>
          <a:p>
            <a:endParaRPr lang="en-US" dirty="0"/>
          </a:p>
        </p:txBody>
      </p:sp>
    </p:spTree>
    <p:extLst>
      <p:ext uri="{BB962C8B-B14F-4D97-AF65-F5344CB8AC3E}">
        <p14:creationId xmlns:p14="http://schemas.microsoft.com/office/powerpoint/2010/main" val="572985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5D14-2591-7231-629E-B26E13FA6CBF}"/>
              </a:ext>
            </a:extLst>
          </p:cNvPr>
          <p:cNvSpPr>
            <a:spLocks noGrp="1"/>
          </p:cNvSpPr>
          <p:nvPr>
            <p:ph type="title"/>
          </p:nvPr>
        </p:nvSpPr>
        <p:spPr/>
        <p:txBody>
          <a:bodyPr/>
          <a:lstStyle/>
          <a:p>
            <a:r>
              <a:rPr lang="fr-FR" dirty="0"/>
              <a:t>Table </a:t>
            </a:r>
            <a:r>
              <a:rPr lang="fr-FR" dirty="0" err="1"/>
              <a:t>Comparison</a:t>
            </a:r>
            <a:r>
              <a:rPr lang="fr-FR" dirty="0"/>
              <a:t>: </a:t>
            </a:r>
            <a:r>
              <a:rPr lang="fr-FR" dirty="0" err="1"/>
              <a:t>Traditional</a:t>
            </a:r>
            <a:r>
              <a:rPr lang="fr-FR" dirty="0"/>
              <a:t> IoT vs Blockchain IoT</a:t>
            </a:r>
            <a:endParaRPr lang="en-US" dirty="0"/>
          </a:p>
        </p:txBody>
      </p:sp>
      <p:graphicFrame>
        <p:nvGraphicFramePr>
          <p:cNvPr id="6" name="Content Placeholder 5">
            <a:extLst>
              <a:ext uri="{FF2B5EF4-FFF2-40B4-BE49-F238E27FC236}">
                <a16:creationId xmlns:a16="http://schemas.microsoft.com/office/drawing/2014/main" id="{67EAFAA0-8686-2F61-E8BA-9F5342D9BA6A}"/>
              </a:ext>
            </a:extLst>
          </p:cNvPr>
          <p:cNvGraphicFramePr>
            <a:graphicFrameLocks noGrp="1"/>
          </p:cNvGraphicFramePr>
          <p:nvPr>
            <p:ph idx="1"/>
          </p:nvPr>
        </p:nvGraphicFramePr>
        <p:xfrm>
          <a:off x="1284424" y="1825627"/>
          <a:ext cx="9623151" cy="4351334"/>
        </p:xfrm>
        <a:graphic>
          <a:graphicData uri="http://schemas.openxmlformats.org/drawingml/2006/table">
            <a:tbl>
              <a:tblPr/>
              <a:tblGrid>
                <a:gridCol w="3207717">
                  <a:extLst>
                    <a:ext uri="{9D8B030D-6E8A-4147-A177-3AD203B41FA5}">
                      <a16:colId xmlns:a16="http://schemas.microsoft.com/office/drawing/2014/main" val="30042778"/>
                    </a:ext>
                  </a:extLst>
                </a:gridCol>
                <a:gridCol w="3207717">
                  <a:extLst>
                    <a:ext uri="{9D8B030D-6E8A-4147-A177-3AD203B41FA5}">
                      <a16:colId xmlns:a16="http://schemas.microsoft.com/office/drawing/2014/main" val="3141048496"/>
                    </a:ext>
                  </a:extLst>
                </a:gridCol>
                <a:gridCol w="3207717">
                  <a:extLst>
                    <a:ext uri="{9D8B030D-6E8A-4147-A177-3AD203B41FA5}">
                      <a16:colId xmlns:a16="http://schemas.microsoft.com/office/drawing/2014/main" val="2651367851"/>
                    </a:ext>
                  </a:extLst>
                </a:gridCol>
              </a:tblGrid>
              <a:tr h="334718">
                <a:tc>
                  <a:txBody>
                    <a:bodyPr/>
                    <a:lstStyle/>
                    <a:p>
                      <a:pPr>
                        <a:buNone/>
                      </a:pPr>
                      <a:r>
                        <a:rPr lang="en-US" sz="1600"/>
                        <a:t>Feature</a:t>
                      </a:r>
                    </a:p>
                  </a:txBody>
                  <a:tcPr marL="83680" marR="83680" marT="41840" marB="41840" anchor="ctr">
                    <a:lnL>
                      <a:noFill/>
                    </a:lnL>
                    <a:lnR>
                      <a:noFill/>
                    </a:lnR>
                    <a:lnT>
                      <a:noFill/>
                    </a:lnT>
                    <a:lnB>
                      <a:noFill/>
                    </a:lnB>
                    <a:noFill/>
                  </a:tcPr>
                </a:tc>
                <a:tc>
                  <a:txBody>
                    <a:bodyPr/>
                    <a:lstStyle/>
                    <a:p>
                      <a:pPr>
                        <a:buNone/>
                      </a:pPr>
                      <a:r>
                        <a:rPr lang="en-US" sz="1600"/>
                        <a:t>Traditional IoT Security</a:t>
                      </a:r>
                    </a:p>
                  </a:txBody>
                  <a:tcPr marL="83680" marR="83680" marT="41840" marB="41840" anchor="ctr">
                    <a:lnL>
                      <a:noFill/>
                    </a:lnL>
                    <a:lnR>
                      <a:noFill/>
                    </a:lnR>
                    <a:lnT>
                      <a:noFill/>
                    </a:lnT>
                    <a:lnB>
                      <a:noFill/>
                    </a:lnB>
                    <a:noFill/>
                  </a:tcPr>
                </a:tc>
                <a:tc>
                  <a:txBody>
                    <a:bodyPr/>
                    <a:lstStyle/>
                    <a:p>
                      <a:pPr>
                        <a:buNone/>
                      </a:pPr>
                      <a:r>
                        <a:rPr lang="en-US" sz="1600"/>
                        <a:t>Blockchain-based IoT Security</a:t>
                      </a:r>
                    </a:p>
                  </a:txBody>
                  <a:tcPr marL="83680" marR="83680" marT="41840" marB="41840" anchor="ctr">
                    <a:lnL>
                      <a:noFill/>
                    </a:lnL>
                    <a:lnR>
                      <a:noFill/>
                    </a:lnR>
                    <a:lnT>
                      <a:noFill/>
                    </a:lnT>
                    <a:lnB>
                      <a:noFill/>
                    </a:lnB>
                    <a:noFill/>
                  </a:tcPr>
                </a:tc>
                <a:extLst>
                  <a:ext uri="{0D108BD9-81ED-4DB2-BD59-A6C34878D82A}">
                    <a16:rowId xmlns:a16="http://schemas.microsoft.com/office/drawing/2014/main" val="1620381990"/>
                  </a:ext>
                </a:extLst>
              </a:tr>
              <a:tr h="334718">
                <a:tc>
                  <a:txBody>
                    <a:bodyPr/>
                    <a:lstStyle/>
                    <a:p>
                      <a:pPr>
                        <a:buNone/>
                      </a:pPr>
                      <a:r>
                        <a:rPr lang="en-US" sz="1600" b="1"/>
                        <a:t>Network Type</a:t>
                      </a:r>
                      <a:endParaRPr lang="en-US" sz="1600"/>
                    </a:p>
                  </a:txBody>
                  <a:tcPr marL="83680" marR="83680" marT="41840" marB="41840" anchor="ctr">
                    <a:lnL>
                      <a:noFill/>
                    </a:lnL>
                    <a:lnR>
                      <a:noFill/>
                    </a:lnR>
                    <a:lnT>
                      <a:noFill/>
                    </a:lnT>
                    <a:lnB>
                      <a:noFill/>
                    </a:lnB>
                    <a:noFill/>
                  </a:tcPr>
                </a:tc>
                <a:tc>
                  <a:txBody>
                    <a:bodyPr/>
                    <a:lstStyle/>
                    <a:p>
                      <a:pPr>
                        <a:buNone/>
                      </a:pPr>
                      <a:r>
                        <a:rPr lang="en-US" sz="1600"/>
                        <a:t>Centralized</a:t>
                      </a:r>
                    </a:p>
                  </a:txBody>
                  <a:tcPr marL="83680" marR="83680" marT="41840" marB="41840" anchor="ctr">
                    <a:lnL>
                      <a:noFill/>
                    </a:lnL>
                    <a:lnR>
                      <a:noFill/>
                    </a:lnR>
                    <a:lnT>
                      <a:noFill/>
                    </a:lnT>
                    <a:lnB>
                      <a:noFill/>
                    </a:lnB>
                    <a:noFill/>
                  </a:tcPr>
                </a:tc>
                <a:tc>
                  <a:txBody>
                    <a:bodyPr/>
                    <a:lstStyle/>
                    <a:p>
                      <a:pPr>
                        <a:buNone/>
                      </a:pPr>
                      <a:r>
                        <a:rPr lang="en-US" sz="1600"/>
                        <a:t>Decentralized</a:t>
                      </a:r>
                    </a:p>
                  </a:txBody>
                  <a:tcPr marL="83680" marR="83680" marT="41840" marB="41840" anchor="ctr">
                    <a:lnL>
                      <a:noFill/>
                    </a:lnL>
                    <a:lnR>
                      <a:noFill/>
                    </a:lnR>
                    <a:lnT>
                      <a:noFill/>
                    </a:lnT>
                    <a:lnB>
                      <a:noFill/>
                    </a:lnB>
                    <a:noFill/>
                  </a:tcPr>
                </a:tc>
                <a:extLst>
                  <a:ext uri="{0D108BD9-81ED-4DB2-BD59-A6C34878D82A}">
                    <a16:rowId xmlns:a16="http://schemas.microsoft.com/office/drawing/2014/main" val="1932395337"/>
                  </a:ext>
                </a:extLst>
              </a:tr>
              <a:tr h="334718">
                <a:tc>
                  <a:txBody>
                    <a:bodyPr/>
                    <a:lstStyle/>
                    <a:p>
                      <a:pPr>
                        <a:buNone/>
                      </a:pPr>
                      <a:r>
                        <a:rPr lang="en-US" sz="1600" b="1"/>
                        <a:t>Single Point of Failure</a:t>
                      </a:r>
                      <a:endParaRPr lang="en-US" sz="1600"/>
                    </a:p>
                  </a:txBody>
                  <a:tcPr marL="83680" marR="83680" marT="41840" marB="41840" anchor="ctr">
                    <a:lnL>
                      <a:noFill/>
                    </a:lnL>
                    <a:lnR>
                      <a:noFill/>
                    </a:lnR>
                    <a:lnT>
                      <a:noFill/>
                    </a:lnT>
                    <a:lnB>
                      <a:noFill/>
                    </a:lnB>
                    <a:noFill/>
                  </a:tcPr>
                </a:tc>
                <a:tc>
                  <a:txBody>
                    <a:bodyPr/>
                    <a:lstStyle/>
                    <a:p>
                      <a:pPr>
                        <a:buNone/>
                      </a:pPr>
                      <a:r>
                        <a:rPr lang="en-US" sz="1600"/>
                        <a:t>Yes ❌</a:t>
                      </a:r>
                    </a:p>
                  </a:txBody>
                  <a:tcPr marL="83680" marR="83680" marT="41840" marB="41840" anchor="ctr">
                    <a:lnL>
                      <a:noFill/>
                    </a:lnL>
                    <a:lnR>
                      <a:noFill/>
                    </a:lnR>
                    <a:lnT>
                      <a:noFill/>
                    </a:lnT>
                    <a:lnB>
                      <a:noFill/>
                    </a:lnB>
                    <a:noFill/>
                  </a:tcPr>
                </a:tc>
                <a:tc>
                  <a:txBody>
                    <a:bodyPr/>
                    <a:lstStyle/>
                    <a:p>
                      <a:pPr>
                        <a:buNone/>
                      </a:pPr>
                      <a:r>
                        <a:rPr lang="en-US" sz="1600"/>
                        <a:t>No ✅</a:t>
                      </a:r>
                    </a:p>
                  </a:txBody>
                  <a:tcPr marL="83680" marR="83680" marT="41840" marB="41840" anchor="ctr">
                    <a:lnL>
                      <a:noFill/>
                    </a:lnL>
                    <a:lnR>
                      <a:noFill/>
                    </a:lnR>
                    <a:lnT>
                      <a:noFill/>
                    </a:lnT>
                    <a:lnB>
                      <a:noFill/>
                    </a:lnB>
                    <a:noFill/>
                  </a:tcPr>
                </a:tc>
                <a:extLst>
                  <a:ext uri="{0D108BD9-81ED-4DB2-BD59-A6C34878D82A}">
                    <a16:rowId xmlns:a16="http://schemas.microsoft.com/office/drawing/2014/main" val="1690208481"/>
                  </a:ext>
                </a:extLst>
              </a:tr>
              <a:tr h="334718">
                <a:tc>
                  <a:txBody>
                    <a:bodyPr/>
                    <a:lstStyle/>
                    <a:p>
                      <a:pPr>
                        <a:buNone/>
                      </a:pPr>
                      <a:r>
                        <a:rPr lang="en-US" sz="1600" b="1"/>
                        <a:t>Device Authentication</a:t>
                      </a:r>
                      <a:endParaRPr lang="en-US" sz="1600"/>
                    </a:p>
                  </a:txBody>
                  <a:tcPr marL="83680" marR="83680" marT="41840" marB="41840" anchor="ctr">
                    <a:lnL>
                      <a:noFill/>
                    </a:lnL>
                    <a:lnR>
                      <a:noFill/>
                    </a:lnR>
                    <a:lnT>
                      <a:noFill/>
                    </a:lnT>
                    <a:lnB>
                      <a:noFill/>
                    </a:lnB>
                    <a:noFill/>
                  </a:tcPr>
                </a:tc>
                <a:tc>
                  <a:txBody>
                    <a:bodyPr/>
                    <a:lstStyle/>
                    <a:p>
                      <a:pPr>
                        <a:buNone/>
                      </a:pPr>
                      <a:r>
                        <a:rPr lang="en-US" sz="1600"/>
                        <a:t>Weak (password-based)</a:t>
                      </a:r>
                    </a:p>
                  </a:txBody>
                  <a:tcPr marL="83680" marR="83680" marT="41840" marB="41840" anchor="ctr">
                    <a:lnL>
                      <a:noFill/>
                    </a:lnL>
                    <a:lnR>
                      <a:noFill/>
                    </a:lnR>
                    <a:lnT>
                      <a:noFill/>
                    </a:lnT>
                    <a:lnB>
                      <a:noFill/>
                    </a:lnB>
                    <a:noFill/>
                  </a:tcPr>
                </a:tc>
                <a:tc>
                  <a:txBody>
                    <a:bodyPr/>
                    <a:lstStyle/>
                    <a:p>
                      <a:pPr>
                        <a:buNone/>
                      </a:pPr>
                      <a:r>
                        <a:rPr lang="en-US" sz="1600"/>
                        <a:t>Strong (cryptographic keys)</a:t>
                      </a:r>
                    </a:p>
                  </a:txBody>
                  <a:tcPr marL="83680" marR="83680" marT="41840" marB="41840" anchor="ctr">
                    <a:lnL>
                      <a:noFill/>
                    </a:lnL>
                    <a:lnR>
                      <a:noFill/>
                    </a:lnR>
                    <a:lnT>
                      <a:noFill/>
                    </a:lnT>
                    <a:lnB>
                      <a:noFill/>
                    </a:lnB>
                    <a:noFill/>
                  </a:tcPr>
                </a:tc>
                <a:extLst>
                  <a:ext uri="{0D108BD9-81ED-4DB2-BD59-A6C34878D82A}">
                    <a16:rowId xmlns:a16="http://schemas.microsoft.com/office/drawing/2014/main" val="15967290"/>
                  </a:ext>
                </a:extLst>
              </a:tr>
              <a:tr h="334718">
                <a:tc>
                  <a:txBody>
                    <a:bodyPr/>
                    <a:lstStyle/>
                    <a:p>
                      <a:pPr>
                        <a:buNone/>
                      </a:pPr>
                      <a:r>
                        <a:rPr lang="en-US" sz="1600" b="1"/>
                        <a:t>Data Integrity</a:t>
                      </a:r>
                      <a:endParaRPr lang="en-US" sz="1600"/>
                    </a:p>
                  </a:txBody>
                  <a:tcPr marL="83680" marR="83680" marT="41840" marB="41840" anchor="ctr">
                    <a:lnL>
                      <a:noFill/>
                    </a:lnL>
                    <a:lnR>
                      <a:noFill/>
                    </a:lnR>
                    <a:lnT>
                      <a:noFill/>
                    </a:lnT>
                    <a:lnB>
                      <a:noFill/>
                    </a:lnB>
                    <a:noFill/>
                  </a:tcPr>
                </a:tc>
                <a:tc>
                  <a:txBody>
                    <a:bodyPr/>
                    <a:lstStyle/>
                    <a:p>
                      <a:pPr>
                        <a:buNone/>
                      </a:pPr>
                      <a:r>
                        <a:rPr lang="en-US" sz="1600"/>
                        <a:t>Can be modified</a:t>
                      </a:r>
                    </a:p>
                  </a:txBody>
                  <a:tcPr marL="83680" marR="83680" marT="41840" marB="41840" anchor="ctr">
                    <a:lnL>
                      <a:noFill/>
                    </a:lnL>
                    <a:lnR>
                      <a:noFill/>
                    </a:lnR>
                    <a:lnT>
                      <a:noFill/>
                    </a:lnT>
                    <a:lnB>
                      <a:noFill/>
                    </a:lnB>
                    <a:noFill/>
                  </a:tcPr>
                </a:tc>
                <a:tc>
                  <a:txBody>
                    <a:bodyPr/>
                    <a:lstStyle/>
                    <a:p>
                      <a:pPr>
                        <a:buNone/>
                      </a:pPr>
                      <a:r>
                        <a:rPr lang="en-US" sz="1600"/>
                        <a:t>Tamper-proof / immutable</a:t>
                      </a:r>
                    </a:p>
                  </a:txBody>
                  <a:tcPr marL="83680" marR="83680" marT="41840" marB="41840" anchor="ctr">
                    <a:lnL>
                      <a:noFill/>
                    </a:lnL>
                    <a:lnR>
                      <a:noFill/>
                    </a:lnR>
                    <a:lnT>
                      <a:noFill/>
                    </a:lnT>
                    <a:lnB>
                      <a:noFill/>
                    </a:lnB>
                    <a:noFill/>
                  </a:tcPr>
                </a:tc>
                <a:extLst>
                  <a:ext uri="{0D108BD9-81ED-4DB2-BD59-A6C34878D82A}">
                    <a16:rowId xmlns:a16="http://schemas.microsoft.com/office/drawing/2014/main" val="3657896747"/>
                  </a:ext>
                </a:extLst>
              </a:tr>
              <a:tr h="334718">
                <a:tc>
                  <a:txBody>
                    <a:bodyPr/>
                    <a:lstStyle/>
                    <a:p>
                      <a:pPr>
                        <a:buNone/>
                      </a:pPr>
                      <a:r>
                        <a:rPr lang="en-US" sz="1600" b="1"/>
                        <a:t>Data Encryption</a:t>
                      </a:r>
                      <a:endParaRPr lang="en-US" sz="1600"/>
                    </a:p>
                  </a:txBody>
                  <a:tcPr marL="83680" marR="83680" marT="41840" marB="41840" anchor="ctr">
                    <a:lnL>
                      <a:noFill/>
                    </a:lnL>
                    <a:lnR>
                      <a:noFill/>
                    </a:lnR>
                    <a:lnT>
                      <a:noFill/>
                    </a:lnT>
                    <a:lnB>
                      <a:noFill/>
                    </a:lnB>
                    <a:noFill/>
                  </a:tcPr>
                </a:tc>
                <a:tc>
                  <a:txBody>
                    <a:bodyPr/>
                    <a:lstStyle/>
                    <a:p>
                      <a:pPr>
                        <a:buNone/>
                      </a:pPr>
                      <a:r>
                        <a:rPr lang="en-US" sz="1600"/>
                        <a:t>Sometimes weak</a:t>
                      </a:r>
                    </a:p>
                  </a:txBody>
                  <a:tcPr marL="83680" marR="83680" marT="41840" marB="41840" anchor="ctr">
                    <a:lnL>
                      <a:noFill/>
                    </a:lnL>
                    <a:lnR>
                      <a:noFill/>
                    </a:lnR>
                    <a:lnT>
                      <a:noFill/>
                    </a:lnT>
                    <a:lnB>
                      <a:noFill/>
                    </a:lnB>
                    <a:noFill/>
                  </a:tcPr>
                </a:tc>
                <a:tc>
                  <a:txBody>
                    <a:bodyPr/>
                    <a:lstStyle/>
                    <a:p>
                      <a:pPr>
                        <a:buNone/>
                      </a:pPr>
                      <a:r>
                        <a:rPr lang="en-US" sz="1600"/>
                        <a:t>Strong cryptography</a:t>
                      </a:r>
                    </a:p>
                  </a:txBody>
                  <a:tcPr marL="83680" marR="83680" marT="41840" marB="41840" anchor="ctr">
                    <a:lnL>
                      <a:noFill/>
                    </a:lnL>
                    <a:lnR>
                      <a:noFill/>
                    </a:lnR>
                    <a:lnT>
                      <a:noFill/>
                    </a:lnT>
                    <a:lnB>
                      <a:noFill/>
                    </a:lnB>
                    <a:noFill/>
                  </a:tcPr>
                </a:tc>
                <a:extLst>
                  <a:ext uri="{0D108BD9-81ED-4DB2-BD59-A6C34878D82A}">
                    <a16:rowId xmlns:a16="http://schemas.microsoft.com/office/drawing/2014/main" val="1025467829"/>
                  </a:ext>
                </a:extLst>
              </a:tr>
              <a:tr h="334718">
                <a:tc>
                  <a:txBody>
                    <a:bodyPr/>
                    <a:lstStyle/>
                    <a:p>
                      <a:pPr>
                        <a:buNone/>
                      </a:pPr>
                      <a:r>
                        <a:rPr lang="en-US" sz="1600" b="1"/>
                        <a:t>DDoS / Botnet Protection</a:t>
                      </a:r>
                      <a:endParaRPr lang="en-US" sz="1600"/>
                    </a:p>
                  </a:txBody>
                  <a:tcPr marL="83680" marR="83680" marT="41840" marB="41840" anchor="ctr">
                    <a:lnL>
                      <a:noFill/>
                    </a:lnL>
                    <a:lnR>
                      <a:noFill/>
                    </a:lnR>
                    <a:lnT>
                      <a:noFill/>
                    </a:lnT>
                    <a:lnB>
                      <a:noFill/>
                    </a:lnB>
                    <a:noFill/>
                  </a:tcPr>
                </a:tc>
                <a:tc>
                  <a:txBody>
                    <a:bodyPr/>
                    <a:lstStyle/>
                    <a:p>
                      <a:pPr>
                        <a:buNone/>
                      </a:pPr>
                      <a:r>
                        <a:rPr lang="en-US" sz="1600"/>
                        <a:t>Vulnerable</a:t>
                      </a:r>
                    </a:p>
                  </a:txBody>
                  <a:tcPr marL="83680" marR="83680" marT="41840" marB="41840" anchor="ctr">
                    <a:lnL>
                      <a:noFill/>
                    </a:lnL>
                    <a:lnR>
                      <a:noFill/>
                    </a:lnR>
                    <a:lnT>
                      <a:noFill/>
                    </a:lnT>
                    <a:lnB>
                      <a:noFill/>
                    </a:lnB>
                    <a:noFill/>
                  </a:tcPr>
                </a:tc>
                <a:tc>
                  <a:txBody>
                    <a:bodyPr/>
                    <a:lstStyle/>
                    <a:p>
                      <a:pPr>
                        <a:buNone/>
                      </a:pPr>
                      <a:r>
                        <a:rPr lang="en-US" sz="1600"/>
                        <a:t>More resistant</a:t>
                      </a:r>
                    </a:p>
                  </a:txBody>
                  <a:tcPr marL="83680" marR="83680" marT="41840" marB="41840" anchor="ctr">
                    <a:lnL>
                      <a:noFill/>
                    </a:lnL>
                    <a:lnR>
                      <a:noFill/>
                    </a:lnR>
                    <a:lnT>
                      <a:noFill/>
                    </a:lnT>
                    <a:lnB>
                      <a:noFill/>
                    </a:lnB>
                    <a:noFill/>
                  </a:tcPr>
                </a:tc>
                <a:extLst>
                  <a:ext uri="{0D108BD9-81ED-4DB2-BD59-A6C34878D82A}">
                    <a16:rowId xmlns:a16="http://schemas.microsoft.com/office/drawing/2014/main" val="1327307795"/>
                  </a:ext>
                </a:extLst>
              </a:tr>
              <a:tr h="334718">
                <a:tc>
                  <a:txBody>
                    <a:bodyPr/>
                    <a:lstStyle/>
                    <a:p>
                      <a:pPr>
                        <a:buNone/>
                      </a:pPr>
                      <a:r>
                        <a:rPr lang="en-US" sz="1600" b="1"/>
                        <a:t>Device Communication</a:t>
                      </a:r>
                      <a:endParaRPr lang="en-US" sz="1600"/>
                    </a:p>
                  </a:txBody>
                  <a:tcPr marL="83680" marR="83680" marT="41840" marB="41840" anchor="ctr">
                    <a:lnL>
                      <a:noFill/>
                    </a:lnL>
                    <a:lnR>
                      <a:noFill/>
                    </a:lnR>
                    <a:lnT>
                      <a:noFill/>
                    </a:lnT>
                    <a:lnB>
                      <a:noFill/>
                    </a:lnB>
                    <a:noFill/>
                  </a:tcPr>
                </a:tc>
                <a:tc>
                  <a:txBody>
                    <a:bodyPr/>
                    <a:lstStyle/>
                    <a:p>
                      <a:pPr>
                        <a:buNone/>
                      </a:pPr>
                      <a:r>
                        <a:rPr lang="en-US" sz="1600"/>
                        <a:t>Through central server</a:t>
                      </a:r>
                    </a:p>
                  </a:txBody>
                  <a:tcPr marL="83680" marR="83680" marT="41840" marB="41840" anchor="ctr">
                    <a:lnL>
                      <a:noFill/>
                    </a:lnL>
                    <a:lnR>
                      <a:noFill/>
                    </a:lnR>
                    <a:lnT>
                      <a:noFill/>
                    </a:lnT>
                    <a:lnB>
                      <a:noFill/>
                    </a:lnB>
                    <a:noFill/>
                  </a:tcPr>
                </a:tc>
                <a:tc>
                  <a:txBody>
                    <a:bodyPr/>
                    <a:lstStyle/>
                    <a:p>
                      <a:pPr>
                        <a:buNone/>
                      </a:pPr>
                      <a:r>
                        <a:rPr lang="en-US" sz="1600"/>
                        <a:t>Peer-to-peer secure</a:t>
                      </a:r>
                    </a:p>
                  </a:txBody>
                  <a:tcPr marL="83680" marR="83680" marT="41840" marB="41840" anchor="ctr">
                    <a:lnL>
                      <a:noFill/>
                    </a:lnL>
                    <a:lnR>
                      <a:noFill/>
                    </a:lnR>
                    <a:lnT>
                      <a:noFill/>
                    </a:lnT>
                    <a:lnB>
                      <a:noFill/>
                    </a:lnB>
                    <a:noFill/>
                  </a:tcPr>
                </a:tc>
                <a:extLst>
                  <a:ext uri="{0D108BD9-81ED-4DB2-BD59-A6C34878D82A}">
                    <a16:rowId xmlns:a16="http://schemas.microsoft.com/office/drawing/2014/main" val="402900918"/>
                  </a:ext>
                </a:extLst>
              </a:tr>
              <a:tr h="334718">
                <a:tc>
                  <a:txBody>
                    <a:bodyPr/>
                    <a:lstStyle/>
                    <a:p>
                      <a:pPr>
                        <a:buNone/>
                      </a:pPr>
                      <a:r>
                        <a:rPr lang="en-US" sz="1600" b="1"/>
                        <a:t>Firmware Updates</a:t>
                      </a:r>
                      <a:endParaRPr lang="en-US" sz="1600"/>
                    </a:p>
                  </a:txBody>
                  <a:tcPr marL="83680" marR="83680" marT="41840" marB="41840" anchor="ctr">
                    <a:lnL>
                      <a:noFill/>
                    </a:lnL>
                    <a:lnR>
                      <a:noFill/>
                    </a:lnR>
                    <a:lnT>
                      <a:noFill/>
                    </a:lnT>
                    <a:lnB>
                      <a:noFill/>
                    </a:lnB>
                    <a:noFill/>
                  </a:tcPr>
                </a:tc>
                <a:tc>
                  <a:txBody>
                    <a:bodyPr/>
                    <a:lstStyle/>
                    <a:p>
                      <a:pPr>
                        <a:buNone/>
                      </a:pPr>
                      <a:r>
                        <a:rPr lang="en-US" sz="1600"/>
                        <a:t>Can be faked</a:t>
                      </a:r>
                    </a:p>
                  </a:txBody>
                  <a:tcPr marL="83680" marR="83680" marT="41840" marB="41840" anchor="ctr">
                    <a:lnL>
                      <a:noFill/>
                    </a:lnL>
                    <a:lnR>
                      <a:noFill/>
                    </a:lnR>
                    <a:lnT>
                      <a:noFill/>
                    </a:lnT>
                    <a:lnB>
                      <a:noFill/>
                    </a:lnB>
                    <a:noFill/>
                  </a:tcPr>
                </a:tc>
                <a:tc>
                  <a:txBody>
                    <a:bodyPr/>
                    <a:lstStyle/>
                    <a:p>
                      <a:pPr>
                        <a:buNone/>
                      </a:pPr>
                      <a:r>
                        <a:rPr lang="en-US" sz="1600"/>
                        <a:t>Verified &amp; trusted</a:t>
                      </a:r>
                    </a:p>
                  </a:txBody>
                  <a:tcPr marL="83680" marR="83680" marT="41840" marB="41840" anchor="ctr">
                    <a:lnL>
                      <a:noFill/>
                    </a:lnL>
                    <a:lnR>
                      <a:noFill/>
                    </a:lnR>
                    <a:lnT>
                      <a:noFill/>
                    </a:lnT>
                    <a:lnB>
                      <a:noFill/>
                    </a:lnB>
                    <a:noFill/>
                  </a:tcPr>
                </a:tc>
                <a:extLst>
                  <a:ext uri="{0D108BD9-81ED-4DB2-BD59-A6C34878D82A}">
                    <a16:rowId xmlns:a16="http://schemas.microsoft.com/office/drawing/2014/main" val="1949719896"/>
                  </a:ext>
                </a:extLst>
              </a:tr>
              <a:tr h="334718">
                <a:tc>
                  <a:txBody>
                    <a:bodyPr/>
                    <a:lstStyle/>
                    <a:p>
                      <a:pPr>
                        <a:buNone/>
                      </a:pPr>
                      <a:r>
                        <a:rPr lang="en-US" sz="1600" b="1"/>
                        <a:t>Access Control</a:t>
                      </a:r>
                      <a:endParaRPr lang="en-US" sz="1600"/>
                    </a:p>
                  </a:txBody>
                  <a:tcPr marL="83680" marR="83680" marT="41840" marB="41840" anchor="ctr">
                    <a:lnL>
                      <a:noFill/>
                    </a:lnL>
                    <a:lnR>
                      <a:noFill/>
                    </a:lnR>
                    <a:lnT>
                      <a:noFill/>
                    </a:lnT>
                    <a:lnB>
                      <a:noFill/>
                    </a:lnB>
                    <a:noFill/>
                  </a:tcPr>
                </a:tc>
                <a:tc>
                  <a:txBody>
                    <a:bodyPr/>
                    <a:lstStyle/>
                    <a:p>
                      <a:pPr>
                        <a:buNone/>
                      </a:pPr>
                      <a:r>
                        <a:rPr lang="en-US" sz="1600"/>
                        <a:t>Manual / weak</a:t>
                      </a:r>
                    </a:p>
                  </a:txBody>
                  <a:tcPr marL="83680" marR="83680" marT="41840" marB="41840" anchor="ctr">
                    <a:lnL>
                      <a:noFill/>
                    </a:lnL>
                    <a:lnR>
                      <a:noFill/>
                    </a:lnR>
                    <a:lnT>
                      <a:noFill/>
                    </a:lnT>
                    <a:lnB>
                      <a:noFill/>
                    </a:lnB>
                    <a:noFill/>
                  </a:tcPr>
                </a:tc>
                <a:tc>
                  <a:txBody>
                    <a:bodyPr/>
                    <a:lstStyle/>
                    <a:p>
                      <a:pPr>
                        <a:buNone/>
                      </a:pPr>
                      <a:r>
                        <a:rPr lang="en-US" sz="1600"/>
                        <a:t>Automated via smart contracts</a:t>
                      </a:r>
                    </a:p>
                  </a:txBody>
                  <a:tcPr marL="83680" marR="83680" marT="41840" marB="41840" anchor="ctr">
                    <a:lnL>
                      <a:noFill/>
                    </a:lnL>
                    <a:lnR>
                      <a:noFill/>
                    </a:lnR>
                    <a:lnT>
                      <a:noFill/>
                    </a:lnT>
                    <a:lnB>
                      <a:noFill/>
                    </a:lnB>
                    <a:noFill/>
                  </a:tcPr>
                </a:tc>
                <a:extLst>
                  <a:ext uri="{0D108BD9-81ED-4DB2-BD59-A6C34878D82A}">
                    <a16:rowId xmlns:a16="http://schemas.microsoft.com/office/drawing/2014/main" val="4175587457"/>
                  </a:ext>
                </a:extLst>
              </a:tr>
              <a:tr h="334718">
                <a:tc>
                  <a:txBody>
                    <a:bodyPr/>
                    <a:lstStyle/>
                    <a:p>
                      <a:pPr>
                        <a:buNone/>
                      </a:pPr>
                      <a:r>
                        <a:rPr lang="en-US" sz="1600" b="1"/>
                        <a:t>Privacy Control</a:t>
                      </a:r>
                      <a:endParaRPr lang="en-US" sz="1600"/>
                    </a:p>
                  </a:txBody>
                  <a:tcPr marL="83680" marR="83680" marT="41840" marB="41840" anchor="ctr">
                    <a:lnL>
                      <a:noFill/>
                    </a:lnL>
                    <a:lnR>
                      <a:noFill/>
                    </a:lnR>
                    <a:lnT>
                      <a:noFill/>
                    </a:lnT>
                    <a:lnB>
                      <a:noFill/>
                    </a:lnB>
                    <a:noFill/>
                  </a:tcPr>
                </a:tc>
                <a:tc>
                  <a:txBody>
                    <a:bodyPr/>
                    <a:lstStyle/>
                    <a:p>
                      <a:pPr>
                        <a:buNone/>
                      </a:pPr>
                      <a:r>
                        <a:rPr lang="en-US" sz="1600"/>
                        <a:t>Controlled by central authority</a:t>
                      </a:r>
                    </a:p>
                  </a:txBody>
                  <a:tcPr marL="83680" marR="83680" marT="41840" marB="41840" anchor="ctr">
                    <a:lnL>
                      <a:noFill/>
                    </a:lnL>
                    <a:lnR>
                      <a:noFill/>
                    </a:lnR>
                    <a:lnT>
                      <a:noFill/>
                    </a:lnT>
                    <a:lnB>
                      <a:noFill/>
                    </a:lnB>
                    <a:noFill/>
                  </a:tcPr>
                </a:tc>
                <a:tc>
                  <a:txBody>
                    <a:bodyPr/>
                    <a:lstStyle/>
                    <a:p>
                      <a:pPr>
                        <a:buNone/>
                      </a:pPr>
                      <a:r>
                        <a:rPr lang="en-US" sz="1600"/>
                        <a:t>User-controlled permission</a:t>
                      </a:r>
                    </a:p>
                  </a:txBody>
                  <a:tcPr marL="83680" marR="83680" marT="41840" marB="41840" anchor="ctr">
                    <a:lnL>
                      <a:noFill/>
                    </a:lnL>
                    <a:lnR>
                      <a:noFill/>
                    </a:lnR>
                    <a:lnT>
                      <a:noFill/>
                    </a:lnT>
                    <a:lnB>
                      <a:noFill/>
                    </a:lnB>
                    <a:noFill/>
                  </a:tcPr>
                </a:tc>
                <a:extLst>
                  <a:ext uri="{0D108BD9-81ED-4DB2-BD59-A6C34878D82A}">
                    <a16:rowId xmlns:a16="http://schemas.microsoft.com/office/drawing/2014/main" val="3579075727"/>
                  </a:ext>
                </a:extLst>
              </a:tr>
              <a:tr h="334718">
                <a:tc>
                  <a:txBody>
                    <a:bodyPr/>
                    <a:lstStyle/>
                    <a:p>
                      <a:pPr>
                        <a:buNone/>
                      </a:pPr>
                      <a:r>
                        <a:rPr lang="en-US" sz="1600" b="1"/>
                        <a:t>Transparency</a:t>
                      </a:r>
                      <a:endParaRPr lang="en-US" sz="1600"/>
                    </a:p>
                  </a:txBody>
                  <a:tcPr marL="83680" marR="83680" marT="41840" marB="41840" anchor="ctr">
                    <a:lnL>
                      <a:noFill/>
                    </a:lnL>
                    <a:lnR>
                      <a:noFill/>
                    </a:lnR>
                    <a:lnT>
                      <a:noFill/>
                    </a:lnT>
                    <a:lnB>
                      <a:noFill/>
                    </a:lnB>
                    <a:noFill/>
                  </a:tcPr>
                </a:tc>
                <a:tc>
                  <a:txBody>
                    <a:bodyPr/>
                    <a:lstStyle/>
                    <a:p>
                      <a:pPr>
                        <a:buNone/>
                      </a:pPr>
                      <a:r>
                        <a:rPr lang="en-US" sz="1600"/>
                        <a:t>Limited logs</a:t>
                      </a:r>
                    </a:p>
                  </a:txBody>
                  <a:tcPr marL="83680" marR="83680" marT="41840" marB="41840" anchor="ctr">
                    <a:lnL>
                      <a:noFill/>
                    </a:lnL>
                    <a:lnR>
                      <a:noFill/>
                    </a:lnR>
                    <a:lnT>
                      <a:noFill/>
                    </a:lnT>
                    <a:lnB>
                      <a:noFill/>
                    </a:lnB>
                    <a:noFill/>
                  </a:tcPr>
                </a:tc>
                <a:tc>
                  <a:txBody>
                    <a:bodyPr/>
                    <a:lstStyle/>
                    <a:p>
                      <a:pPr>
                        <a:buNone/>
                      </a:pPr>
                      <a:r>
                        <a:rPr lang="en-US" sz="1600"/>
                        <a:t>Fully traceable &amp; verifiable</a:t>
                      </a:r>
                    </a:p>
                  </a:txBody>
                  <a:tcPr marL="83680" marR="83680" marT="41840" marB="41840" anchor="ctr">
                    <a:lnL>
                      <a:noFill/>
                    </a:lnL>
                    <a:lnR>
                      <a:noFill/>
                    </a:lnR>
                    <a:lnT>
                      <a:noFill/>
                    </a:lnT>
                    <a:lnB>
                      <a:noFill/>
                    </a:lnB>
                    <a:noFill/>
                  </a:tcPr>
                </a:tc>
                <a:extLst>
                  <a:ext uri="{0D108BD9-81ED-4DB2-BD59-A6C34878D82A}">
                    <a16:rowId xmlns:a16="http://schemas.microsoft.com/office/drawing/2014/main" val="464381808"/>
                  </a:ext>
                </a:extLst>
              </a:tr>
              <a:tr h="334718">
                <a:tc>
                  <a:txBody>
                    <a:bodyPr/>
                    <a:lstStyle/>
                    <a:p>
                      <a:pPr>
                        <a:buNone/>
                      </a:pPr>
                      <a:r>
                        <a:rPr lang="en-US" sz="1600" b="1"/>
                        <a:t>Trust Level</a:t>
                      </a:r>
                      <a:endParaRPr lang="en-US" sz="1600"/>
                    </a:p>
                  </a:txBody>
                  <a:tcPr marL="83680" marR="83680" marT="41840" marB="41840" anchor="ctr">
                    <a:lnL>
                      <a:noFill/>
                    </a:lnL>
                    <a:lnR>
                      <a:noFill/>
                    </a:lnR>
                    <a:lnT>
                      <a:noFill/>
                    </a:lnT>
                    <a:lnB>
                      <a:noFill/>
                    </a:lnB>
                    <a:noFill/>
                  </a:tcPr>
                </a:tc>
                <a:tc>
                  <a:txBody>
                    <a:bodyPr/>
                    <a:lstStyle/>
                    <a:p>
                      <a:pPr>
                        <a:buNone/>
                      </a:pPr>
                      <a:r>
                        <a:rPr lang="en-US" sz="1600"/>
                        <a:t>Requires third party</a:t>
                      </a:r>
                    </a:p>
                  </a:txBody>
                  <a:tcPr marL="83680" marR="83680" marT="41840" marB="41840" anchor="ctr">
                    <a:lnL>
                      <a:noFill/>
                    </a:lnL>
                    <a:lnR>
                      <a:noFill/>
                    </a:lnR>
                    <a:lnT>
                      <a:noFill/>
                    </a:lnT>
                    <a:lnB>
                      <a:noFill/>
                    </a:lnB>
                    <a:noFill/>
                  </a:tcPr>
                </a:tc>
                <a:tc>
                  <a:txBody>
                    <a:bodyPr/>
                    <a:lstStyle/>
                    <a:p>
                      <a:pPr>
                        <a:buNone/>
                      </a:pPr>
                      <a:r>
                        <a:rPr lang="en-US" sz="1600" dirty="0"/>
                        <a:t>Trustless system</a:t>
                      </a:r>
                    </a:p>
                  </a:txBody>
                  <a:tcPr marL="83680" marR="83680" marT="41840" marB="41840" anchor="ctr">
                    <a:lnL>
                      <a:noFill/>
                    </a:lnL>
                    <a:lnR>
                      <a:noFill/>
                    </a:lnR>
                    <a:lnT>
                      <a:noFill/>
                    </a:lnT>
                    <a:lnB>
                      <a:noFill/>
                    </a:lnB>
                    <a:noFill/>
                  </a:tcPr>
                </a:tc>
                <a:extLst>
                  <a:ext uri="{0D108BD9-81ED-4DB2-BD59-A6C34878D82A}">
                    <a16:rowId xmlns:a16="http://schemas.microsoft.com/office/drawing/2014/main" val="1433444363"/>
                  </a:ext>
                </a:extLst>
              </a:tr>
            </a:tbl>
          </a:graphicData>
        </a:graphic>
      </p:graphicFrame>
    </p:spTree>
    <p:extLst>
      <p:ext uri="{BB962C8B-B14F-4D97-AF65-F5344CB8AC3E}">
        <p14:creationId xmlns:p14="http://schemas.microsoft.com/office/powerpoint/2010/main" val="60561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9E234-6BB5-1B74-2AC4-89E5C0BBE958}"/>
              </a:ext>
            </a:extLst>
          </p:cNvPr>
          <p:cNvSpPr>
            <a:spLocks noGrp="1"/>
          </p:cNvSpPr>
          <p:nvPr>
            <p:ph type="title"/>
          </p:nvPr>
        </p:nvSpPr>
        <p:spPr/>
        <p:txBody>
          <a:bodyPr/>
          <a:lstStyle/>
          <a:p>
            <a:r>
              <a:rPr lang="en-US" dirty="0"/>
              <a:t>Blockchain in IoT: Benefits vs Risks</a:t>
            </a:r>
          </a:p>
        </p:txBody>
      </p:sp>
      <p:graphicFrame>
        <p:nvGraphicFramePr>
          <p:cNvPr id="6" name="Content Placeholder 5">
            <a:extLst>
              <a:ext uri="{FF2B5EF4-FFF2-40B4-BE49-F238E27FC236}">
                <a16:creationId xmlns:a16="http://schemas.microsoft.com/office/drawing/2014/main" id="{0DDA39D2-A3CA-7A5D-A6B2-171A20305BBD}"/>
              </a:ext>
            </a:extLst>
          </p:cNvPr>
          <p:cNvGraphicFramePr>
            <a:graphicFrameLocks noGrp="1"/>
          </p:cNvGraphicFramePr>
          <p:nvPr>
            <p:ph idx="1"/>
          </p:nvPr>
        </p:nvGraphicFramePr>
        <p:xfrm>
          <a:off x="3542919" y="1770240"/>
          <a:ext cx="5106162" cy="4462108"/>
        </p:xfrm>
        <a:graphic>
          <a:graphicData uri="http://schemas.openxmlformats.org/drawingml/2006/table">
            <a:tbl>
              <a:tblPr/>
              <a:tblGrid>
                <a:gridCol w="1702054">
                  <a:extLst>
                    <a:ext uri="{9D8B030D-6E8A-4147-A177-3AD203B41FA5}">
                      <a16:colId xmlns:a16="http://schemas.microsoft.com/office/drawing/2014/main" val="2853028200"/>
                    </a:ext>
                  </a:extLst>
                </a:gridCol>
                <a:gridCol w="1702054">
                  <a:extLst>
                    <a:ext uri="{9D8B030D-6E8A-4147-A177-3AD203B41FA5}">
                      <a16:colId xmlns:a16="http://schemas.microsoft.com/office/drawing/2014/main" val="1667599614"/>
                    </a:ext>
                  </a:extLst>
                </a:gridCol>
                <a:gridCol w="1702054">
                  <a:extLst>
                    <a:ext uri="{9D8B030D-6E8A-4147-A177-3AD203B41FA5}">
                      <a16:colId xmlns:a16="http://schemas.microsoft.com/office/drawing/2014/main" val="1635226622"/>
                    </a:ext>
                  </a:extLst>
                </a:gridCol>
              </a:tblGrid>
              <a:tr h="310810">
                <a:tc>
                  <a:txBody>
                    <a:bodyPr/>
                    <a:lstStyle/>
                    <a:p>
                      <a:pPr>
                        <a:buNone/>
                      </a:pPr>
                      <a:r>
                        <a:rPr lang="en-US" sz="900" b="1"/>
                        <a:t>Aspect</a:t>
                      </a:r>
                      <a:endParaRPr lang="en-US" sz="900"/>
                    </a:p>
                  </a:txBody>
                  <a:tcPr marL="44401" marR="44401" marT="22201" marB="22201" anchor="ctr">
                    <a:lnL>
                      <a:noFill/>
                    </a:lnL>
                    <a:lnR>
                      <a:noFill/>
                    </a:lnR>
                    <a:lnT>
                      <a:noFill/>
                    </a:lnT>
                    <a:lnB>
                      <a:noFill/>
                    </a:lnB>
                    <a:noFill/>
                  </a:tcPr>
                </a:tc>
                <a:tc>
                  <a:txBody>
                    <a:bodyPr/>
                    <a:lstStyle/>
                    <a:p>
                      <a:pPr>
                        <a:buNone/>
                      </a:pPr>
                      <a:r>
                        <a:rPr lang="en-US" sz="900" b="1"/>
                        <a:t>Benefits of Blockchain in IoT</a:t>
                      </a:r>
                      <a:endParaRPr lang="en-US" sz="900"/>
                    </a:p>
                  </a:txBody>
                  <a:tcPr marL="44401" marR="44401" marT="22201" marB="22201" anchor="ctr">
                    <a:lnL>
                      <a:noFill/>
                    </a:lnL>
                    <a:lnR>
                      <a:noFill/>
                    </a:lnR>
                    <a:lnT>
                      <a:noFill/>
                    </a:lnT>
                    <a:lnB>
                      <a:noFill/>
                    </a:lnB>
                    <a:noFill/>
                  </a:tcPr>
                </a:tc>
                <a:tc>
                  <a:txBody>
                    <a:bodyPr/>
                    <a:lstStyle/>
                    <a:p>
                      <a:pPr>
                        <a:buNone/>
                      </a:pPr>
                      <a:r>
                        <a:rPr lang="en-US" sz="900" b="1"/>
                        <a:t>Risks / Challenges of Blockchain in IoT</a:t>
                      </a:r>
                      <a:endParaRPr lang="en-US" sz="900"/>
                    </a:p>
                  </a:txBody>
                  <a:tcPr marL="44401" marR="44401" marT="22201" marB="22201" anchor="ctr">
                    <a:lnL>
                      <a:noFill/>
                    </a:lnL>
                    <a:lnR>
                      <a:noFill/>
                    </a:lnR>
                    <a:lnT>
                      <a:noFill/>
                    </a:lnT>
                    <a:lnB>
                      <a:noFill/>
                    </a:lnB>
                    <a:noFill/>
                  </a:tcPr>
                </a:tc>
                <a:extLst>
                  <a:ext uri="{0D108BD9-81ED-4DB2-BD59-A6C34878D82A}">
                    <a16:rowId xmlns:a16="http://schemas.microsoft.com/office/drawing/2014/main" val="560973890"/>
                  </a:ext>
                </a:extLst>
              </a:tr>
              <a:tr h="310810">
                <a:tc>
                  <a:txBody>
                    <a:bodyPr/>
                    <a:lstStyle/>
                    <a:p>
                      <a:pPr>
                        <a:buNone/>
                      </a:pPr>
                      <a:r>
                        <a:rPr lang="en-US" sz="900" b="1"/>
                        <a:t>Security</a:t>
                      </a:r>
                      <a:endParaRPr lang="en-US" sz="900"/>
                    </a:p>
                  </a:txBody>
                  <a:tcPr marL="44401" marR="44401" marT="22201" marB="22201" anchor="ctr">
                    <a:lnL>
                      <a:noFill/>
                    </a:lnL>
                    <a:lnR>
                      <a:noFill/>
                    </a:lnR>
                    <a:lnT>
                      <a:noFill/>
                    </a:lnT>
                    <a:lnB>
                      <a:noFill/>
                    </a:lnB>
                    <a:noFill/>
                  </a:tcPr>
                </a:tc>
                <a:tc>
                  <a:txBody>
                    <a:bodyPr/>
                    <a:lstStyle/>
                    <a:p>
                      <a:pPr>
                        <a:buNone/>
                      </a:pPr>
                      <a:r>
                        <a:rPr lang="en-US" sz="900"/>
                        <a:t>Strong cryptography protects data and devices</a:t>
                      </a:r>
                    </a:p>
                  </a:txBody>
                  <a:tcPr marL="44401" marR="44401" marT="22201" marB="22201" anchor="ctr">
                    <a:lnL>
                      <a:noFill/>
                    </a:lnL>
                    <a:lnR>
                      <a:noFill/>
                    </a:lnR>
                    <a:lnT>
                      <a:noFill/>
                    </a:lnT>
                    <a:lnB>
                      <a:noFill/>
                    </a:lnB>
                    <a:noFill/>
                  </a:tcPr>
                </a:tc>
                <a:tc>
                  <a:txBody>
                    <a:bodyPr/>
                    <a:lstStyle/>
                    <a:p>
                      <a:pPr>
                        <a:buNone/>
                      </a:pPr>
                      <a:r>
                        <a:rPr lang="en-US" sz="900"/>
                        <a:t>Weak IoT devices can still be hacked</a:t>
                      </a:r>
                    </a:p>
                  </a:txBody>
                  <a:tcPr marL="44401" marR="44401" marT="22201" marB="22201" anchor="ctr">
                    <a:lnL>
                      <a:noFill/>
                    </a:lnL>
                    <a:lnR>
                      <a:noFill/>
                    </a:lnR>
                    <a:lnT>
                      <a:noFill/>
                    </a:lnT>
                    <a:lnB>
                      <a:noFill/>
                    </a:lnB>
                    <a:noFill/>
                  </a:tcPr>
                </a:tc>
                <a:extLst>
                  <a:ext uri="{0D108BD9-81ED-4DB2-BD59-A6C34878D82A}">
                    <a16:rowId xmlns:a16="http://schemas.microsoft.com/office/drawing/2014/main" val="4219802745"/>
                  </a:ext>
                </a:extLst>
              </a:tr>
              <a:tr h="310810">
                <a:tc>
                  <a:txBody>
                    <a:bodyPr/>
                    <a:lstStyle/>
                    <a:p>
                      <a:pPr>
                        <a:buNone/>
                      </a:pPr>
                      <a:r>
                        <a:rPr lang="en-US" sz="900" b="1"/>
                        <a:t>Data Integrity</a:t>
                      </a:r>
                      <a:endParaRPr lang="en-US" sz="900"/>
                    </a:p>
                  </a:txBody>
                  <a:tcPr marL="44401" marR="44401" marT="22201" marB="22201" anchor="ctr">
                    <a:lnL>
                      <a:noFill/>
                    </a:lnL>
                    <a:lnR>
                      <a:noFill/>
                    </a:lnR>
                    <a:lnT>
                      <a:noFill/>
                    </a:lnT>
                    <a:lnB>
                      <a:noFill/>
                    </a:lnB>
                    <a:noFill/>
                  </a:tcPr>
                </a:tc>
                <a:tc>
                  <a:txBody>
                    <a:bodyPr/>
                    <a:lstStyle/>
                    <a:p>
                      <a:pPr>
                        <a:buNone/>
                      </a:pPr>
                      <a:r>
                        <a:rPr lang="en-US" sz="900"/>
                        <a:t>Tamper-proof and immutable records</a:t>
                      </a:r>
                    </a:p>
                  </a:txBody>
                  <a:tcPr marL="44401" marR="44401" marT="22201" marB="22201" anchor="ctr">
                    <a:lnL>
                      <a:noFill/>
                    </a:lnL>
                    <a:lnR>
                      <a:noFill/>
                    </a:lnR>
                    <a:lnT>
                      <a:noFill/>
                    </a:lnT>
                    <a:lnB>
                      <a:noFill/>
                    </a:lnB>
                    <a:noFill/>
                  </a:tcPr>
                </a:tc>
                <a:tc>
                  <a:txBody>
                    <a:bodyPr/>
                    <a:lstStyle/>
                    <a:p>
                      <a:pPr>
                        <a:buNone/>
                      </a:pPr>
                      <a:r>
                        <a:rPr lang="en-US" sz="900"/>
                        <a:t>Wrong data entered cannot be corrected easily</a:t>
                      </a:r>
                    </a:p>
                  </a:txBody>
                  <a:tcPr marL="44401" marR="44401" marT="22201" marB="22201" anchor="ctr">
                    <a:lnL>
                      <a:noFill/>
                    </a:lnL>
                    <a:lnR>
                      <a:noFill/>
                    </a:lnR>
                    <a:lnT>
                      <a:noFill/>
                    </a:lnT>
                    <a:lnB>
                      <a:noFill/>
                    </a:lnB>
                    <a:noFill/>
                  </a:tcPr>
                </a:tc>
                <a:extLst>
                  <a:ext uri="{0D108BD9-81ED-4DB2-BD59-A6C34878D82A}">
                    <a16:rowId xmlns:a16="http://schemas.microsoft.com/office/drawing/2014/main" val="1943990443"/>
                  </a:ext>
                </a:extLst>
              </a:tr>
              <a:tr h="310810">
                <a:tc>
                  <a:txBody>
                    <a:bodyPr/>
                    <a:lstStyle/>
                    <a:p>
                      <a:pPr>
                        <a:buNone/>
                      </a:pPr>
                      <a:r>
                        <a:rPr lang="en-US" sz="900" b="1"/>
                        <a:t>Decentralization</a:t>
                      </a:r>
                      <a:endParaRPr lang="en-US" sz="900"/>
                    </a:p>
                  </a:txBody>
                  <a:tcPr marL="44401" marR="44401" marT="22201" marB="22201" anchor="ctr">
                    <a:lnL>
                      <a:noFill/>
                    </a:lnL>
                    <a:lnR>
                      <a:noFill/>
                    </a:lnR>
                    <a:lnT>
                      <a:noFill/>
                    </a:lnT>
                    <a:lnB>
                      <a:noFill/>
                    </a:lnB>
                    <a:noFill/>
                  </a:tcPr>
                </a:tc>
                <a:tc>
                  <a:txBody>
                    <a:bodyPr/>
                    <a:lstStyle/>
                    <a:p>
                      <a:pPr>
                        <a:buNone/>
                      </a:pPr>
                      <a:r>
                        <a:rPr lang="en-US" sz="900"/>
                        <a:t>No single point of failure</a:t>
                      </a:r>
                    </a:p>
                  </a:txBody>
                  <a:tcPr marL="44401" marR="44401" marT="22201" marB="22201" anchor="ctr">
                    <a:lnL>
                      <a:noFill/>
                    </a:lnL>
                    <a:lnR>
                      <a:noFill/>
                    </a:lnR>
                    <a:lnT>
                      <a:noFill/>
                    </a:lnT>
                    <a:lnB>
                      <a:noFill/>
                    </a:lnB>
                    <a:noFill/>
                  </a:tcPr>
                </a:tc>
                <a:tc>
                  <a:txBody>
                    <a:bodyPr/>
                    <a:lstStyle/>
                    <a:p>
                      <a:pPr>
                        <a:buNone/>
                      </a:pPr>
                      <a:r>
                        <a:rPr lang="en-US" sz="900"/>
                        <a:t>Harder to manage and control system</a:t>
                      </a:r>
                    </a:p>
                  </a:txBody>
                  <a:tcPr marL="44401" marR="44401" marT="22201" marB="22201" anchor="ctr">
                    <a:lnL>
                      <a:noFill/>
                    </a:lnL>
                    <a:lnR>
                      <a:noFill/>
                    </a:lnR>
                    <a:lnT>
                      <a:noFill/>
                    </a:lnT>
                    <a:lnB>
                      <a:noFill/>
                    </a:lnB>
                    <a:noFill/>
                  </a:tcPr>
                </a:tc>
                <a:extLst>
                  <a:ext uri="{0D108BD9-81ED-4DB2-BD59-A6C34878D82A}">
                    <a16:rowId xmlns:a16="http://schemas.microsoft.com/office/drawing/2014/main" val="2943497708"/>
                  </a:ext>
                </a:extLst>
              </a:tr>
              <a:tr h="310810">
                <a:tc>
                  <a:txBody>
                    <a:bodyPr/>
                    <a:lstStyle/>
                    <a:p>
                      <a:pPr>
                        <a:buNone/>
                      </a:pPr>
                      <a:r>
                        <a:rPr lang="en-US" sz="900" b="1"/>
                        <a:t>Authentication</a:t>
                      </a:r>
                      <a:endParaRPr lang="en-US" sz="900"/>
                    </a:p>
                  </a:txBody>
                  <a:tcPr marL="44401" marR="44401" marT="22201" marB="22201" anchor="ctr">
                    <a:lnL>
                      <a:noFill/>
                    </a:lnL>
                    <a:lnR>
                      <a:noFill/>
                    </a:lnR>
                    <a:lnT>
                      <a:noFill/>
                    </a:lnT>
                    <a:lnB>
                      <a:noFill/>
                    </a:lnB>
                    <a:noFill/>
                  </a:tcPr>
                </a:tc>
                <a:tc>
                  <a:txBody>
                    <a:bodyPr/>
                    <a:lstStyle/>
                    <a:p>
                      <a:pPr>
                        <a:buNone/>
                      </a:pPr>
                      <a:r>
                        <a:rPr lang="en-US" sz="900"/>
                        <a:t>Secure device identity using cryptographic keys</a:t>
                      </a:r>
                    </a:p>
                  </a:txBody>
                  <a:tcPr marL="44401" marR="44401" marT="22201" marB="22201" anchor="ctr">
                    <a:lnL>
                      <a:noFill/>
                    </a:lnL>
                    <a:lnR>
                      <a:noFill/>
                    </a:lnR>
                    <a:lnT>
                      <a:noFill/>
                    </a:lnT>
                    <a:lnB>
                      <a:noFill/>
                    </a:lnB>
                    <a:noFill/>
                  </a:tcPr>
                </a:tc>
                <a:tc>
                  <a:txBody>
                    <a:bodyPr/>
                    <a:lstStyle/>
                    <a:p>
                      <a:pPr>
                        <a:buNone/>
                      </a:pPr>
                      <a:r>
                        <a:rPr lang="en-US" sz="900"/>
                        <a:t>Key management can be complex</a:t>
                      </a:r>
                    </a:p>
                  </a:txBody>
                  <a:tcPr marL="44401" marR="44401" marT="22201" marB="22201" anchor="ctr">
                    <a:lnL>
                      <a:noFill/>
                    </a:lnL>
                    <a:lnR>
                      <a:noFill/>
                    </a:lnR>
                    <a:lnT>
                      <a:noFill/>
                    </a:lnT>
                    <a:lnB>
                      <a:noFill/>
                    </a:lnB>
                    <a:noFill/>
                  </a:tcPr>
                </a:tc>
                <a:extLst>
                  <a:ext uri="{0D108BD9-81ED-4DB2-BD59-A6C34878D82A}">
                    <a16:rowId xmlns:a16="http://schemas.microsoft.com/office/drawing/2014/main" val="1941290358"/>
                  </a:ext>
                </a:extLst>
              </a:tr>
              <a:tr h="310810">
                <a:tc>
                  <a:txBody>
                    <a:bodyPr/>
                    <a:lstStyle/>
                    <a:p>
                      <a:pPr>
                        <a:buNone/>
                      </a:pPr>
                      <a:r>
                        <a:rPr lang="en-US" sz="900" b="1"/>
                        <a:t>Transparency</a:t>
                      </a:r>
                      <a:endParaRPr lang="en-US" sz="900"/>
                    </a:p>
                  </a:txBody>
                  <a:tcPr marL="44401" marR="44401" marT="22201" marB="22201" anchor="ctr">
                    <a:lnL>
                      <a:noFill/>
                    </a:lnL>
                    <a:lnR>
                      <a:noFill/>
                    </a:lnR>
                    <a:lnT>
                      <a:noFill/>
                    </a:lnT>
                    <a:lnB>
                      <a:noFill/>
                    </a:lnB>
                    <a:noFill/>
                  </a:tcPr>
                </a:tc>
                <a:tc>
                  <a:txBody>
                    <a:bodyPr/>
                    <a:lstStyle/>
                    <a:p>
                      <a:pPr>
                        <a:buNone/>
                      </a:pPr>
                      <a:r>
                        <a:rPr lang="en-US" sz="900"/>
                        <a:t>Transactions are traceable and verifiable</a:t>
                      </a:r>
                    </a:p>
                  </a:txBody>
                  <a:tcPr marL="44401" marR="44401" marT="22201" marB="22201" anchor="ctr">
                    <a:lnL>
                      <a:noFill/>
                    </a:lnL>
                    <a:lnR>
                      <a:noFill/>
                    </a:lnR>
                    <a:lnT>
                      <a:noFill/>
                    </a:lnT>
                    <a:lnB>
                      <a:noFill/>
                    </a:lnB>
                    <a:noFill/>
                  </a:tcPr>
                </a:tc>
                <a:tc>
                  <a:txBody>
                    <a:bodyPr/>
                    <a:lstStyle/>
                    <a:p>
                      <a:pPr>
                        <a:buNone/>
                      </a:pPr>
                      <a:r>
                        <a:rPr lang="en-US" sz="900"/>
                        <a:t>May expose sensitive data if not designed properly</a:t>
                      </a:r>
                    </a:p>
                  </a:txBody>
                  <a:tcPr marL="44401" marR="44401" marT="22201" marB="22201" anchor="ctr">
                    <a:lnL>
                      <a:noFill/>
                    </a:lnL>
                    <a:lnR>
                      <a:noFill/>
                    </a:lnR>
                    <a:lnT>
                      <a:noFill/>
                    </a:lnT>
                    <a:lnB>
                      <a:noFill/>
                    </a:lnB>
                    <a:noFill/>
                  </a:tcPr>
                </a:tc>
                <a:extLst>
                  <a:ext uri="{0D108BD9-81ED-4DB2-BD59-A6C34878D82A}">
                    <a16:rowId xmlns:a16="http://schemas.microsoft.com/office/drawing/2014/main" val="3859257784"/>
                  </a:ext>
                </a:extLst>
              </a:tr>
              <a:tr h="310810">
                <a:tc>
                  <a:txBody>
                    <a:bodyPr/>
                    <a:lstStyle/>
                    <a:p>
                      <a:pPr>
                        <a:buNone/>
                      </a:pPr>
                      <a:r>
                        <a:rPr lang="en-US" sz="900" b="1"/>
                        <a:t>Automation</a:t>
                      </a:r>
                      <a:endParaRPr lang="en-US" sz="900"/>
                    </a:p>
                  </a:txBody>
                  <a:tcPr marL="44401" marR="44401" marT="22201" marB="22201" anchor="ctr">
                    <a:lnL>
                      <a:noFill/>
                    </a:lnL>
                    <a:lnR>
                      <a:noFill/>
                    </a:lnR>
                    <a:lnT>
                      <a:noFill/>
                    </a:lnT>
                    <a:lnB>
                      <a:noFill/>
                    </a:lnB>
                    <a:noFill/>
                  </a:tcPr>
                </a:tc>
                <a:tc>
                  <a:txBody>
                    <a:bodyPr/>
                    <a:lstStyle/>
                    <a:p>
                      <a:pPr>
                        <a:buNone/>
                      </a:pPr>
                      <a:r>
                        <a:rPr lang="en-US" sz="900"/>
                        <a:t>Smart contracts enable automatic security &amp; control</a:t>
                      </a:r>
                    </a:p>
                  </a:txBody>
                  <a:tcPr marL="44401" marR="44401" marT="22201" marB="22201" anchor="ctr">
                    <a:lnL>
                      <a:noFill/>
                    </a:lnL>
                    <a:lnR>
                      <a:noFill/>
                    </a:lnR>
                    <a:lnT>
                      <a:noFill/>
                    </a:lnT>
                    <a:lnB>
                      <a:noFill/>
                    </a:lnB>
                    <a:noFill/>
                  </a:tcPr>
                </a:tc>
                <a:tc>
                  <a:txBody>
                    <a:bodyPr/>
                    <a:lstStyle/>
                    <a:p>
                      <a:pPr>
                        <a:buNone/>
                      </a:pPr>
                      <a:r>
                        <a:rPr lang="en-US" sz="900"/>
                        <a:t>Smart contract bugs can cause system failure</a:t>
                      </a:r>
                    </a:p>
                  </a:txBody>
                  <a:tcPr marL="44401" marR="44401" marT="22201" marB="22201" anchor="ctr">
                    <a:lnL>
                      <a:noFill/>
                    </a:lnL>
                    <a:lnR>
                      <a:noFill/>
                    </a:lnR>
                    <a:lnT>
                      <a:noFill/>
                    </a:lnT>
                    <a:lnB>
                      <a:noFill/>
                    </a:lnB>
                    <a:noFill/>
                  </a:tcPr>
                </a:tc>
                <a:extLst>
                  <a:ext uri="{0D108BD9-81ED-4DB2-BD59-A6C34878D82A}">
                    <a16:rowId xmlns:a16="http://schemas.microsoft.com/office/drawing/2014/main" val="182677111"/>
                  </a:ext>
                </a:extLst>
              </a:tr>
              <a:tr h="310810">
                <a:tc>
                  <a:txBody>
                    <a:bodyPr/>
                    <a:lstStyle/>
                    <a:p>
                      <a:pPr>
                        <a:buNone/>
                      </a:pPr>
                      <a:r>
                        <a:rPr lang="en-US" sz="900" b="1"/>
                        <a:t>DDoS Resistance</a:t>
                      </a:r>
                      <a:endParaRPr lang="en-US" sz="900"/>
                    </a:p>
                  </a:txBody>
                  <a:tcPr marL="44401" marR="44401" marT="22201" marB="22201" anchor="ctr">
                    <a:lnL>
                      <a:noFill/>
                    </a:lnL>
                    <a:lnR>
                      <a:noFill/>
                    </a:lnR>
                    <a:lnT>
                      <a:noFill/>
                    </a:lnT>
                    <a:lnB>
                      <a:noFill/>
                    </a:lnB>
                    <a:noFill/>
                  </a:tcPr>
                </a:tc>
                <a:tc>
                  <a:txBody>
                    <a:bodyPr/>
                    <a:lstStyle/>
                    <a:p>
                      <a:pPr>
                        <a:buNone/>
                      </a:pPr>
                      <a:r>
                        <a:rPr lang="en-US" sz="900"/>
                        <a:t>Distributed network reduces attack risk</a:t>
                      </a:r>
                    </a:p>
                  </a:txBody>
                  <a:tcPr marL="44401" marR="44401" marT="22201" marB="22201" anchor="ctr">
                    <a:lnL>
                      <a:noFill/>
                    </a:lnL>
                    <a:lnR>
                      <a:noFill/>
                    </a:lnR>
                    <a:lnT>
                      <a:noFill/>
                    </a:lnT>
                    <a:lnB>
                      <a:noFill/>
                    </a:lnB>
                    <a:noFill/>
                  </a:tcPr>
                </a:tc>
                <a:tc>
                  <a:txBody>
                    <a:bodyPr/>
                    <a:lstStyle/>
                    <a:p>
                      <a:pPr>
                        <a:buNone/>
                      </a:pPr>
                      <a:r>
                        <a:rPr lang="en-US" sz="900"/>
                        <a:t>Network still vulnerable at IoT endpoints</a:t>
                      </a:r>
                    </a:p>
                  </a:txBody>
                  <a:tcPr marL="44401" marR="44401" marT="22201" marB="22201" anchor="ctr">
                    <a:lnL>
                      <a:noFill/>
                    </a:lnL>
                    <a:lnR>
                      <a:noFill/>
                    </a:lnR>
                    <a:lnT>
                      <a:noFill/>
                    </a:lnT>
                    <a:lnB>
                      <a:noFill/>
                    </a:lnB>
                    <a:noFill/>
                  </a:tcPr>
                </a:tc>
                <a:extLst>
                  <a:ext uri="{0D108BD9-81ED-4DB2-BD59-A6C34878D82A}">
                    <a16:rowId xmlns:a16="http://schemas.microsoft.com/office/drawing/2014/main" val="1139171731"/>
                  </a:ext>
                </a:extLst>
              </a:tr>
              <a:tr h="310810">
                <a:tc>
                  <a:txBody>
                    <a:bodyPr/>
                    <a:lstStyle/>
                    <a:p>
                      <a:pPr>
                        <a:buNone/>
                      </a:pPr>
                      <a:r>
                        <a:rPr lang="en-US" sz="900" b="1"/>
                        <a:t>Trust</a:t>
                      </a:r>
                      <a:endParaRPr lang="en-US" sz="900"/>
                    </a:p>
                  </a:txBody>
                  <a:tcPr marL="44401" marR="44401" marT="22201" marB="22201" anchor="ctr">
                    <a:lnL>
                      <a:noFill/>
                    </a:lnL>
                    <a:lnR>
                      <a:noFill/>
                    </a:lnR>
                    <a:lnT>
                      <a:noFill/>
                    </a:lnT>
                    <a:lnB>
                      <a:noFill/>
                    </a:lnB>
                    <a:noFill/>
                  </a:tcPr>
                </a:tc>
                <a:tc>
                  <a:txBody>
                    <a:bodyPr/>
                    <a:lstStyle/>
                    <a:p>
                      <a:pPr>
                        <a:buNone/>
                      </a:pPr>
                      <a:r>
                        <a:rPr lang="en-US" sz="900"/>
                        <a:t>Trustless system (no middleman required)</a:t>
                      </a:r>
                    </a:p>
                  </a:txBody>
                  <a:tcPr marL="44401" marR="44401" marT="22201" marB="22201" anchor="ctr">
                    <a:lnL>
                      <a:noFill/>
                    </a:lnL>
                    <a:lnR>
                      <a:noFill/>
                    </a:lnR>
                    <a:lnT>
                      <a:noFill/>
                    </a:lnT>
                    <a:lnB>
                      <a:noFill/>
                    </a:lnB>
                    <a:noFill/>
                  </a:tcPr>
                </a:tc>
                <a:tc>
                  <a:txBody>
                    <a:bodyPr/>
                    <a:lstStyle/>
                    <a:p>
                      <a:pPr>
                        <a:buNone/>
                      </a:pPr>
                      <a:r>
                        <a:rPr lang="en-US" sz="900"/>
                        <a:t>Integration with legacy systems is difficult</a:t>
                      </a:r>
                    </a:p>
                  </a:txBody>
                  <a:tcPr marL="44401" marR="44401" marT="22201" marB="22201" anchor="ctr">
                    <a:lnL>
                      <a:noFill/>
                    </a:lnL>
                    <a:lnR>
                      <a:noFill/>
                    </a:lnR>
                    <a:lnT>
                      <a:noFill/>
                    </a:lnT>
                    <a:lnB>
                      <a:noFill/>
                    </a:lnB>
                    <a:noFill/>
                  </a:tcPr>
                </a:tc>
                <a:extLst>
                  <a:ext uri="{0D108BD9-81ED-4DB2-BD59-A6C34878D82A}">
                    <a16:rowId xmlns:a16="http://schemas.microsoft.com/office/drawing/2014/main" val="3310821590"/>
                  </a:ext>
                </a:extLst>
              </a:tr>
              <a:tr h="310810">
                <a:tc>
                  <a:txBody>
                    <a:bodyPr/>
                    <a:lstStyle/>
                    <a:p>
                      <a:pPr>
                        <a:buNone/>
                      </a:pPr>
                      <a:r>
                        <a:rPr lang="en-US" sz="900" b="1"/>
                        <a:t>Scalability</a:t>
                      </a:r>
                      <a:endParaRPr lang="en-US" sz="900"/>
                    </a:p>
                  </a:txBody>
                  <a:tcPr marL="44401" marR="44401" marT="22201" marB="22201" anchor="ctr">
                    <a:lnL>
                      <a:noFill/>
                    </a:lnL>
                    <a:lnR>
                      <a:noFill/>
                    </a:lnR>
                    <a:lnT>
                      <a:noFill/>
                    </a:lnT>
                    <a:lnB>
                      <a:noFill/>
                    </a:lnB>
                    <a:noFill/>
                  </a:tcPr>
                </a:tc>
                <a:tc>
                  <a:txBody>
                    <a:bodyPr/>
                    <a:lstStyle/>
                    <a:p>
                      <a:pPr>
                        <a:buNone/>
                      </a:pPr>
                      <a:r>
                        <a:rPr lang="en-US" sz="900"/>
                        <a:t>Secure communication across many devices</a:t>
                      </a:r>
                    </a:p>
                  </a:txBody>
                  <a:tcPr marL="44401" marR="44401" marT="22201" marB="22201" anchor="ctr">
                    <a:lnL>
                      <a:noFill/>
                    </a:lnL>
                    <a:lnR>
                      <a:noFill/>
                    </a:lnR>
                    <a:lnT>
                      <a:noFill/>
                    </a:lnT>
                    <a:lnB>
                      <a:noFill/>
                    </a:lnB>
                    <a:noFill/>
                  </a:tcPr>
                </a:tc>
                <a:tc>
                  <a:txBody>
                    <a:bodyPr/>
                    <a:lstStyle/>
                    <a:p>
                      <a:pPr>
                        <a:buNone/>
                      </a:pPr>
                      <a:r>
                        <a:rPr lang="en-US" sz="900"/>
                        <a:t>Performance slows with millions of IoT transactions</a:t>
                      </a:r>
                    </a:p>
                  </a:txBody>
                  <a:tcPr marL="44401" marR="44401" marT="22201" marB="22201" anchor="ctr">
                    <a:lnL>
                      <a:noFill/>
                    </a:lnL>
                    <a:lnR>
                      <a:noFill/>
                    </a:lnR>
                    <a:lnT>
                      <a:noFill/>
                    </a:lnT>
                    <a:lnB>
                      <a:noFill/>
                    </a:lnB>
                    <a:noFill/>
                  </a:tcPr>
                </a:tc>
                <a:extLst>
                  <a:ext uri="{0D108BD9-81ED-4DB2-BD59-A6C34878D82A}">
                    <a16:rowId xmlns:a16="http://schemas.microsoft.com/office/drawing/2014/main" val="85447291"/>
                  </a:ext>
                </a:extLst>
              </a:tr>
              <a:tr h="310810">
                <a:tc>
                  <a:txBody>
                    <a:bodyPr/>
                    <a:lstStyle/>
                    <a:p>
                      <a:pPr>
                        <a:buNone/>
                      </a:pPr>
                      <a:r>
                        <a:rPr lang="en-US" sz="900" b="1"/>
                        <a:t>Energy Usage</a:t>
                      </a:r>
                      <a:endParaRPr lang="en-US" sz="900"/>
                    </a:p>
                  </a:txBody>
                  <a:tcPr marL="44401" marR="44401" marT="22201" marB="22201" anchor="ctr">
                    <a:lnL>
                      <a:noFill/>
                    </a:lnL>
                    <a:lnR>
                      <a:noFill/>
                    </a:lnR>
                    <a:lnT>
                      <a:noFill/>
                    </a:lnT>
                    <a:lnB>
                      <a:noFill/>
                    </a:lnB>
                    <a:noFill/>
                  </a:tcPr>
                </a:tc>
                <a:tc>
                  <a:txBody>
                    <a:bodyPr/>
                    <a:lstStyle/>
                    <a:p>
                      <a:pPr>
                        <a:buNone/>
                      </a:pPr>
                      <a:r>
                        <a:rPr lang="en-US" sz="900"/>
                        <a:t>Some lightweight blockchains are efficient</a:t>
                      </a:r>
                    </a:p>
                  </a:txBody>
                  <a:tcPr marL="44401" marR="44401" marT="22201" marB="22201" anchor="ctr">
                    <a:lnL>
                      <a:noFill/>
                    </a:lnL>
                    <a:lnR>
                      <a:noFill/>
                    </a:lnR>
                    <a:lnT>
                      <a:noFill/>
                    </a:lnT>
                    <a:lnB>
                      <a:noFill/>
                    </a:lnB>
                    <a:noFill/>
                  </a:tcPr>
                </a:tc>
                <a:tc>
                  <a:txBody>
                    <a:bodyPr/>
                    <a:lstStyle/>
                    <a:p>
                      <a:pPr>
                        <a:buNone/>
                      </a:pPr>
                      <a:r>
                        <a:rPr lang="en-US" sz="900"/>
                        <a:t>Many blockchains consume high energy</a:t>
                      </a:r>
                    </a:p>
                  </a:txBody>
                  <a:tcPr marL="44401" marR="44401" marT="22201" marB="22201" anchor="ctr">
                    <a:lnL>
                      <a:noFill/>
                    </a:lnL>
                    <a:lnR>
                      <a:noFill/>
                    </a:lnR>
                    <a:lnT>
                      <a:noFill/>
                    </a:lnT>
                    <a:lnB>
                      <a:noFill/>
                    </a:lnB>
                    <a:noFill/>
                  </a:tcPr>
                </a:tc>
                <a:extLst>
                  <a:ext uri="{0D108BD9-81ED-4DB2-BD59-A6C34878D82A}">
                    <a16:rowId xmlns:a16="http://schemas.microsoft.com/office/drawing/2014/main" val="244215825"/>
                  </a:ext>
                </a:extLst>
              </a:tr>
              <a:tr h="310810">
                <a:tc>
                  <a:txBody>
                    <a:bodyPr/>
                    <a:lstStyle/>
                    <a:p>
                      <a:pPr>
                        <a:buNone/>
                      </a:pPr>
                      <a:r>
                        <a:rPr lang="en-US" sz="900" b="1"/>
                        <a:t>Cost</a:t>
                      </a:r>
                      <a:endParaRPr lang="en-US" sz="900"/>
                    </a:p>
                  </a:txBody>
                  <a:tcPr marL="44401" marR="44401" marT="22201" marB="22201" anchor="ctr">
                    <a:lnL>
                      <a:noFill/>
                    </a:lnL>
                    <a:lnR>
                      <a:noFill/>
                    </a:lnR>
                    <a:lnT>
                      <a:noFill/>
                    </a:lnT>
                    <a:lnB>
                      <a:noFill/>
                    </a:lnB>
                    <a:noFill/>
                  </a:tcPr>
                </a:tc>
                <a:tc>
                  <a:txBody>
                    <a:bodyPr/>
                    <a:lstStyle/>
                    <a:p>
                      <a:pPr>
                        <a:buNone/>
                      </a:pPr>
                      <a:r>
                        <a:rPr lang="en-US" sz="900"/>
                        <a:t>Reduces need for third-party security</a:t>
                      </a:r>
                    </a:p>
                  </a:txBody>
                  <a:tcPr marL="44401" marR="44401" marT="22201" marB="22201" anchor="ctr">
                    <a:lnL>
                      <a:noFill/>
                    </a:lnL>
                    <a:lnR>
                      <a:noFill/>
                    </a:lnR>
                    <a:lnT>
                      <a:noFill/>
                    </a:lnT>
                    <a:lnB>
                      <a:noFill/>
                    </a:lnB>
                    <a:noFill/>
                  </a:tcPr>
                </a:tc>
                <a:tc>
                  <a:txBody>
                    <a:bodyPr/>
                    <a:lstStyle/>
                    <a:p>
                      <a:pPr>
                        <a:buNone/>
                      </a:pPr>
                      <a:r>
                        <a:rPr lang="en-US" sz="900"/>
                        <a:t>High setup and implementation cost</a:t>
                      </a:r>
                    </a:p>
                  </a:txBody>
                  <a:tcPr marL="44401" marR="44401" marT="22201" marB="22201" anchor="ctr">
                    <a:lnL>
                      <a:noFill/>
                    </a:lnL>
                    <a:lnR>
                      <a:noFill/>
                    </a:lnR>
                    <a:lnT>
                      <a:noFill/>
                    </a:lnT>
                    <a:lnB>
                      <a:noFill/>
                    </a:lnB>
                    <a:noFill/>
                  </a:tcPr>
                </a:tc>
                <a:extLst>
                  <a:ext uri="{0D108BD9-81ED-4DB2-BD59-A6C34878D82A}">
                    <a16:rowId xmlns:a16="http://schemas.microsoft.com/office/drawing/2014/main" val="81093545"/>
                  </a:ext>
                </a:extLst>
              </a:tr>
              <a:tr h="310810">
                <a:tc>
                  <a:txBody>
                    <a:bodyPr/>
                    <a:lstStyle/>
                    <a:p>
                      <a:pPr>
                        <a:buNone/>
                      </a:pPr>
                      <a:r>
                        <a:rPr lang="en-US" sz="900" b="1"/>
                        <a:t>Latency</a:t>
                      </a:r>
                      <a:endParaRPr lang="en-US" sz="900"/>
                    </a:p>
                  </a:txBody>
                  <a:tcPr marL="44401" marR="44401" marT="22201" marB="22201" anchor="ctr">
                    <a:lnL>
                      <a:noFill/>
                    </a:lnL>
                    <a:lnR>
                      <a:noFill/>
                    </a:lnR>
                    <a:lnT>
                      <a:noFill/>
                    </a:lnT>
                    <a:lnB>
                      <a:noFill/>
                    </a:lnB>
                    <a:noFill/>
                  </a:tcPr>
                </a:tc>
                <a:tc>
                  <a:txBody>
                    <a:bodyPr/>
                    <a:lstStyle/>
                    <a:p>
                      <a:pPr>
                        <a:buNone/>
                      </a:pPr>
                      <a:r>
                        <a:rPr lang="en-US" sz="900"/>
                        <a:t>Secure verified transactions</a:t>
                      </a:r>
                    </a:p>
                  </a:txBody>
                  <a:tcPr marL="44401" marR="44401" marT="22201" marB="22201" anchor="ctr">
                    <a:lnL>
                      <a:noFill/>
                    </a:lnL>
                    <a:lnR>
                      <a:noFill/>
                    </a:lnR>
                    <a:lnT>
                      <a:noFill/>
                    </a:lnT>
                    <a:lnB>
                      <a:noFill/>
                    </a:lnB>
                    <a:noFill/>
                  </a:tcPr>
                </a:tc>
                <a:tc>
                  <a:txBody>
                    <a:bodyPr/>
                    <a:lstStyle/>
                    <a:p>
                      <a:pPr>
                        <a:buNone/>
                      </a:pPr>
                      <a:r>
                        <a:rPr lang="en-US" sz="900"/>
                        <a:t>Transaction delay not ideal for real-time IoT</a:t>
                      </a:r>
                    </a:p>
                  </a:txBody>
                  <a:tcPr marL="44401" marR="44401" marT="22201" marB="22201" anchor="ctr">
                    <a:lnL>
                      <a:noFill/>
                    </a:lnL>
                    <a:lnR>
                      <a:noFill/>
                    </a:lnR>
                    <a:lnT>
                      <a:noFill/>
                    </a:lnT>
                    <a:lnB>
                      <a:noFill/>
                    </a:lnB>
                    <a:noFill/>
                  </a:tcPr>
                </a:tc>
                <a:extLst>
                  <a:ext uri="{0D108BD9-81ED-4DB2-BD59-A6C34878D82A}">
                    <a16:rowId xmlns:a16="http://schemas.microsoft.com/office/drawing/2014/main" val="3520175922"/>
                  </a:ext>
                </a:extLst>
              </a:tr>
              <a:tr h="310810">
                <a:tc>
                  <a:txBody>
                    <a:bodyPr/>
                    <a:lstStyle/>
                    <a:p>
                      <a:pPr>
                        <a:buNone/>
                      </a:pPr>
                      <a:r>
                        <a:rPr lang="en-US" sz="900" b="1"/>
                        <a:t>Storage</a:t>
                      </a:r>
                      <a:endParaRPr lang="en-US" sz="900"/>
                    </a:p>
                  </a:txBody>
                  <a:tcPr marL="44401" marR="44401" marT="22201" marB="22201" anchor="ctr">
                    <a:lnL>
                      <a:noFill/>
                    </a:lnL>
                    <a:lnR>
                      <a:noFill/>
                    </a:lnR>
                    <a:lnT>
                      <a:noFill/>
                    </a:lnT>
                    <a:lnB>
                      <a:noFill/>
                    </a:lnB>
                    <a:noFill/>
                  </a:tcPr>
                </a:tc>
                <a:tc>
                  <a:txBody>
                    <a:bodyPr/>
                    <a:lstStyle/>
                    <a:p>
                      <a:pPr>
                        <a:buNone/>
                      </a:pPr>
                      <a:r>
                        <a:rPr lang="en-US" sz="900"/>
                        <a:t>Distributed and reliable data storage</a:t>
                      </a:r>
                    </a:p>
                  </a:txBody>
                  <a:tcPr marL="44401" marR="44401" marT="22201" marB="22201" anchor="ctr">
                    <a:lnL>
                      <a:noFill/>
                    </a:lnL>
                    <a:lnR>
                      <a:noFill/>
                    </a:lnR>
                    <a:lnT>
                      <a:noFill/>
                    </a:lnT>
                    <a:lnB>
                      <a:noFill/>
                    </a:lnB>
                    <a:noFill/>
                  </a:tcPr>
                </a:tc>
                <a:tc>
                  <a:txBody>
                    <a:bodyPr/>
                    <a:lstStyle/>
                    <a:p>
                      <a:pPr>
                        <a:buNone/>
                      </a:pPr>
                      <a:r>
                        <a:rPr lang="en-US" sz="900" dirty="0"/>
                        <a:t>IoT devices may lack storage capacity</a:t>
                      </a:r>
                    </a:p>
                  </a:txBody>
                  <a:tcPr marL="44401" marR="44401" marT="22201" marB="22201" anchor="ctr">
                    <a:lnL>
                      <a:noFill/>
                    </a:lnL>
                    <a:lnR>
                      <a:noFill/>
                    </a:lnR>
                    <a:lnT>
                      <a:noFill/>
                    </a:lnT>
                    <a:lnB>
                      <a:noFill/>
                    </a:lnB>
                    <a:noFill/>
                  </a:tcPr>
                </a:tc>
                <a:extLst>
                  <a:ext uri="{0D108BD9-81ED-4DB2-BD59-A6C34878D82A}">
                    <a16:rowId xmlns:a16="http://schemas.microsoft.com/office/drawing/2014/main" val="2330276896"/>
                  </a:ext>
                </a:extLst>
              </a:tr>
            </a:tbl>
          </a:graphicData>
        </a:graphic>
      </p:graphicFrame>
    </p:spTree>
    <p:extLst>
      <p:ext uri="{BB962C8B-B14F-4D97-AF65-F5344CB8AC3E}">
        <p14:creationId xmlns:p14="http://schemas.microsoft.com/office/powerpoint/2010/main" val="1138472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1CBD5-89AF-6266-5DF6-565F2845091B}"/>
              </a:ext>
            </a:extLst>
          </p:cNvPr>
          <p:cNvSpPr>
            <a:spLocks noGrp="1"/>
          </p:cNvSpPr>
          <p:nvPr>
            <p:ph type="title"/>
          </p:nvPr>
        </p:nvSpPr>
        <p:spPr/>
        <p:txBody>
          <a:bodyPr/>
          <a:lstStyle/>
          <a:p>
            <a:r>
              <a:rPr lang="en-US" dirty="0"/>
              <a:t>Optimum Secure IoT Model</a:t>
            </a:r>
          </a:p>
        </p:txBody>
      </p:sp>
      <p:sp>
        <p:nvSpPr>
          <p:cNvPr id="3" name="Content Placeholder 2">
            <a:extLst>
              <a:ext uri="{FF2B5EF4-FFF2-40B4-BE49-F238E27FC236}">
                <a16:creationId xmlns:a16="http://schemas.microsoft.com/office/drawing/2014/main" id="{DF45639B-359D-4774-7262-9662818FD5C2}"/>
              </a:ext>
            </a:extLst>
          </p:cNvPr>
          <p:cNvSpPr>
            <a:spLocks noGrp="1"/>
          </p:cNvSpPr>
          <p:nvPr>
            <p:ph idx="1"/>
          </p:nvPr>
        </p:nvSpPr>
        <p:spPr/>
        <p:txBody>
          <a:bodyPr/>
          <a:lstStyle/>
          <a:p>
            <a:r>
              <a:rPr lang="en-US" dirty="0"/>
              <a:t>For us to achieve that optimal secure model of IoT, security needs to be built in as the foundation of IoT ecosystem, with rigorous validity checks, authentication, data verification, and all the data need to be encrypted at all levels, without a solid bottom-top structure, and we will create more threats with every device added to the IoT. </a:t>
            </a:r>
          </a:p>
          <a:p>
            <a:r>
              <a:rPr lang="en-US" dirty="0"/>
              <a:t>What we need is a secure and safe IoT with privacy protected. That is a tough trade-off, but possible with Blockchain technology if we can overcome its drawbacks. </a:t>
            </a:r>
          </a:p>
        </p:txBody>
      </p:sp>
    </p:spTree>
    <p:extLst>
      <p:ext uri="{BB962C8B-B14F-4D97-AF65-F5344CB8AC3E}">
        <p14:creationId xmlns:p14="http://schemas.microsoft.com/office/powerpoint/2010/main" val="4125532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E894-AC0E-4A8E-8A2C-64298F7CA6EB}"/>
              </a:ext>
            </a:extLst>
          </p:cNvPr>
          <p:cNvSpPr>
            <a:spLocks noGrp="1"/>
          </p:cNvSpPr>
          <p:nvPr>
            <p:ph type="title"/>
          </p:nvPr>
        </p:nvSpPr>
        <p:spPr/>
        <p:txBody>
          <a:bodyPr/>
          <a:lstStyle/>
          <a:p>
            <a:r>
              <a:rPr lang="en-US" dirty="0"/>
              <a:t>IoT, AI, and Blockchain: Catalysts for Digital Transformation</a:t>
            </a:r>
          </a:p>
        </p:txBody>
      </p:sp>
      <p:sp>
        <p:nvSpPr>
          <p:cNvPr id="3" name="Content Placeholder 2">
            <a:extLst>
              <a:ext uri="{FF2B5EF4-FFF2-40B4-BE49-F238E27FC236}">
                <a16:creationId xmlns:a16="http://schemas.microsoft.com/office/drawing/2014/main" id="{141423F6-CBA1-7FD5-7B53-AD7F709D752A}"/>
              </a:ext>
            </a:extLst>
          </p:cNvPr>
          <p:cNvSpPr>
            <a:spLocks noGrp="1"/>
          </p:cNvSpPr>
          <p:nvPr>
            <p:ph idx="1"/>
          </p:nvPr>
        </p:nvSpPr>
        <p:spPr/>
        <p:txBody>
          <a:bodyPr/>
          <a:lstStyle/>
          <a:p>
            <a:pPr marL="0" indent="0">
              <a:buNone/>
            </a:pPr>
            <a:r>
              <a:rPr lang="en-US" b="1" dirty="0"/>
              <a:t>What is Digital Transformation?</a:t>
            </a:r>
          </a:p>
          <a:p>
            <a:r>
              <a:rPr lang="en-US" dirty="0"/>
              <a:t>Digital transformation means using modern technologies to </a:t>
            </a:r>
            <a:r>
              <a:rPr lang="en-US" b="1" dirty="0"/>
              <a:t>improve business, automation, efficiency, and decision-making</a:t>
            </a:r>
            <a:r>
              <a:rPr lang="en-US" dirty="0"/>
              <a:t>.</a:t>
            </a:r>
          </a:p>
          <a:p>
            <a:pPr marL="0" indent="0">
              <a:buNone/>
            </a:pPr>
            <a:r>
              <a:rPr lang="en-US" b="1" dirty="0"/>
              <a:t>IoT + AI + Blockchain together = Smart, Secure, Automated Systems</a:t>
            </a:r>
            <a:endParaRPr lang="en-US" dirty="0"/>
          </a:p>
          <a:p>
            <a:endParaRPr lang="en-US" dirty="0"/>
          </a:p>
        </p:txBody>
      </p:sp>
    </p:spTree>
    <p:extLst>
      <p:ext uri="{BB962C8B-B14F-4D97-AF65-F5344CB8AC3E}">
        <p14:creationId xmlns:p14="http://schemas.microsoft.com/office/powerpoint/2010/main" val="3190543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6345D-5AFC-488E-3F16-239B64D39A9A}"/>
              </a:ext>
            </a:extLst>
          </p:cNvPr>
          <p:cNvSpPr>
            <a:spLocks noGrp="1"/>
          </p:cNvSpPr>
          <p:nvPr>
            <p:ph type="title"/>
          </p:nvPr>
        </p:nvSpPr>
        <p:spPr/>
        <p:txBody>
          <a:bodyPr/>
          <a:lstStyle/>
          <a:p>
            <a:r>
              <a:rPr lang="en-US" dirty="0"/>
              <a:t>1. </a:t>
            </a:r>
            <a:r>
              <a:rPr lang="en-US" b="1" dirty="0"/>
              <a:t>IoT (Internet of Things) – </a:t>
            </a:r>
            <a:r>
              <a:rPr lang="en-US" b="1" i="1" dirty="0"/>
              <a:t>Data Collector</a:t>
            </a:r>
            <a:endParaRPr lang="en-US" dirty="0"/>
          </a:p>
        </p:txBody>
      </p:sp>
      <p:sp>
        <p:nvSpPr>
          <p:cNvPr id="3" name="Content Placeholder 2">
            <a:extLst>
              <a:ext uri="{FF2B5EF4-FFF2-40B4-BE49-F238E27FC236}">
                <a16:creationId xmlns:a16="http://schemas.microsoft.com/office/drawing/2014/main" id="{D4C18B03-863A-B940-CFFE-C0FB9A7C4951}"/>
              </a:ext>
            </a:extLst>
          </p:cNvPr>
          <p:cNvSpPr>
            <a:spLocks noGrp="1"/>
          </p:cNvSpPr>
          <p:nvPr>
            <p:ph idx="1"/>
          </p:nvPr>
        </p:nvSpPr>
        <p:spPr/>
        <p:txBody>
          <a:bodyPr/>
          <a:lstStyle/>
          <a:p>
            <a:r>
              <a:rPr lang="en-US" dirty="0"/>
              <a:t>Connects smart devices (sensors, machines, cars, wearables)</a:t>
            </a:r>
          </a:p>
          <a:p>
            <a:r>
              <a:rPr lang="en-US" dirty="0"/>
              <a:t>Collects </a:t>
            </a:r>
            <a:r>
              <a:rPr lang="en-US" b="1" dirty="0"/>
              <a:t>real-time data</a:t>
            </a:r>
            <a:r>
              <a:rPr lang="en-US" dirty="0"/>
              <a:t> from physical world</a:t>
            </a:r>
          </a:p>
          <a:p>
            <a:r>
              <a:rPr lang="en-US" dirty="0"/>
              <a:t>Enables monitoring, automation, and remote control</a:t>
            </a:r>
          </a:p>
          <a:p>
            <a:pPr marL="0" indent="0">
              <a:buNone/>
            </a:pPr>
            <a:r>
              <a:rPr lang="en-US" b="1" dirty="0"/>
              <a:t>Example:</a:t>
            </a:r>
            <a:r>
              <a:rPr lang="en-US" dirty="0"/>
              <a:t> Smart home sensors measuring temperature, motion, energy use</a:t>
            </a:r>
          </a:p>
          <a:p>
            <a:endParaRPr lang="en-US" dirty="0"/>
          </a:p>
        </p:txBody>
      </p:sp>
    </p:spTree>
    <p:extLst>
      <p:ext uri="{BB962C8B-B14F-4D97-AF65-F5344CB8AC3E}">
        <p14:creationId xmlns:p14="http://schemas.microsoft.com/office/powerpoint/2010/main" val="1826256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72EC-F3C6-B58F-1BC8-D8F500E6B7FE}"/>
              </a:ext>
            </a:extLst>
          </p:cNvPr>
          <p:cNvSpPr>
            <a:spLocks noGrp="1"/>
          </p:cNvSpPr>
          <p:nvPr>
            <p:ph type="title"/>
          </p:nvPr>
        </p:nvSpPr>
        <p:spPr/>
        <p:txBody>
          <a:bodyPr>
            <a:normAutofit/>
          </a:bodyPr>
          <a:lstStyle/>
          <a:p>
            <a:r>
              <a:rPr lang="en-US" b="1" dirty="0"/>
              <a:t>2. AI (Artificial Intelligence) – </a:t>
            </a:r>
            <a:r>
              <a:rPr lang="en-US" b="1" i="1" dirty="0"/>
              <a:t>Brain / Decision Maker</a:t>
            </a:r>
            <a:endParaRPr lang="en-US" dirty="0"/>
          </a:p>
        </p:txBody>
      </p:sp>
      <p:sp>
        <p:nvSpPr>
          <p:cNvPr id="3" name="Content Placeholder 2">
            <a:extLst>
              <a:ext uri="{FF2B5EF4-FFF2-40B4-BE49-F238E27FC236}">
                <a16:creationId xmlns:a16="http://schemas.microsoft.com/office/drawing/2014/main" id="{8DC0AEC9-62E5-B5F9-B43A-54AE4E07F17A}"/>
              </a:ext>
            </a:extLst>
          </p:cNvPr>
          <p:cNvSpPr>
            <a:spLocks noGrp="1"/>
          </p:cNvSpPr>
          <p:nvPr>
            <p:ph idx="1"/>
          </p:nvPr>
        </p:nvSpPr>
        <p:spPr/>
        <p:txBody>
          <a:bodyPr/>
          <a:lstStyle/>
          <a:p>
            <a:r>
              <a:rPr lang="en-US" dirty="0"/>
              <a:t>Analyzes IoT data intelligently</a:t>
            </a:r>
          </a:p>
          <a:p>
            <a:r>
              <a:rPr lang="en-US" dirty="0"/>
              <a:t>Finds patterns, predicts problems, automates decisions</a:t>
            </a:r>
          </a:p>
          <a:p>
            <a:r>
              <a:rPr lang="en-US" dirty="0"/>
              <a:t>Enables smart automation and optimization</a:t>
            </a:r>
          </a:p>
          <a:p>
            <a:pPr marL="0" indent="0">
              <a:buNone/>
            </a:pPr>
            <a:r>
              <a:rPr lang="en-US" b="1" dirty="0"/>
              <a:t>Example:</a:t>
            </a:r>
            <a:r>
              <a:rPr lang="en-US" dirty="0"/>
              <a:t> AI predicts machine failure before it happens (predictive maintenance)</a:t>
            </a:r>
          </a:p>
          <a:p>
            <a:endParaRPr lang="en-US" dirty="0"/>
          </a:p>
        </p:txBody>
      </p:sp>
    </p:spTree>
    <p:extLst>
      <p:ext uri="{BB962C8B-B14F-4D97-AF65-F5344CB8AC3E}">
        <p14:creationId xmlns:p14="http://schemas.microsoft.com/office/powerpoint/2010/main" val="36782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AA23-DB71-ABE4-F9C6-71DDAAE1ACEE}"/>
              </a:ext>
            </a:extLst>
          </p:cNvPr>
          <p:cNvSpPr>
            <a:spLocks noGrp="1"/>
          </p:cNvSpPr>
          <p:nvPr>
            <p:ph type="title"/>
          </p:nvPr>
        </p:nvSpPr>
        <p:spPr/>
        <p:txBody>
          <a:bodyPr/>
          <a:lstStyle/>
          <a:p>
            <a:r>
              <a:rPr lang="en-US" b="1" dirty="0"/>
              <a:t>3. Blockchain – </a:t>
            </a:r>
            <a:r>
              <a:rPr lang="en-US" b="1" i="1" dirty="0"/>
              <a:t>Security &amp; Trust Layer</a:t>
            </a:r>
            <a:endParaRPr lang="en-US" dirty="0"/>
          </a:p>
        </p:txBody>
      </p:sp>
      <p:sp>
        <p:nvSpPr>
          <p:cNvPr id="3" name="Content Placeholder 2">
            <a:extLst>
              <a:ext uri="{FF2B5EF4-FFF2-40B4-BE49-F238E27FC236}">
                <a16:creationId xmlns:a16="http://schemas.microsoft.com/office/drawing/2014/main" id="{8F9248FD-D8B4-9AA9-5A7F-843FB6E81E91}"/>
              </a:ext>
            </a:extLst>
          </p:cNvPr>
          <p:cNvSpPr>
            <a:spLocks noGrp="1"/>
          </p:cNvSpPr>
          <p:nvPr>
            <p:ph idx="1"/>
          </p:nvPr>
        </p:nvSpPr>
        <p:spPr/>
        <p:txBody>
          <a:bodyPr/>
          <a:lstStyle/>
          <a:p>
            <a:r>
              <a:rPr lang="en-US" dirty="0"/>
              <a:t>Secures IoT data using cryptography</a:t>
            </a:r>
          </a:p>
          <a:p>
            <a:r>
              <a:rPr lang="en-US" dirty="0"/>
              <a:t>Provides tamper-proof, transparent, decentralized records</a:t>
            </a:r>
          </a:p>
          <a:p>
            <a:r>
              <a:rPr lang="en-US" dirty="0"/>
              <a:t>Enables trusted device communication and automation via smart contracts</a:t>
            </a:r>
          </a:p>
          <a:p>
            <a:pPr marL="0" indent="0">
              <a:buNone/>
            </a:pPr>
            <a:r>
              <a:rPr lang="en-US" b="1" dirty="0"/>
              <a:t>Example:</a:t>
            </a:r>
            <a:r>
              <a:rPr lang="en-US" dirty="0"/>
              <a:t> Secure sharing of medical IoT data without data manipulation</a:t>
            </a:r>
          </a:p>
          <a:p>
            <a:endParaRPr lang="en-US" dirty="0"/>
          </a:p>
        </p:txBody>
      </p:sp>
    </p:spTree>
    <p:extLst>
      <p:ext uri="{BB962C8B-B14F-4D97-AF65-F5344CB8AC3E}">
        <p14:creationId xmlns:p14="http://schemas.microsoft.com/office/powerpoint/2010/main" val="1578162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D4D45-E417-5C46-4E1B-E06EFB794FFA}"/>
              </a:ext>
            </a:extLst>
          </p:cNvPr>
          <p:cNvSpPr>
            <a:spLocks noGrp="1"/>
          </p:cNvSpPr>
          <p:nvPr>
            <p:ph type="title"/>
          </p:nvPr>
        </p:nvSpPr>
        <p:spPr/>
        <p:txBody>
          <a:bodyPr/>
          <a:lstStyle/>
          <a:p>
            <a:r>
              <a:rPr lang="en-US" dirty="0"/>
              <a:t>How They Work Together (Simple Flow)</a:t>
            </a:r>
          </a:p>
        </p:txBody>
      </p:sp>
      <p:pic>
        <p:nvPicPr>
          <p:cNvPr id="5" name="Content Placeholder 4">
            <a:extLst>
              <a:ext uri="{FF2B5EF4-FFF2-40B4-BE49-F238E27FC236}">
                <a16:creationId xmlns:a16="http://schemas.microsoft.com/office/drawing/2014/main" id="{3458ED20-CDBC-0D30-0968-F923E6A23161}"/>
              </a:ext>
            </a:extLst>
          </p:cNvPr>
          <p:cNvPicPr>
            <a:picLocks noGrp="1" noChangeAspect="1"/>
          </p:cNvPicPr>
          <p:nvPr>
            <p:ph idx="1"/>
          </p:nvPr>
        </p:nvPicPr>
        <p:blipFill>
          <a:blip r:embed="rId2"/>
          <a:stretch>
            <a:fillRect/>
          </a:stretch>
        </p:blipFill>
        <p:spPr>
          <a:xfrm>
            <a:off x="1290320" y="3606006"/>
            <a:ext cx="9113520" cy="1707674"/>
          </a:xfrm>
          <a:prstGeom prst="rect">
            <a:avLst/>
          </a:prstGeom>
        </p:spPr>
      </p:pic>
    </p:spTree>
    <p:extLst>
      <p:ext uri="{BB962C8B-B14F-4D97-AF65-F5344CB8AC3E}">
        <p14:creationId xmlns:p14="http://schemas.microsoft.com/office/powerpoint/2010/main" val="1896342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E290C-86CF-95D7-C1EA-03B32A48CD9F}"/>
              </a:ext>
            </a:extLst>
          </p:cNvPr>
          <p:cNvSpPr>
            <a:spLocks noGrp="1"/>
          </p:cNvSpPr>
          <p:nvPr>
            <p:ph type="title"/>
          </p:nvPr>
        </p:nvSpPr>
        <p:spPr/>
        <p:txBody>
          <a:bodyPr/>
          <a:lstStyle/>
          <a:p>
            <a:r>
              <a:rPr lang="en-US" dirty="0"/>
              <a:t>Real-World Use Cases</a:t>
            </a:r>
          </a:p>
        </p:txBody>
      </p:sp>
      <p:pic>
        <p:nvPicPr>
          <p:cNvPr id="5" name="Content Placeholder 4">
            <a:extLst>
              <a:ext uri="{FF2B5EF4-FFF2-40B4-BE49-F238E27FC236}">
                <a16:creationId xmlns:a16="http://schemas.microsoft.com/office/drawing/2014/main" id="{B8209160-686D-2417-3261-010B115A2018}"/>
              </a:ext>
            </a:extLst>
          </p:cNvPr>
          <p:cNvPicPr>
            <a:picLocks noGrp="1" noChangeAspect="1"/>
          </p:cNvPicPr>
          <p:nvPr>
            <p:ph idx="1"/>
          </p:nvPr>
        </p:nvPicPr>
        <p:blipFill>
          <a:blip r:embed="rId2"/>
          <a:stretch>
            <a:fillRect/>
          </a:stretch>
        </p:blipFill>
        <p:spPr>
          <a:xfrm>
            <a:off x="914400" y="2214696"/>
            <a:ext cx="8555525" cy="3344132"/>
          </a:xfrm>
          <a:prstGeom prst="rect">
            <a:avLst/>
          </a:prstGeom>
        </p:spPr>
      </p:pic>
    </p:spTree>
    <p:extLst>
      <p:ext uri="{BB962C8B-B14F-4D97-AF65-F5344CB8AC3E}">
        <p14:creationId xmlns:p14="http://schemas.microsoft.com/office/powerpoint/2010/main" val="829259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A86B-593F-53F3-7A63-64D5177CDAC6}"/>
              </a:ext>
            </a:extLst>
          </p:cNvPr>
          <p:cNvSpPr>
            <a:spLocks noGrp="1"/>
          </p:cNvSpPr>
          <p:nvPr>
            <p:ph type="title"/>
          </p:nvPr>
        </p:nvSpPr>
        <p:spPr/>
        <p:txBody>
          <a:bodyPr/>
          <a:lstStyle/>
          <a:p>
            <a:r>
              <a:rPr lang="en-US" dirty="0"/>
              <a:t>Key Benefits for Digital Transformation</a:t>
            </a:r>
          </a:p>
        </p:txBody>
      </p:sp>
      <p:sp>
        <p:nvSpPr>
          <p:cNvPr id="3" name="Content Placeholder 2">
            <a:extLst>
              <a:ext uri="{FF2B5EF4-FFF2-40B4-BE49-F238E27FC236}">
                <a16:creationId xmlns:a16="http://schemas.microsoft.com/office/drawing/2014/main" id="{6600AC01-F08B-8948-1AF2-F84168DD2734}"/>
              </a:ext>
            </a:extLst>
          </p:cNvPr>
          <p:cNvSpPr>
            <a:spLocks noGrp="1"/>
          </p:cNvSpPr>
          <p:nvPr>
            <p:ph idx="1"/>
          </p:nvPr>
        </p:nvSpPr>
        <p:spPr/>
        <p:txBody>
          <a:bodyPr/>
          <a:lstStyle/>
          <a:p>
            <a:r>
              <a:rPr lang="en-US" dirty="0"/>
              <a:t>Automation of manual processes</a:t>
            </a:r>
          </a:p>
          <a:p>
            <a:r>
              <a:rPr lang="en-US" dirty="0"/>
              <a:t>Real-time intelligent decision making</a:t>
            </a:r>
          </a:p>
          <a:p>
            <a:r>
              <a:rPr lang="en-US" dirty="0"/>
              <a:t>Strong security and data integrity</a:t>
            </a:r>
          </a:p>
          <a:p>
            <a:r>
              <a:rPr lang="en-US" dirty="0"/>
              <a:t>Transparency and trust in systems</a:t>
            </a:r>
          </a:p>
          <a:p>
            <a:r>
              <a:rPr lang="en-US" dirty="0"/>
              <a:t>Cost reduction &amp; efficiency improvement</a:t>
            </a:r>
          </a:p>
          <a:p>
            <a:r>
              <a:rPr lang="en-US" dirty="0"/>
              <a:t>Predictive and proactive operations</a:t>
            </a:r>
          </a:p>
          <a:p>
            <a:r>
              <a:rPr lang="en-US" dirty="0"/>
              <a:t>Decentralized and tamper-proof systems</a:t>
            </a:r>
          </a:p>
          <a:p>
            <a:endParaRPr lang="en-US" dirty="0"/>
          </a:p>
        </p:txBody>
      </p:sp>
    </p:spTree>
    <p:extLst>
      <p:ext uri="{BB962C8B-B14F-4D97-AF65-F5344CB8AC3E}">
        <p14:creationId xmlns:p14="http://schemas.microsoft.com/office/powerpoint/2010/main" val="962850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5281-8C75-2B44-0FA3-3396D89A334A}"/>
              </a:ext>
            </a:extLst>
          </p:cNvPr>
          <p:cNvSpPr>
            <a:spLocks noGrp="1"/>
          </p:cNvSpPr>
          <p:nvPr>
            <p:ph type="title"/>
          </p:nvPr>
        </p:nvSpPr>
        <p:spPr/>
        <p:txBody>
          <a:bodyPr/>
          <a:lstStyle/>
          <a:p>
            <a:r>
              <a:rPr lang="en-US" dirty="0"/>
              <a:t>Challenges</a:t>
            </a:r>
          </a:p>
        </p:txBody>
      </p:sp>
      <p:sp>
        <p:nvSpPr>
          <p:cNvPr id="4" name="Rectangle 1">
            <a:extLst>
              <a:ext uri="{FF2B5EF4-FFF2-40B4-BE49-F238E27FC236}">
                <a16:creationId xmlns:a16="http://schemas.microsoft.com/office/drawing/2014/main" id="{E6229C15-B78D-F668-9259-5E704700960F}"/>
              </a:ext>
            </a:extLst>
          </p:cNvPr>
          <p:cNvSpPr>
            <a:spLocks noGrp="1" noChangeArrowheads="1"/>
          </p:cNvSpPr>
          <p:nvPr>
            <p:ph idx="1"/>
          </p:nvPr>
        </p:nvSpPr>
        <p:spPr bwMode="auto">
          <a:xfrm>
            <a:off x="946842" y="2063097"/>
            <a:ext cx="911155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Integration complexity (IoT + AI + Blockchain)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High infrastructure and implementation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Scalability and processing delay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Data privacy and regulatory concerns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Energy and resource requirements</a:t>
            </a:r>
          </a:p>
        </p:txBody>
      </p:sp>
    </p:spTree>
    <p:extLst>
      <p:ext uri="{BB962C8B-B14F-4D97-AF65-F5344CB8AC3E}">
        <p14:creationId xmlns:p14="http://schemas.microsoft.com/office/powerpoint/2010/main" val="1820796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5614-BB1D-D0AF-7DFA-0989CC742834}"/>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6E7108FD-115E-E06B-E69F-0DD1EE78B590}"/>
              </a:ext>
            </a:extLst>
          </p:cNvPr>
          <p:cNvSpPr>
            <a:spLocks noGrp="1"/>
          </p:cNvSpPr>
          <p:nvPr>
            <p:ph idx="1"/>
          </p:nvPr>
        </p:nvSpPr>
        <p:spPr/>
        <p:txBody>
          <a:bodyPr/>
          <a:lstStyle/>
          <a:p>
            <a:r>
              <a:rPr lang="en-US" dirty="0"/>
              <a:t>IoT, AI, and Blockchain together drive digital transformation by creating smart, automated, and secure systems. </a:t>
            </a:r>
          </a:p>
          <a:p>
            <a:r>
              <a:rPr lang="en-US" dirty="0"/>
              <a:t>IoT collects real-time data, AI analyzes and makes intelligent decisions, while Blockchain ensures data security, transparency, and trust. </a:t>
            </a:r>
          </a:p>
          <a:p>
            <a:r>
              <a:rPr lang="en-US" dirty="0"/>
              <a:t>This combination improves efficiency, reduces costs, enables predictive operations, and supports decentralized automation across industries like healthcare, smart cities, and industry 4.0.</a:t>
            </a:r>
          </a:p>
          <a:p>
            <a:r>
              <a:rPr lang="en-US" dirty="0"/>
              <a:t>Despite challenges like scalability and cost, these technologies are key enablers of future digital ecosystems.</a:t>
            </a:r>
          </a:p>
        </p:txBody>
      </p:sp>
    </p:spTree>
    <p:extLst>
      <p:ext uri="{BB962C8B-B14F-4D97-AF65-F5344CB8AC3E}">
        <p14:creationId xmlns:p14="http://schemas.microsoft.com/office/powerpoint/2010/main" val="4022172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C0727-69EF-1669-45BD-D719693427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44319E-6AB9-E9C4-A53C-A11E9CFAAFCF}"/>
              </a:ext>
            </a:extLst>
          </p:cNvPr>
          <p:cNvSpPr>
            <a:spLocks noGrp="1"/>
          </p:cNvSpPr>
          <p:nvPr>
            <p:ph idx="1"/>
          </p:nvPr>
        </p:nvSpPr>
        <p:spPr/>
        <p:txBody>
          <a:bodyPr/>
          <a:lstStyle/>
          <a:p>
            <a:r>
              <a:rPr lang="en-US" dirty="0"/>
              <a:t>The building blocks of digital transformation are mindset, people</a:t>
            </a:r>
            <a:r>
              <a:rPr lang="en-US"/>
              <a:t>, process </a:t>
            </a:r>
            <a:r>
              <a:rPr lang="en-US" dirty="0"/>
              <a:t>and tools. IoT covers all the blocks since IoT does not just connect devices, it connects people too. </a:t>
            </a:r>
          </a:p>
          <a:p>
            <a:r>
              <a:rPr lang="en-US" dirty="0"/>
              <a:t>Blockchain will ensure end-to-end security, and by using AI, you will move IoT beyond connections to intelligence. </a:t>
            </a:r>
          </a:p>
          <a:p>
            <a:r>
              <a:rPr lang="en-US" dirty="0"/>
              <a:t>One important step is to team up with the best partners and invest in education, training and certifying your teams. </a:t>
            </a:r>
          </a:p>
          <a:p>
            <a:r>
              <a:rPr lang="en-US" dirty="0"/>
              <a:t>This magical mix of IoT, AI, and Blockchain will help make transformation digital and easy.</a:t>
            </a:r>
          </a:p>
        </p:txBody>
      </p:sp>
    </p:spTree>
    <p:extLst>
      <p:ext uri="{BB962C8B-B14F-4D97-AF65-F5344CB8AC3E}">
        <p14:creationId xmlns:p14="http://schemas.microsoft.com/office/powerpoint/2010/main" val="420282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E721-7C33-20D1-563C-7C92DF5C3E4E}"/>
              </a:ext>
            </a:extLst>
          </p:cNvPr>
          <p:cNvSpPr>
            <a:spLocks noGrp="1"/>
          </p:cNvSpPr>
          <p:nvPr>
            <p:ph type="title"/>
          </p:nvPr>
        </p:nvSpPr>
        <p:spPr/>
        <p:txBody>
          <a:bodyPr/>
          <a:lstStyle/>
          <a:p>
            <a:r>
              <a:rPr lang="en-US" dirty="0"/>
              <a:t>Advantages vs Limitations</a:t>
            </a:r>
          </a:p>
        </p:txBody>
      </p:sp>
      <p:graphicFrame>
        <p:nvGraphicFramePr>
          <p:cNvPr id="6" name="Content Placeholder 5">
            <a:extLst>
              <a:ext uri="{FF2B5EF4-FFF2-40B4-BE49-F238E27FC236}">
                <a16:creationId xmlns:a16="http://schemas.microsoft.com/office/drawing/2014/main" id="{6E2E6479-1F51-3129-0007-CC1DEC22EDBA}"/>
              </a:ext>
            </a:extLst>
          </p:cNvPr>
          <p:cNvGraphicFramePr>
            <a:graphicFrameLocks noGrp="1"/>
          </p:cNvGraphicFramePr>
          <p:nvPr>
            <p:ph idx="1"/>
            <p:extLst>
              <p:ext uri="{D42A27DB-BD31-4B8C-83A1-F6EECF244321}">
                <p14:modId xmlns:p14="http://schemas.microsoft.com/office/powerpoint/2010/main" val="677992003"/>
              </p:ext>
            </p:extLst>
          </p:nvPr>
        </p:nvGraphicFramePr>
        <p:xfrm>
          <a:off x="2214880" y="1825623"/>
          <a:ext cx="6241515" cy="4859657"/>
        </p:xfrm>
        <a:graphic>
          <a:graphicData uri="http://schemas.openxmlformats.org/drawingml/2006/table">
            <a:tbl>
              <a:tblPr/>
              <a:tblGrid>
                <a:gridCol w="2080505">
                  <a:extLst>
                    <a:ext uri="{9D8B030D-6E8A-4147-A177-3AD203B41FA5}">
                      <a16:colId xmlns:a16="http://schemas.microsoft.com/office/drawing/2014/main" val="527401124"/>
                    </a:ext>
                  </a:extLst>
                </a:gridCol>
                <a:gridCol w="2080505">
                  <a:extLst>
                    <a:ext uri="{9D8B030D-6E8A-4147-A177-3AD203B41FA5}">
                      <a16:colId xmlns:a16="http://schemas.microsoft.com/office/drawing/2014/main" val="3669182610"/>
                    </a:ext>
                  </a:extLst>
                </a:gridCol>
                <a:gridCol w="2080505">
                  <a:extLst>
                    <a:ext uri="{9D8B030D-6E8A-4147-A177-3AD203B41FA5}">
                      <a16:colId xmlns:a16="http://schemas.microsoft.com/office/drawing/2014/main" val="2850669611"/>
                    </a:ext>
                  </a:extLst>
                </a:gridCol>
              </a:tblGrid>
              <a:tr h="183383">
                <a:tc>
                  <a:txBody>
                    <a:bodyPr/>
                    <a:lstStyle/>
                    <a:p>
                      <a:pPr>
                        <a:buNone/>
                      </a:pPr>
                      <a:r>
                        <a:rPr lang="en-US" sz="800" b="1"/>
                        <a:t>Aspect</a:t>
                      </a:r>
                      <a:endParaRPr lang="en-US" sz="800"/>
                    </a:p>
                  </a:txBody>
                  <a:tcPr marL="41050" marR="41050" marT="20525" marB="20525" anchor="ctr">
                    <a:lnL>
                      <a:noFill/>
                    </a:lnL>
                    <a:lnR>
                      <a:noFill/>
                    </a:lnR>
                    <a:lnT>
                      <a:noFill/>
                    </a:lnT>
                    <a:lnB>
                      <a:noFill/>
                    </a:lnB>
                    <a:noFill/>
                  </a:tcPr>
                </a:tc>
                <a:tc>
                  <a:txBody>
                    <a:bodyPr/>
                    <a:lstStyle/>
                    <a:p>
                      <a:pPr>
                        <a:buNone/>
                      </a:pPr>
                      <a:r>
                        <a:rPr lang="en-US" sz="800" b="1"/>
                        <a:t>Advantages</a:t>
                      </a:r>
                      <a:endParaRPr lang="en-US" sz="800"/>
                    </a:p>
                  </a:txBody>
                  <a:tcPr marL="41050" marR="41050" marT="20525" marB="20525" anchor="ctr">
                    <a:lnL>
                      <a:noFill/>
                    </a:lnL>
                    <a:lnR>
                      <a:noFill/>
                    </a:lnR>
                    <a:lnT>
                      <a:noFill/>
                    </a:lnT>
                    <a:lnB>
                      <a:noFill/>
                    </a:lnB>
                    <a:noFill/>
                  </a:tcPr>
                </a:tc>
                <a:tc>
                  <a:txBody>
                    <a:bodyPr/>
                    <a:lstStyle/>
                    <a:p>
                      <a:pPr>
                        <a:buNone/>
                      </a:pPr>
                      <a:r>
                        <a:rPr lang="en-US" sz="800" b="1"/>
                        <a:t>Limitations / Challenges</a:t>
                      </a:r>
                      <a:endParaRPr lang="en-US" sz="800"/>
                    </a:p>
                  </a:txBody>
                  <a:tcPr marL="41050" marR="41050" marT="20525" marB="20525" anchor="ctr">
                    <a:lnL>
                      <a:noFill/>
                    </a:lnL>
                    <a:lnR>
                      <a:noFill/>
                    </a:lnR>
                    <a:lnT>
                      <a:noFill/>
                    </a:lnT>
                    <a:lnB>
                      <a:noFill/>
                    </a:lnB>
                    <a:noFill/>
                  </a:tcPr>
                </a:tc>
                <a:extLst>
                  <a:ext uri="{0D108BD9-81ED-4DB2-BD59-A6C34878D82A}">
                    <a16:rowId xmlns:a16="http://schemas.microsoft.com/office/drawing/2014/main" val="1820787283"/>
                  </a:ext>
                </a:extLst>
              </a:tr>
              <a:tr h="458458">
                <a:tc>
                  <a:txBody>
                    <a:bodyPr/>
                    <a:lstStyle/>
                    <a:p>
                      <a:pPr>
                        <a:buNone/>
                      </a:pPr>
                      <a:r>
                        <a:rPr lang="en-US" sz="800" b="1"/>
                        <a:t>Automation</a:t>
                      </a:r>
                      <a:endParaRPr lang="en-US" sz="800"/>
                    </a:p>
                  </a:txBody>
                  <a:tcPr marL="41050" marR="41050" marT="20525" marB="20525" anchor="ctr">
                    <a:lnL>
                      <a:noFill/>
                    </a:lnL>
                    <a:lnR>
                      <a:noFill/>
                    </a:lnR>
                    <a:lnT>
                      <a:noFill/>
                    </a:lnT>
                    <a:lnB>
                      <a:noFill/>
                    </a:lnB>
                    <a:noFill/>
                  </a:tcPr>
                </a:tc>
                <a:tc>
                  <a:txBody>
                    <a:bodyPr/>
                    <a:lstStyle/>
                    <a:p>
                      <a:pPr>
                        <a:buNone/>
                      </a:pPr>
                      <a:r>
                        <a:rPr lang="en-US" sz="800"/>
                        <a:t>Enables smart and automatic operations with minimal human effort</a:t>
                      </a:r>
                    </a:p>
                  </a:txBody>
                  <a:tcPr marL="41050" marR="41050" marT="20525" marB="20525" anchor="ctr">
                    <a:lnL>
                      <a:noFill/>
                    </a:lnL>
                    <a:lnR>
                      <a:noFill/>
                    </a:lnR>
                    <a:lnT>
                      <a:noFill/>
                    </a:lnT>
                    <a:lnB>
                      <a:noFill/>
                    </a:lnB>
                    <a:noFill/>
                  </a:tcPr>
                </a:tc>
                <a:tc>
                  <a:txBody>
                    <a:bodyPr/>
                    <a:lstStyle/>
                    <a:p>
                      <a:pPr>
                        <a:buNone/>
                      </a:pPr>
                      <a:r>
                        <a:rPr lang="en-US" sz="800"/>
                        <a:t>Complex system design and integration</a:t>
                      </a:r>
                    </a:p>
                  </a:txBody>
                  <a:tcPr marL="41050" marR="41050" marT="20525" marB="20525" anchor="ctr">
                    <a:lnL>
                      <a:noFill/>
                    </a:lnL>
                    <a:lnR>
                      <a:noFill/>
                    </a:lnR>
                    <a:lnT>
                      <a:noFill/>
                    </a:lnT>
                    <a:lnB>
                      <a:noFill/>
                    </a:lnB>
                    <a:noFill/>
                  </a:tcPr>
                </a:tc>
                <a:extLst>
                  <a:ext uri="{0D108BD9-81ED-4DB2-BD59-A6C34878D82A}">
                    <a16:rowId xmlns:a16="http://schemas.microsoft.com/office/drawing/2014/main" val="2869529915"/>
                  </a:ext>
                </a:extLst>
              </a:tr>
              <a:tr h="320921">
                <a:tc>
                  <a:txBody>
                    <a:bodyPr/>
                    <a:lstStyle/>
                    <a:p>
                      <a:pPr>
                        <a:buNone/>
                      </a:pPr>
                      <a:r>
                        <a:rPr lang="en-US" sz="800" b="1"/>
                        <a:t>Decision Making</a:t>
                      </a:r>
                      <a:endParaRPr lang="en-US" sz="800"/>
                    </a:p>
                  </a:txBody>
                  <a:tcPr marL="41050" marR="41050" marT="20525" marB="20525" anchor="ctr">
                    <a:lnL>
                      <a:noFill/>
                    </a:lnL>
                    <a:lnR>
                      <a:noFill/>
                    </a:lnR>
                    <a:lnT>
                      <a:noFill/>
                    </a:lnT>
                    <a:lnB>
                      <a:noFill/>
                    </a:lnB>
                    <a:noFill/>
                  </a:tcPr>
                </a:tc>
                <a:tc>
                  <a:txBody>
                    <a:bodyPr/>
                    <a:lstStyle/>
                    <a:p>
                      <a:pPr>
                        <a:buNone/>
                      </a:pPr>
                      <a:r>
                        <a:rPr lang="en-US" sz="800"/>
                        <a:t>AI provides real-time intelligent and predictive decisions</a:t>
                      </a:r>
                    </a:p>
                  </a:txBody>
                  <a:tcPr marL="41050" marR="41050" marT="20525" marB="20525" anchor="ctr">
                    <a:lnL>
                      <a:noFill/>
                    </a:lnL>
                    <a:lnR>
                      <a:noFill/>
                    </a:lnR>
                    <a:lnT>
                      <a:noFill/>
                    </a:lnT>
                    <a:lnB>
                      <a:noFill/>
                    </a:lnB>
                    <a:noFill/>
                  </a:tcPr>
                </a:tc>
                <a:tc>
                  <a:txBody>
                    <a:bodyPr/>
                    <a:lstStyle/>
                    <a:p>
                      <a:pPr>
                        <a:buNone/>
                      </a:pPr>
                      <a:r>
                        <a:rPr lang="en-US" sz="800"/>
                        <a:t>Requires high-quality, large data for accuracy</a:t>
                      </a:r>
                    </a:p>
                  </a:txBody>
                  <a:tcPr marL="41050" marR="41050" marT="20525" marB="20525" anchor="ctr">
                    <a:lnL>
                      <a:noFill/>
                    </a:lnL>
                    <a:lnR>
                      <a:noFill/>
                    </a:lnR>
                    <a:lnT>
                      <a:noFill/>
                    </a:lnT>
                    <a:lnB>
                      <a:noFill/>
                    </a:lnB>
                    <a:noFill/>
                  </a:tcPr>
                </a:tc>
                <a:extLst>
                  <a:ext uri="{0D108BD9-81ED-4DB2-BD59-A6C34878D82A}">
                    <a16:rowId xmlns:a16="http://schemas.microsoft.com/office/drawing/2014/main" val="2908352936"/>
                  </a:ext>
                </a:extLst>
              </a:tr>
              <a:tr h="458458">
                <a:tc>
                  <a:txBody>
                    <a:bodyPr/>
                    <a:lstStyle/>
                    <a:p>
                      <a:pPr>
                        <a:buNone/>
                      </a:pPr>
                      <a:r>
                        <a:rPr lang="en-US" sz="800" b="1"/>
                        <a:t>Security</a:t>
                      </a:r>
                      <a:endParaRPr lang="en-US" sz="800"/>
                    </a:p>
                  </a:txBody>
                  <a:tcPr marL="41050" marR="41050" marT="20525" marB="20525" anchor="ctr">
                    <a:lnL>
                      <a:noFill/>
                    </a:lnL>
                    <a:lnR>
                      <a:noFill/>
                    </a:lnR>
                    <a:lnT>
                      <a:noFill/>
                    </a:lnT>
                    <a:lnB>
                      <a:noFill/>
                    </a:lnB>
                    <a:noFill/>
                  </a:tcPr>
                </a:tc>
                <a:tc>
                  <a:txBody>
                    <a:bodyPr/>
                    <a:lstStyle/>
                    <a:p>
                      <a:pPr>
                        <a:buNone/>
                      </a:pPr>
                      <a:r>
                        <a:rPr lang="en-US" sz="800"/>
                        <a:t>Blockchain ensures strong security, encryption, and tamper-proof data</a:t>
                      </a:r>
                    </a:p>
                  </a:txBody>
                  <a:tcPr marL="41050" marR="41050" marT="20525" marB="20525" anchor="ctr">
                    <a:lnL>
                      <a:noFill/>
                    </a:lnL>
                    <a:lnR>
                      <a:noFill/>
                    </a:lnR>
                    <a:lnT>
                      <a:noFill/>
                    </a:lnT>
                    <a:lnB>
                      <a:noFill/>
                    </a:lnB>
                    <a:noFill/>
                  </a:tcPr>
                </a:tc>
                <a:tc>
                  <a:txBody>
                    <a:bodyPr/>
                    <a:lstStyle/>
                    <a:p>
                      <a:pPr>
                        <a:buNone/>
                      </a:pPr>
                      <a:r>
                        <a:rPr lang="en-US" sz="800"/>
                        <a:t>Endpoint (IoT device) security can still be weak</a:t>
                      </a:r>
                    </a:p>
                  </a:txBody>
                  <a:tcPr marL="41050" marR="41050" marT="20525" marB="20525" anchor="ctr">
                    <a:lnL>
                      <a:noFill/>
                    </a:lnL>
                    <a:lnR>
                      <a:noFill/>
                    </a:lnR>
                    <a:lnT>
                      <a:noFill/>
                    </a:lnT>
                    <a:lnB>
                      <a:noFill/>
                    </a:lnB>
                    <a:noFill/>
                  </a:tcPr>
                </a:tc>
                <a:extLst>
                  <a:ext uri="{0D108BD9-81ED-4DB2-BD59-A6C34878D82A}">
                    <a16:rowId xmlns:a16="http://schemas.microsoft.com/office/drawing/2014/main" val="803429372"/>
                  </a:ext>
                </a:extLst>
              </a:tr>
              <a:tr h="320921">
                <a:tc>
                  <a:txBody>
                    <a:bodyPr/>
                    <a:lstStyle/>
                    <a:p>
                      <a:pPr>
                        <a:buNone/>
                      </a:pPr>
                      <a:r>
                        <a:rPr lang="en-US" sz="800" b="1"/>
                        <a:t>Transparency &amp; Trust</a:t>
                      </a:r>
                      <a:endParaRPr lang="en-US" sz="800"/>
                    </a:p>
                  </a:txBody>
                  <a:tcPr marL="41050" marR="41050" marT="20525" marB="20525" anchor="ctr">
                    <a:lnL>
                      <a:noFill/>
                    </a:lnL>
                    <a:lnR>
                      <a:noFill/>
                    </a:lnR>
                    <a:lnT>
                      <a:noFill/>
                    </a:lnT>
                    <a:lnB>
                      <a:noFill/>
                    </a:lnB>
                    <a:noFill/>
                  </a:tcPr>
                </a:tc>
                <a:tc>
                  <a:txBody>
                    <a:bodyPr/>
                    <a:lstStyle/>
                    <a:p>
                      <a:pPr>
                        <a:buNone/>
                      </a:pPr>
                      <a:r>
                        <a:rPr lang="en-US" sz="800"/>
                        <a:t>Blockchain provides traceable and verifiable transactions</a:t>
                      </a:r>
                    </a:p>
                  </a:txBody>
                  <a:tcPr marL="41050" marR="41050" marT="20525" marB="20525" anchor="ctr">
                    <a:lnL>
                      <a:noFill/>
                    </a:lnL>
                    <a:lnR>
                      <a:noFill/>
                    </a:lnR>
                    <a:lnT>
                      <a:noFill/>
                    </a:lnT>
                    <a:lnB>
                      <a:noFill/>
                    </a:lnB>
                    <a:noFill/>
                  </a:tcPr>
                </a:tc>
                <a:tc>
                  <a:txBody>
                    <a:bodyPr/>
                    <a:lstStyle/>
                    <a:p>
                      <a:pPr>
                        <a:buNone/>
                      </a:pPr>
                      <a:r>
                        <a:rPr lang="en-US" sz="800"/>
                        <a:t>Too much transparency may risk data privacy</a:t>
                      </a:r>
                    </a:p>
                  </a:txBody>
                  <a:tcPr marL="41050" marR="41050" marT="20525" marB="20525" anchor="ctr">
                    <a:lnL>
                      <a:noFill/>
                    </a:lnL>
                    <a:lnR>
                      <a:noFill/>
                    </a:lnR>
                    <a:lnT>
                      <a:noFill/>
                    </a:lnT>
                    <a:lnB>
                      <a:noFill/>
                    </a:lnB>
                    <a:noFill/>
                  </a:tcPr>
                </a:tc>
                <a:extLst>
                  <a:ext uri="{0D108BD9-81ED-4DB2-BD59-A6C34878D82A}">
                    <a16:rowId xmlns:a16="http://schemas.microsoft.com/office/drawing/2014/main" val="2481329941"/>
                  </a:ext>
                </a:extLst>
              </a:tr>
              <a:tr h="320921">
                <a:tc>
                  <a:txBody>
                    <a:bodyPr/>
                    <a:lstStyle/>
                    <a:p>
                      <a:pPr>
                        <a:buNone/>
                      </a:pPr>
                      <a:r>
                        <a:rPr lang="en-US" sz="800" b="1"/>
                        <a:t>Efficiency &amp; Productivity</a:t>
                      </a:r>
                      <a:endParaRPr lang="en-US" sz="800"/>
                    </a:p>
                  </a:txBody>
                  <a:tcPr marL="41050" marR="41050" marT="20525" marB="20525" anchor="ctr">
                    <a:lnL>
                      <a:noFill/>
                    </a:lnL>
                    <a:lnR>
                      <a:noFill/>
                    </a:lnR>
                    <a:lnT>
                      <a:noFill/>
                    </a:lnT>
                    <a:lnB>
                      <a:noFill/>
                    </a:lnB>
                    <a:noFill/>
                  </a:tcPr>
                </a:tc>
                <a:tc>
                  <a:txBody>
                    <a:bodyPr/>
                    <a:lstStyle/>
                    <a:p>
                      <a:pPr>
                        <a:buNone/>
                      </a:pPr>
                      <a:r>
                        <a:rPr lang="en-US" sz="800"/>
                        <a:t>Improves operational efficiency and reduces manual work</a:t>
                      </a:r>
                    </a:p>
                  </a:txBody>
                  <a:tcPr marL="41050" marR="41050" marT="20525" marB="20525" anchor="ctr">
                    <a:lnL>
                      <a:noFill/>
                    </a:lnL>
                    <a:lnR>
                      <a:noFill/>
                    </a:lnR>
                    <a:lnT>
                      <a:noFill/>
                    </a:lnT>
                    <a:lnB>
                      <a:noFill/>
                    </a:lnB>
                    <a:noFill/>
                  </a:tcPr>
                </a:tc>
                <a:tc>
                  <a:txBody>
                    <a:bodyPr/>
                    <a:lstStyle/>
                    <a:p>
                      <a:pPr>
                        <a:buNone/>
                      </a:pPr>
                      <a:r>
                        <a:rPr lang="en-US" sz="800"/>
                        <a:t>High implementation and maintenance cost</a:t>
                      </a:r>
                    </a:p>
                  </a:txBody>
                  <a:tcPr marL="41050" marR="41050" marT="20525" marB="20525" anchor="ctr">
                    <a:lnL>
                      <a:noFill/>
                    </a:lnL>
                    <a:lnR>
                      <a:noFill/>
                    </a:lnR>
                    <a:lnT>
                      <a:noFill/>
                    </a:lnT>
                    <a:lnB>
                      <a:noFill/>
                    </a:lnB>
                    <a:noFill/>
                  </a:tcPr>
                </a:tc>
                <a:extLst>
                  <a:ext uri="{0D108BD9-81ED-4DB2-BD59-A6C34878D82A}">
                    <a16:rowId xmlns:a16="http://schemas.microsoft.com/office/drawing/2014/main" val="1003591201"/>
                  </a:ext>
                </a:extLst>
              </a:tr>
              <a:tr h="458458">
                <a:tc>
                  <a:txBody>
                    <a:bodyPr/>
                    <a:lstStyle/>
                    <a:p>
                      <a:pPr>
                        <a:buNone/>
                      </a:pPr>
                      <a:r>
                        <a:rPr lang="en-US" sz="800" b="1"/>
                        <a:t>Real-time Monitoring</a:t>
                      </a:r>
                      <a:endParaRPr lang="en-US" sz="800"/>
                    </a:p>
                  </a:txBody>
                  <a:tcPr marL="41050" marR="41050" marT="20525" marB="20525" anchor="ctr">
                    <a:lnL>
                      <a:noFill/>
                    </a:lnL>
                    <a:lnR>
                      <a:noFill/>
                    </a:lnR>
                    <a:lnT>
                      <a:noFill/>
                    </a:lnT>
                    <a:lnB>
                      <a:noFill/>
                    </a:lnB>
                    <a:noFill/>
                  </a:tcPr>
                </a:tc>
                <a:tc>
                  <a:txBody>
                    <a:bodyPr/>
                    <a:lstStyle/>
                    <a:p>
                      <a:pPr>
                        <a:buNone/>
                      </a:pPr>
                      <a:r>
                        <a:rPr lang="en-US" sz="800"/>
                        <a:t>IoT enables continuous monitoring of systems and environment</a:t>
                      </a:r>
                    </a:p>
                  </a:txBody>
                  <a:tcPr marL="41050" marR="41050" marT="20525" marB="20525" anchor="ctr">
                    <a:lnL>
                      <a:noFill/>
                    </a:lnL>
                    <a:lnR>
                      <a:noFill/>
                    </a:lnR>
                    <a:lnT>
                      <a:noFill/>
                    </a:lnT>
                    <a:lnB>
                      <a:noFill/>
                    </a:lnB>
                    <a:noFill/>
                  </a:tcPr>
                </a:tc>
                <a:tc>
                  <a:txBody>
                    <a:bodyPr/>
                    <a:lstStyle/>
                    <a:p>
                      <a:pPr>
                        <a:buNone/>
                      </a:pPr>
                      <a:r>
                        <a:rPr lang="en-US" sz="800"/>
                        <a:t>Network dependency and connectivity issues</a:t>
                      </a:r>
                    </a:p>
                  </a:txBody>
                  <a:tcPr marL="41050" marR="41050" marT="20525" marB="20525" anchor="ctr">
                    <a:lnL>
                      <a:noFill/>
                    </a:lnL>
                    <a:lnR>
                      <a:noFill/>
                    </a:lnR>
                    <a:lnT>
                      <a:noFill/>
                    </a:lnT>
                    <a:lnB>
                      <a:noFill/>
                    </a:lnB>
                    <a:noFill/>
                  </a:tcPr>
                </a:tc>
                <a:extLst>
                  <a:ext uri="{0D108BD9-81ED-4DB2-BD59-A6C34878D82A}">
                    <a16:rowId xmlns:a16="http://schemas.microsoft.com/office/drawing/2014/main" val="3030078759"/>
                  </a:ext>
                </a:extLst>
              </a:tr>
              <a:tr h="458458">
                <a:tc>
                  <a:txBody>
                    <a:bodyPr/>
                    <a:lstStyle/>
                    <a:p>
                      <a:pPr>
                        <a:buNone/>
                      </a:pPr>
                      <a:r>
                        <a:rPr lang="en-US" sz="800" b="1"/>
                        <a:t>Cost Reduction (Long-term)</a:t>
                      </a:r>
                      <a:endParaRPr lang="en-US" sz="800"/>
                    </a:p>
                  </a:txBody>
                  <a:tcPr marL="41050" marR="41050" marT="20525" marB="20525" anchor="ctr">
                    <a:lnL>
                      <a:noFill/>
                    </a:lnL>
                    <a:lnR>
                      <a:noFill/>
                    </a:lnR>
                    <a:lnT>
                      <a:noFill/>
                    </a:lnT>
                    <a:lnB>
                      <a:noFill/>
                    </a:lnB>
                    <a:noFill/>
                  </a:tcPr>
                </a:tc>
                <a:tc>
                  <a:txBody>
                    <a:bodyPr/>
                    <a:lstStyle/>
                    <a:p>
                      <a:pPr>
                        <a:buNone/>
                      </a:pPr>
                      <a:r>
                        <a:rPr lang="en-US" sz="800"/>
                        <a:t>Saves cost through automation, predictive maintenance, and optimization</a:t>
                      </a:r>
                    </a:p>
                  </a:txBody>
                  <a:tcPr marL="41050" marR="41050" marT="20525" marB="20525" anchor="ctr">
                    <a:lnL>
                      <a:noFill/>
                    </a:lnL>
                    <a:lnR>
                      <a:noFill/>
                    </a:lnR>
                    <a:lnT>
                      <a:noFill/>
                    </a:lnT>
                    <a:lnB>
                      <a:noFill/>
                    </a:lnB>
                    <a:noFill/>
                  </a:tcPr>
                </a:tc>
                <a:tc>
                  <a:txBody>
                    <a:bodyPr/>
                    <a:lstStyle/>
                    <a:p>
                      <a:pPr>
                        <a:buNone/>
                      </a:pPr>
                      <a:r>
                        <a:rPr lang="en-US" sz="800"/>
                        <a:t>High initial infrastructure investment</a:t>
                      </a:r>
                    </a:p>
                  </a:txBody>
                  <a:tcPr marL="41050" marR="41050" marT="20525" marB="20525" anchor="ctr">
                    <a:lnL>
                      <a:noFill/>
                    </a:lnL>
                    <a:lnR>
                      <a:noFill/>
                    </a:lnR>
                    <a:lnT>
                      <a:noFill/>
                    </a:lnT>
                    <a:lnB>
                      <a:noFill/>
                    </a:lnB>
                    <a:noFill/>
                  </a:tcPr>
                </a:tc>
                <a:extLst>
                  <a:ext uri="{0D108BD9-81ED-4DB2-BD59-A6C34878D82A}">
                    <a16:rowId xmlns:a16="http://schemas.microsoft.com/office/drawing/2014/main" val="908582762"/>
                  </a:ext>
                </a:extLst>
              </a:tr>
              <a:tr h="320921">
                <a:tc>
                  <a:txBody>
                    <a:bodyPr/>
                    <a:lstStyle/>
                    <a:p>
                      <a:pPr>
                        <a:buNone/>
                      </a:pPr>
                      <a:r>
                        <a:rPr lang="en-US" sz="800" b="1"/>
                        <a:t>Decentralization</a:t>
                      </a:r>
                      <a:endParaRPr lang="en-US" sz="800"/>
                    </a:p>
                  </a:txBody>
                  <a:tcPr marL="41050" marR="41050" marT="20525" marB="20525" anchor="ctr">
                    <a:lnL>
                      <a:noFill/>
                    </a:lnL>
                    <a:lnR>
                      <a:noFill/>
                    </a:lnR>
                    <a:lnT>
                      <a:noFill/>
                    </a:lnT>
                    <a:lnB>
                      <a:noFill/>
                    </a:lnB>
                    <a:noFill/>
                  </a:tcPr>
                </a:tc>
                <a:tc>
                  <a:txBody>
                    <a:bodyPr/>
                    <a:lstStyle/>
                    <a:p>
                      <a:pPr>
                        <a:buNone/>
                      </a:pPr>
                      <a:r>
                        <a:rPr lang="en-US" sz="800"/>
                        <a:t>Removes single point of failure and increases system reliability</a:t>
                      </a:r>
                    </a:p>
                  </a:txBody>
                  <a:tcPr marL="41050" marR="41050" marT="20525" marB="20525" anchor="ctr">
                    <a:lnL>
                      <a:noFill/>
                    </a:lnL>
                    <a:lnR>
                      <a:noFill/>
                    </a:lnR>
                    <a:lnT>
                      <a:noFill/>
                    </a:lnT>
                    <a:lnB>
                      <a:noFill/>
                    </a:lnB>
                    <a:noFill/>
                  </a:tcPr>
                </a:tc>
                <a:tc>
                  <a:txBody>
                    <a:bodyPr/>
                    <a:lstStyle/>
                    <a:p>
                      <a:pPr>
                        <a:buNone/>
                      </a:pPr>
                      <a:r>
                        <a:rPr lang="en-US" sz="800"/>
                        <a:t>Harder to manage and govern decentralized systems</a:t>
                      </a:r>
                    </a:p>
                  </a:txBody>
                  <a:tcPr marL="41050" marR="41050" marT="20525" marB="20525" anchor="ctr">
                    <a:lnL>
                      <a:noFill/>
                    </a:lnL>
                    <a:lnR>
                      <a:noFill/>
                    </a:lnR>
                    <a:lnT>
                      <a:noFill/>
                    </a:lnT>
                    <a:lnB>
                      <a:noFill/>
                    </a:lnB>
                    <a:noFill/>
                  </a:tcPr>
                </a:tc>
                <a:extLst>
                  <a:ext uri="{0D108BD9-81ED-4DB2-BD59-A6C34878D82A}">
                    <a16:rowId xmlns:a16="http://schemas.microsoft.com/office/drawing/2014/main" val="4240063529"/>
                  </a:ext>
                </a:extLst>
              </a:tr>
              <a:tr h="458458">
                <a:tc>
                  <a:txBody>
                    <a:bodyPr/>
                    <a:lstStyle/>
                    <a:p>
                      <a:pPr>
                        <a:buNone/>
                      </a:pPr>
                      <a:r>
                        <a:rPr lang="en-US" sz="800" b="1"/>
                        <a:t>Scalability</a:t>
                      </a:r>
                      <a:endParaRPr lang="en-US" sz="800"/>
                    </a:p>
                  </a:txBody>
                  <a:tcPr marL="41050" marR="41050" marT="20525" marB="20525" anchor="ctr">
                    <a:lnL>
                      <a:noFill/>
                    </a:lnL>
                    <a:lnR>
                      <a:noFill/>
                    </a:lnR>
                    <a:lnT>
                      <a:noFill/>
                    </a:lnT>
                    <a:lnB>
                      <a:noFill/>
                    </a:lnB>
                    <a:noFill/>
                  </a:tcPr>
                </a:tc>
                <a:tc>
                  <a:txBody>
                    <a:bodyPr/>
                    <a:lstStyle/>
                    <a:p>
                      <a:pPr>
                        <a:buNone/>
                      </a:pPr>
                      <a:r>
                        <a:rPr lang="en-US" sz="800"/>
                        <a:t>Can support large smart ecosystems (smart cities, industry, healthcare)</a:t>
                      </a:r>
                    </a:p>
                  </a:txBody>
                  <a:tcPr marL="41050" marR="41050" marT="20525" marB="20525" anchor="ctr">
                    <a:lnL>
                      <a:noFill/>
                    </a:lnL>
                    <a:lnR>
                      <a:noFill/>
                    </a:lnR>
                    <a:lnT>
                      <a:noFill/>
                    </a:lnT>
                    <a:lnB>
                      <a:noFill/>
                    </a:lnB>
                    <a:noFill/>
                  </a:tcPr>
                </a:tc>
                <a:tc>
                  <a:txBody>
                    <a:bodyPr/>
                    <a:lstStyle/>
                    <a:p>
                      <a:pPr>
                        <a:buNone/>
                      </a:pPr>
                      <a:r>
                        <a:rPr lang="en-US" sz="800"/>
                        <a:t>Blockchain and IoT may face performance and scaling issues</a:t>
                      </a:r>
                    </a:p>
                  </a:txBody>
                  <a:tcPr marL="41050" marR="41050" marT="20525" marB="20525" anchor="ctr">
                    <a:lnL>
                      <a:noFill/>
                    </a:lnL>
                    <a:lnR>
                      <a:noFill/>
                    </a:lnR>
                    <a:lnT>
                      <a:noFill/>
                    </a:lnT>
                    <a:lnB>
                      <a:noFill/>
                    </a:lnB>
                    <a:noFill/>
                  </a:tcPr>
                </a:tc>
                <a:extLst>
                  <a:ext uri="{0D108BD9-81ED-4DB2-BD59-A6C34878D82A}">
                    <a16:rowId xmlns:a16="http://schemas.microsoft.com/office/drawing/2014/main" val="1835361458"/>
                  </a:ext>
                </a:extLst>
              </a:tr>
              <a:tr h="320921">
                <a:tc>
                  <a:txBody>
                    <a:bodyPr/>
                    <a:lstStyle/>
                    <a:p>
                      <a:pPr>
                        <a:buNone/>
                      </a:pPr>
                      <a:r>
                        <a:rPr lang="en-US" sz="800" b="1"/>
                        <a:t>Data Integrity</a:t>
                      </a:r>
                      <a:endParaRPr lang="en-US" sz="800"/>
                    </a:p>
                  </a:txBody>
                  <a:tcPr marL="41050" marR="41050" marT="20525" marB="20525" anchor="ctr">
                    <a:lnL>
                      <a:noFill/>
                    </a:lnL>
                    <a:lnR>
                      <a:noFill/>
                    </a:lnR>
                    <a:lnT>
                      <a:noFill/>
                    </a:lnT>
                    <a:lnB>
                      <a:noFill/>
                    </a:lnB>
                    <a:noFill/>
                  </a:tcPr>
                </a:tc>
                <a:tc>
                  <a:txBody>
                    <a:bodyPr/>
                    <a:lstStyle/>
                    <a:p>
                      <a:pPr>
                        <a:buNone/>
                      </a:pPr>
                      <a:r>
                        <a:rPr lang="en-US" sz="800"/>
                        <a:t>Immutable and reliable data improves trust and auditing</a:t>
                      </a:r>
                    </a:p>
                  </a:txBody>
                  <a:tcPr marL="41050" marR="41050" marT="20525" marB="20525" anchor="ctr">
                    <a:lnL>
                      <a:noFill/>
                    </a:lnL>
                    <a:lnR>
                      <a:noFill/>
                    </a:lnR>
                    <a:lnT>
                      <a:noFill/>
                    </a:lnT>
                    <a:lnB>
                      <a:noFill/>
                    </a:lnB>
                    <a:noFill/>
                  </a:tcPr>
                </a:tc>
                <a:tc>
                  <a:txBody>
                    <a:bodyPr/>
                    <a:lstStyle/>
                    <a:p>
                      <a:pPr>
                        <a:buNone/>
                      </a:pPr>
                      <a:r>
                        <a:rPr lang="en-US" sz="800"/>
                        <a:t>Incorrect data once stored is difficult to modify</a:t>
                      </a:r>
                    </a:p>
                  </a:txBody>
                  <a:tcPr marL="41050" marR="41050" marT="20525" marB="20525" anchor="ctr">
                    <a:lnL>
                      <a:noFill/>
                    </a:lnL>
                    <a:lnR>
                      <a:noFill/>
                    </a:lnR>
                    <a:lnT>
                      <a:noFill/>
                    </a:lnT>
                    <a:lnB>
                      <a:noFill/>
                    </a:lnB>
                    <a:noFill/>
                  </a:tcPr>
                </a:tc>
                <a:extLst>
                  <a:ext uri="{0D108BD9-81ED-4DB2-BD59-A6C34878D82A}">
                    <a16:rowId xmlns:a16="http://schemas.microsoft.com/office/drawing/2014/main" val="2848874860"/>
                  </a:ext>
                </a:extLst>
              </a:tr>
              <a:tr h="320921">
                <a:tc>
                  <a:txBody>
                    <a:bodyPr/>
                    <a:lstStyle/>
                    <a:p>
                      <a:pPr>
                        <a:buNone/>
                      </a:pPr>
                      <a:r>
                        <a:rPr lang="en-US" sz="800" b="1"/>
                        <a:t>Innovation &amp; New Business Models</a:t>
                      </a:r>
                      <a:endParaRPr lang="en-US" sz="800"/>
                    </a:p>
                  </a:txBody>
                  <a:tcPr marL="41050" marR="41050" marT="20525" marB="20525" anchor="ctr">
                    <a:lnL>
                      <a:noFill/>
                    </a:lnL>
                    <a:lnR>
                      <a:noFill/>
                    </a:lnR>
                    <a:lnT>
                      <a:noFill/>
                    </a:lnT>
                    <a:lnB>
                      <a:noFill/>
                    </a:lnB>
                    <a:noFill/>
                  </a:tcPr>
                </a:tc>
                <a:tc>
                  <a:txBody>
                    <a:bodyPr/>
                    <a:lstStyle/>
                    <a:p>
                      <a:pPr>
                        <a:buNone/>
                      </a:pPr>
                      <a:r>
                        <a:rPr lang="en-US" sz="800"/>
                        <a:t>Enables smart contracts, smart supply chains, digital ecosystems</a:t>
                      </a:r>
                    </a:p>
                  </a:txBody>
                  <a:tcPr marL="41050" marR="41050" marT="20525" marB="20525" anchor="ctr">
                    <a:lnL>
                      <a:noFill/>
                    </a:lnL>
                    <a:lnR>
                      <a:noFill/>
                    </a:lnR>
                    <a:lnT>
                      <a:noFill/>
                    </a:lnT>
                    <a:lnB>
                      <a:noFill/>
                    </a:lnB>
                    <a:noFill/>
                  </a:tcPr>
                </a:tc>
                <a:tc>
                  <a:txBody>
                    <a:bodyPr/>
                    <a:lstStyle/>
                    <a:p>
                      <a:pPr>
                        <a:buNone/>
                      </a:pPr>
                      <a:r>
                        <a:rPr lang="en-US" sz="800"/>
                        <a:t>Regulatory, legal, and compliance challenges</a:t>
                      </a:r>
                    </a:p>
                  </a:txBody>
                  <a:tcPr marL="41050" marR="41050" marT="20525" marB="20525" anchor="ctr">
                    <a:lnL>
                      <a:noFill/>
                    </a:lnL>
                    <a:lnR>
                      <a:noFill/>
                    </a:lnR>
                    <a:lnT>
                      <a:noFill/>
                    </a:lnT>
                    <a:lnB>
                      <a:noFill/>
                    </a:lnB>
                    <a:noFill/>
                  </a:tcPr>
                </a:tc>
                <a:extLst>
                  <a:ext uri="{0D108BD9-81ED-4DB2-BD59-A6C34878D82A}">
                    <a16:rowId xmlns:a16="http://schemas.microsoft.com/office/drawing/2014/main" val="992441149"/>
                  </a:ext>
                </a:extLst>
              </a:tr>
              <a:tr h="458458">
                <a:tc>
                  <a:txBody>
                    <a:bodyPr/>
                    <a:lstStyle/>
                    <a:p>
                      <a:pPr>
                        <a:buNone/>
                      </a:pPr>
                      <a:r>
                        <a:rPr lang="en-US" sz="800" b="1"/>
                        <a:t>Energy &amp; Resources</a:t>
                      </a:r>
                      <a:endParaRPr lang="en-US" sz="800"/>
                    </a:p>
                  </a:txBody>
                  <a:tcPr marL="41050" marR="41050" marT="20525" marB="20525" anchor="ctr">
                    <a:lnL>
                      <a:noFill/>
                    </a:lnL>
                    <a:lnR>
                      <a:noFill/>
                    </a:lnR>
                    <a:lnT>
                      <a:noFill/>
                    </a:lnT>
                    <a:lnB>
                      <a:noFill/>
                    </a:lnB>
                    <a:noFill/>
                  </a:tcPr>
                </a:tc>
                <a:tc>
                  <a:txBody>
                    <a:bodyPr/>
                    <a:lstStyle/>
                    <a:p>
                      <a:pPr>
                        <a:buNone/>
                      </a:pPr>
                      <a:r>
                        <a:rPr lang="en-US" sz="800"/>
                        <a:t>Some efficient systems optimize energy use (smart grids, AI optimization)</a:t>
                      </a:r>
                    </a:p>
                  </a:txBody>
                  <a:tcPr marL="41050" marR="41050" marT="20525" marB="20525" anchor="ctr">
                    <a:lnL>
                      <a:noFill/>
                    </a:lnL>
                    <a:lnR>
                      <a:noFill/>
                    </a:lnR>
                    <a:lnT>
                      <a:noFill/>
                    </a:lnT>
                    <a:lnB>
                      <a:noFill/>
                    </a:lnB>
                    <a:noFill/>
                  </a:tcPr>
                </a:tc>
                <a:tc>
                  <a:txBody>
                    <a:bodyPr/>
                    <a:lstStyle/>
                    <a:p>
                      <a:pPr>
                        <a:buNone/>
                      </a:pPr>
                      <a:r>
                        <a:rPr lang="en-US" sz="800" dirty="0"/>
                        <a:t>Blockchain and AI can consume high computational power</a:t>
                      </a:r>
                    </a:p>
                  </a:txBody>
                  <a:tcPr marL="41050" marR="41050" marT="20525" marB="20525" anchor="ctr">
                    <a:lnL>
                      <a:noFill/>
                    </a:lnL>
                    <a:lnR>
                      <a:noFill/>
                    </a:lnR>
                    <a:lnT>
                      <a:noFill/>
                    </a:lnT>
                    <a:lnB>
                      <a:noFill/>
                    </a:lnB>
                    <a:noFill/>
                  </a:tcPr>
                </a:tc>
                <a:extLst>
                  <a:ext uri="{0D108BD9-81ED-4DB2-BD59-A6C34878D82A}">
                    <a16:rowId xmlns:a16="http://schemas.microsoft.com/office/drawing/2014/main" val="2985883990"/>
                  </a:ext>
                </a:extLst>
              </a:tr>
            </a:tbl>
          </a:graphicData>
        </a:graphic>
      </p:graphicFrame>
    </p:spTree>
    <p:extLst>
      <p:ext uri="{BB962C8B-B14F-4D97-AF65-F5344CB8AC3E}">
        <p14:creationId xmlns:p14="http://schemas.microsoft.com/office/powerpoint/2010/main" val="1721244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4489</TotalTime>
  <Words>2663</Words>
  <Application>Microsoft Office PowerPoint</Application>
  <PresentationFormat>Widescreen</PresentationFormat>
  <Paragraphs>265</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Week 5</vt:lpstr>
      <vt:lpstr>Challenges to Secure IoT Deployments</vt:lpstr>
      <vt:lpstr>PowerPoint Presentation</vt:lpstr>
      <vt:lpstr>Dealing with the Challenges and Threats</vt:lpstr>
      <vt:lpstr>Current Deficiency in IoT</vt:lpstr>
      <vt:lpstr>.  </vt:lpstr>
      <vt:lpstr>PowerPoint Presentation</vt:lpstr>
      <vt:lpstr>PowerPoint Presentation</vt:lpstr>
      <vt:lpstr>Security challenges of IoT</vt:lpstr>
      <vt:lpstr>Blockchain-based IoT Security Solutions</vt:lpstr>
      <vt:lpstr>Decentralizing IoT Networks</vt:lpstr>
      <vt:lpstr>PowerPoint Presentation</vt:lpstr>
      <vt:lpstr>The Blockchain Approach</vt:lpstr>
      <vt:lpstr>PowerPoint Presentation</vt:lpstr>
      <vt:lpstr>PowerPoint Presentation</vt:lpstr>
      <vt:lpstr>Table Comparison: Traditional IoT vs Blockchain IoT</vt:lpstr>
      <vt:lpstr>Blockchain in IoT: Benefits vs Risks</vt:lpstr>
      <vt:lpstr>Optimum Secure IoT Model</vt:lpstr>
      <vt:lpstr>IoT, AI, and Blockchain: Catalysts for Digital Transformation</vt:lpstr>
      <vt:lpstr>1. IoT (Internet of Things) – Data Collector</vt:lpstr>
      <vt:lpstr>2. AI (Artificial Intelligence) – Brain / Decision Maker</vt:lpstr>
      <vt:lpstr>3. Blockchain – Security &amp; Trust Layer</vt:lpstr>
      <vt:lpstr>How They Work Together (Simple Flow)</vt:lpstr>
      <vt:lpstr>Real-World Use Cases</vt:lpstr>
      <vt:lpstr>Key Benefits for Digital Transformation</vt:lpstr>
      <vt:lpstr>Challenges</vt:lpstr>
      <vt:lpstr>Conclusion </vt:lpstr>
      <vt:lpstr>PowerPoint Presentation</vt:lpstr>
      <vt:lpstr>Advantages vs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FAHEEM</dc:creator>
  <cp:lastModifiedBy>KHAN FAHEEM</cp:lastModifiedBy>
  <cp:revision>4</cp:revision>
  <dcterms:created xsi:type="dcterms:W3CDTF">2026-02-18T07:06:47Z</dcterms:created>
  <dcterms:modified xsi:type="dcterms:W3CDTF">2026-03-30T09:05:57Z</dcterms:modified>
</cp:coreProperties>
</file>