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5" r:id="rId36"/>
    <p:sldId id="296" r:id="rId37"/>
    <p:sldId id="290" r:id="rId38"/>
    <p:sldId id="297" r:id="rId39"/>
    <p:sldId id="291" r:id="rId40"/>
    <p:sldId id="292" r:id="rId41"/>
    <p:sldId id="304" r:id="rId42"/>
    <p:sldId id="293" r:id="rId43"/>
    <p:sldId id="298" r:id="rId44"/>
    <p:sldId id="299" r:id="rId45"/>
    <p:sldId id="300" r:id="rId46"/>
    <p:sldId id="301" r:id="rId47"/>
    <p:sldId id="302" r:id="rId48"/>
    <p:sldId id="305" r:id="rId49"/>
    <p:sldId id="306" r:id="rId50"/>
    <p:sldId id="307" r:id="rId5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E1B752-558D-4386-BE2B-70413E8BBDC4}" v="90" dt="2026-02-17T13:46:04.2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106" d="100"/>
          <a:sy n="106" d="100"/>
        </p:scale>
        <p:origin x="73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9659F-7F22-BE81-FBA9-193E6F68C2EB}"/>
              </a:ext>
            </a:extLst>
          </p:cNvPr>
          <p:cNvSpPr>
            <a:spLocks noGrp="1"/>
          </p:cNvSpPr>
          <p:nvPr>
            <p:ph type="ctrTitle"/>
          </p:nvPr>
        </p:nvSpPr>
        <p:spPr>
          <a:xfrm>
            <a:off x="1524000" y="1122363"/>
            <a:ext cx="9144000" cy="2387600"/>
          </a:xfrm>
        </p:spPr>
        <p:txBody>
          <a:bodyPr anchor="b"/>
          <a:lstStyle>
            <a:lvl1pPr algn="ctr">
              <a:defRPr sz="6000"/>
            </a:lvl1pPr>
          </a:lstStyle>
          <a:p>
            <a:r>
              <a:rPr lang="en-US" altLang="ko-KR"/>
              <a:t>Click to edit Master title style</a:t>
            </a:r>
            <a:endParaRPr lang="ko-KR" altLang="en-US"/>
          </a:p>
        </p:txBody>
      </p:sp>
      <p:sp>
        <p:nvSpPr>
          <p:cNvPr id="3" name="Subtitle 2">
            <a:extLst>
              <a:ext uri="{FF2B5EF4-FFF2-40B4-BE49-F238E27FC236}">
                <a16:creationId xmlns:a16="http://schemas.microsoft.com/office/drawing/2014/main" id="{4574B01B-6509-E852-338E-4F754A5895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ko-KR"/>
              <a:t>Click to edit Master subtitle style</a:t>
            </a:r>
            <a:endParaRPr lang="ko-KR" altLang="en-US"/>
          </a:p>
        </p:txBody>
      </p:sp>
      <p:sp>
        <p:nvSpPr>
          <p:cNvPr id="4" name="Date Placeholder 3">
            <a:extLst>
              <a:ext uri="{FF2B5EF4-FFF2-40B4-BE49-F238E27FC236}">
                <a16:creationId xmlns:a16="http://schemas.microsoft.com/office/drawing/2014/main" id="{50550647-2050-E90A-9EBF-B746A93D13FD}"/>
              </a:ext>
            </a:extLst>
          </p:cNvPr>
          <p:cNvSpPr>
            <a:spLocks noGrp="1"/>
          </p:cNvSpPr>
          <p:nvPr>
            <p:ph type="dt" sz="half" idx="10"/>
          </p:nvPr>
        </p:nvSpPr>
        <p:spPr/>
        <p:txBody>
          <a:bodyPr/>
          <a:lstStyle/>
          <a:p>
            <a:fld id="{99943661-7FE4-4088-A523-BBA84C92434D}" type="datetimeFigureOut">
              <a:rPr lang="ko-KR" altLang="en-US" smtClean="0"/>
              <a:t>2026-03-26</a:t>
            </a:fld>
            <a:endParaRPr lang="ko-KR" altLang="en-US"/>
          </a:p>
        </p:txBody>
      </p:sp>
      <p:sp>
        <p:nvSpPr>
          <p:cNvPr id="5" name="Footer Placeholder 4">
            <a:extLst>
              <a:ext uri="{FF2B5EF4-FFF2-40B4-BE49-F238E27FC236}">
                <a16:creationId xmlns:a16="http://schemas.microsoft.com/office/drawing/2014/main" id="{F2C71CB2-910C-1B31-6E38-9A5CF829E915}"/>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3A8D1251-3856-B01A-4CA4-1CB83E56C2B4}"/>
              </a:ext>
            </a:extLst>
          </p:cNvPr>
          <p:cNvSpPr>
            <a:spLocks noGrp="1"/>
          </p:cNvSpPr>
          <p:nvPr>
            <p:ph type="sldNum" sz="quarter" idx="12"/>
          </p:nvPr>
        </p:nvSpPr>
        <p:spPr/>
        <p:txBody>
          <a:bodyPr/>
          <a:lstStyle/>
          <a:p>
            <a:fld id="{B20F65CC-4863-48CD-A726-9D6475EA33B5}" type="slidenum">
              <a:rPr lang="ko-KR" altLang="en-US" smtClean="0"/>
              <a:t>‹#›</a:t>
            </a:fld>
            <a:endParaRPr lang="ko-KR" altLang="en-US"/>
          </a:p>
        </p:txBody>
      </p:sp>
    </p:spTree>
    <p:extLst>
      <p:ext uri="{BB962C8B-B14F-4D97-AF65-F5344CB8AC3E}">
        <p14:creationId xmlns:p14="http://schemas.microsoft.com/office/powerpoint/2010/main" val="2586244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54F9D-E072-7DC8-F446-7CED365C8427}"/>
              </a:ext>
            </a:extLst>
          </p:cNvPr>
          <p:cNvSpPr>
            <a:spLocks noGrp="1"/>
          </p:cNvSpPr>
          <p:nvPr>
            <p:ph type="title"/>
          </p:nvPr>
        </p:nvSpPr>
        <p:spPr/>
        <p:txBody>
          <a:bodyPr/>
          <a:lstStyle/>
          <a:p>
            <a:r>
              <a:rPr lang="en-US" altLang="ko-KR"/>
              <a:t>Click to edit Master title style</a:t>
            </a:r>
            <a:endParaRPr lang="ko-KR" altLang="en-US"/>
          </a:p>
        </p:txBody>
      </p:sp>
      <p:sp>
        <p:nvSpPr>
          <p:cNvPr id="3" name="Content Placeholder 2">
            <a:extLst>
              <a:ext uri="{FF2B5EF4-FFF2-40B4-BE49-F238E27FC236}">
                <a16:creationId xmlns:a16="http://schemas.microsoft.com/office/drawing/2014/main" id="{F7769DCD-DC47-534D-88E8-29DA2EE49C8F}"/>
              </a:ext>
            </a:extLst>
          </p:cNvPr>
          <p:cNvSpPr>
            <a:spLocks noGrp="1"/>
          </p:cNvSpPr>
          <p:nvPr>
            <p:ph idx="1"/>
          </p:nvPr>
        </p:nvSpPr>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a:extLst>
              <a:ext uri="{FF2B5EF4-FFF2-40B4-BE49-F238E27FC236}">
                <a16:creationId xmlns:a16="http://schemas.microsoft.com/office/drawing/2014/main" id="{51CD7235-898A-9F92-3938-6DB6DC78332B}"/>
              </a:ext>
            </a:extLst>
          </p:cNvPr>
          <p:cNvSpPr>
            <a:spLocks noGrp="1"/>
          </p:cNvSpPr>
          <p:nvPr>
            <p:ph type="dt" sz="half" idx="10"/>
          </p:nvPr>
        </p:nvSpPr>
        <p:spPr/>
        <p:txBody>
          <a:bodyPr/>
          <a:lstStyle/>
          <a:p>
            <a:fld id="{99943661-7FE4-4088-A523-BBA84C92434D}" type="datetimeFigureOut">
              <a:rPr lang="ko-KR" altLang="en-US" smtClean="0"/>
              <a:t>2026-03-26</a:t>
            </a:fld>
            <a:endParaRPr lang="ko-KR" altLang="en-US"/>
          </a:p>
        </p:txBody>
      </p:sp>
      <p:sp>
        <p:nvSpPr>
          <p:cNvPr id="5" name="Footer Placeholder 4">
            <a:extLst>
              <a:ext uri="{FF2B5EF4-FFF2-40B4-BE49-F238E27FC236}">
                <a16:creationId xmlns:a16="http://schemas.microsoft.com/office/drawing/2014/main" id="{51E245D4-7AE7-39C2-99BD-2CE01031F136}"/>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ADB099E5-157E-95BB-4081-679949CE79D1}"/>
              </a:ext>
            </a:extLst>
          </p:cNvPr>
          <p:cNvSpPr>
            <a:spLocks noGrp="1"/>
          </p:cNvSpPr>
          <p:nvPr>
            <p:ph type="sldNum" sz="quarter" idx="12"/>
          </p:nvPr>
        </p:nvSpPr>
        <p:spPr/>
        <p:txBody>
          <a:bodyPr/>
          <a:lstStyle/>
          <a:p>
            <a:fld id="{B20F65CC-4863-48CD-A726-9D6475EA33B5}" type="slidenum">
              <a:rPr lang="ko-KR" altLang="en-US" smtClean="0"/>
              <a:t>‹#›</a:t>
            </a:fld>
            <a:endParaRPr lang="ko-KR" altLang="en-US"/>
          </a:p>
        </p:txBody>
      </p:sp>
    </p:spTree>
    <p:extLst>
      <p:ext uri="{BB962C8B-B14F-4D97-AF65-F5344CB8AC3E}">
        <p14:creationId xmlns:p14="http://schemas.microsoft.com/office/powerpoint/2010/main" val="1681906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713C5-0410-DAE4-5533-C2431CD1E9CF}"/>
              </a:ext>
            </a:extLst>
          </p:cNvPr>
          <p:cNvSpPr>
            <a:spLocks noGrp="1"/>
          </p:cNvSpPr>
          <p:nvPr>
            <p:ph type="title"/>
          </p:nvPr>
        </p:nvSpPr>
        <p:spPr>
          <a:xfrm>
            <a:off x="831850" y="1709738"/>
            <a:ext cx="10515600" cy="2852737"/>
          </a:xfrm>
        </p:spPr>
        <p:txBody>
          <a:bodyPr anchor="b"/>
          <a:lstStyle>
            <a:lvl1pPr>
              <a:defRPr sz="6000"/>
            </a:lvl1pPr>
          </a:lstStyle>
          <a:p>
            <a:r>
              <a:rPr lang="en-US" altLang="ko-KR"/>
              <a:t>Click to edit Master title style</a:t>
            </a:r>
            <a:endParaRPr lang="ko-KR" altLang="en-US"/>
          </a:p>
        </p:txBody>
      </p:sp>
      <p:sp>
        <p:nvSpPr>
          <p:cNvPr id="3" name="Text Placeholder 2">
            <a:extLst>
              <a:ext uri="{FF2B5EF4-FFF2-40B4-BE49-F238E27FC236}">
                <a16:creationId xmlns:a16="http://schemas.microsoft.com/office/drawing/2014/main" id="{F4BC07F7-2ADC-941B-D0FA-16E95BA404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ko-KR"/>
              <a:t>Click to edit Master text styles</a:t>
            </a:r>
          </a:p>
        </p:txBody>
      </p:sp>
      <p:sp>
        <p:nvSpPr>
          <p:cNvPr id="4" name="Date Placeholder 3">
            <a:extLst>
              <a:ext uri="{FF2B5EF4-FFF2-40B4-BE49-F238E27FC236}">
                <a16:creationId xmlns:a16="http://schemas.microsoft.com/office/drawing/2014/main" id="{3CB81100-0538-83EE-1E5E-D929572812EE}"/>
              </a:ext>
            </a:extLst>
          </p:cNvPr>
          <p:cNvSpPr>
            <a:spLocks noGrp="1"/>
          </p:cNvSpPr>
          <p:nvPr>
            <p:ph type="dt" sz="half" idx="10"/>
          </p:nvPr>
        </p:nvSpPr>
        <p:spPr/>
        <p:txBody>
          <a:bodyPr/>
          <a:lstStyle/>
          <a:p>
            <a:fld id="{99943661-7FE4-4088-A523-BBA84C92434D}" type="datetimeFigureOut">
              <a:rPr lang="ko-KR" altLang="en-US" smtClean="0"/>
              <a:t>2026-03-26</a:t>
            </a:fld>
            <a:endParaRPr lang="ko-KR" altLang="en-US"/>
          </a:p>
        </p:txBody>
      </p:sp>
      <p:sp>
        <p:nvSpPr>
          <p:cNvPr id="5" name="Footer Placeholder 4">
            <a:extLst>
              <a:ext uri="{FF2B5EF4-FFF2-40B4-BE49-F238E27FC236}">
                <a16:creationId xmlns:a16="http://schemas.microsoft.com/office/drawing/2014/main" id="{7CBB132C-29D8-5207-449F-A443D0F13C8A}"/>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AD96C7AA-A5BF-A551-F945-892B02581515}"/>
              </a:ext>
            </a:extLst>
          </p:cNvPr>
          <p:cNvSpPr>
            <a:spLocks noGrp="1"/>
          </p:cNvSpPr>
          <p:nvPr>
            <p:ph type="sldNum" sz="quarter" idx="12"/>
          </p:nvPr>
        </p:nvSpPr>
        <p:spPr/>
        <p:txBody>
          <a:bodyPr/>
          <a:lstStyle/>
          <a:p>
            <a:fld id="{B20F65CC-4863-48CD-A726-9D6475EA33B5}" type="slidenum">
              <a:rPr lang="ko-KR" altLang="en-US" smtClean="0"/>
              <a:t>‹#›</a:t>
            </a:fld>
            <a:endParaRPr lang="ko-KR" altLang="en-US"/>
          </a:p>
        </p:txBody>
      </p:sp>
    </p:spTree>
    <p:extLst>
      <p:ext uri="{BB962C8B-B14F-4D97-AF65-F5344CB8AC3E}">
        <p14:creationId xmlns:p14="http://schemas.microsoft.com/office/powerpoint/2010/main" val="4121535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B1EA0-3A80-1ED1-B438-BA8468EDA786}"/>
              </a:ext>
            </a:extLst>
          </p:cNvPr>
          <p:cNvSpPr>
            <a:spLocks noGrp="1"/>
          </p:cNvSpPr>
          <p:nvPr>
            <p:ph type="title"/>
          </p:nvPr>
        </p:nvSpPr>
        <p:spPr/>
        <p:txBody>
          <a:bodyPr/>
          <a:lstStyle/>
          <a:p>
            <a:r>
              <a:rPr lang="en-US" altLang="ko-KR"/>
              <a:t>Click to edit Master title style</a:t>
            </a:r>
            <a:endParaRPr lang="ko-KR" altLang="en-US"/>
          </a:p>
        </p:txBody>
      </p:sp>
      <p:sp>
        <p:nvSpPr>
          <p:cNvPr id="3" name="Content Placeholder 2">
            <a:extLst>
              <a:ext uri="{FF2B5EF4-FFF2-40B4-BE49-F238E27FC236}">
                <a16:creationId xmlns:a16="http://schemas.microsoft.com/office/drawing/2014/main" id="{0596B108-74EE-2988-39CA-3340A356763D}"/>
              </a:ext>
            </a:extLst>
          </p:cNvPr>
          <p:cNvSpPr>
            <a:spLocks noGrp="1"/>
          </p:cNvSpPr>
          <p:nvPr>
            <p:ph sz="half" idx="1"/>
          </p:nvPr>
        </p:nvSpPr>
        <p:spPr>
          <a:xfrm>
            <a:off x="838200" y="1825625"/>
            <a:ext cx="5181600" cy="435133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Content Placeholder 3">
            <a:extLst>
              <a:ext uri="{FF2B5EF4-FFF2-40B4-BE49-F238E27FC236}">
                <a16:creationId xmlns:a16="http://schemas.microsoft.com/office/drawing/2014/main" id="{94E6705C-D534-B962-C71C-8274EA1CB1A8}"/>
              </a:ext>
            </a:extLst>
          </p:cNvPr>
          <p:cNvSpPr>
            <a:spLocks noGrp="1"/>
          </p:cNvSpPr>
          <p:nvPr>
            <p:ph sz="half" idx="2"/>
          </p:nvPr>
        </p:nvSpPr>
        <p:spPr>
          <a:xfrm>
            <a:off x="6172200" y="1825625"/>
            <a:ext cx="5181600" cy="435133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5" name="Date Placeholder 4">
            <a:extLst>
              <a:ext uri="{FF2B5EF4-FFF2-40B4-BE49-F238E27FC236}">
                <a16:creationId xmlns:a16="http://schemas.microsoft.com/office/drawing/2014/main" id="{8B34626E-8EA7-2F75-AAA1-AFBB18FE567B}"/>
              </a:ext>
            </a:extLst>
          </p:cNvPr>
          <p:cNvSpPr>
            <a:spLocks noGrp="1"/>
          </p:cNvSpPr>
          <p:nvPr>
            <p:ph type="dt" sz="half" idx="10"/>
          </p:nvPr>
        </p:nvSpPr>
        <p:spPr/>
        <p:txBody>
          <a:bodyPr/>
          <a:lstStyle/>
          <a:p>
            <a:fld id="{99943661-7FE4-4088-A523-BBA84C92434D}" type="datetimeFigureOut">
              <a:rPr lang="ko-KR" altLang="en-US" smtClean="0"/>
              <a:t>2026-03-26</a:t>
            </a:fld>
            <a:endParaRPr lang="ko-KR" altLang="en-US"/>
          </a:p>
        </p:txBody>
      </p:sp>
      <p:sp>
        <p:nvSpPr>
          <p:cNvPr id="6" name="Footer Placeholder 5">
            <a:extLst>
              <a:ext uri="{FF2B5EF4-FFF2-40B4-BE49-F238E27FC236}">
                <a16:creationId xmlns:a16="http://schemas.microsoft.com/office/drawing/2014/main" id="{51656B66-BEC8-AE83-1633-6573ACE6449B}"/>
              </a:ext>
            </a:extLst>
          </p:cNvPr>
          <p:cNvSpPr>
            <a:spLocks noGrp="1"/>
          </p:cNvSpPr>
          <p:nvPr>
            <p:ph type="ftr" sz="quarter" idx="11"/>
          </p:nvPr>
        </p:nvSpPr>
        <p:spPr/>
        <p:txBody>
          <a:bodyPr/>
          <a:lstStyle/>
          <a:p>
            <a:endParaRPr lang="ko-KR" altLang="en-US"/>
          </a:p>
        </p:txBody>
      </p:sp>
      <p:sp>
        <p:nvSpPr>
          <p:cNvPr id="7" name="Slide Number Placeholder 6">
            <a:extLst>
              <a:ext uri="{FF2B5EF4-FFF2-40B4-BE49-F238E27FC236}">
                <a16:creationId xmlns:a16="http://schemas.microsoft.com/office/drawing/2014/main" id="{F03A4987-34DB-8B19-F1AF-AFD6F9FDB02B}"/>
              </a:ext>
            </a:extLst>
          </p:cNvPr>
          <p:cNvSpPr>
            <a:spLocks noGrp="1"/>
          </p:cNvSpPr>
          <p:nvPr>
            <p:ph type="sldNum" sz="quarter" idx="12"/>
          </p:nvPr>
        </p:nvSpPr>
        <p:spPr/>
        <p:txBody>
          <a:bodyPr/>
          <a:lstStyle/>
          <a:p>
            <a:fld id="{B20F65CC-4863-48CD-A726-9D6475EA33B5}" type="slidenum">
              <a:rPr lang="ko-KR" altLang="en-US" smtClean="0"/>
              <a:t>‹#›</a:t>
            </a:fld>
            <a:endParaRPr lang="ko-KR" altLang="en-US"/>
          </a:p>
        </p:txBody>
      </p:sp>
    </p:spTree>
    <p:extLst>
      <p:ext uri="{BB962C8B-B14F-4D97-AF65-F5344CB8AC3E}">
        <p14:creationId xmlns:p14="http://schemas.microsoft.com/office/powerpoint/2010/main" val="3073786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848-2AAB-817E-87BA-626557125347}"/>
              </a:ext>
            </a:extLst>
          </p:cNvPr>
          <p:cNvSpPr>
            <a:spLocks noGrp="1"/>
          </p:cNvSpPr>
          <p:nvPr>
            <p:ph type="title"/>
          </p:nvPr>
        </p:nvSpPr>
        <p:spPr>
          <a:xfrm>
            <a:off x="839788" y="365125"/>
            <a:ext cx="10515600" cy="1325563"/>
          </a:xfrm>
        </p:spPr>
        <p:txBody>
          <a:bodyPr/>
          <a:lstStyle/>
          <a:p>
            <a:r>
              <a:rPr lang="en-US" altLang="ko-KR"/>
              <a:t>Click to edit Master title style</a:t>
            </a:r>
            <a:endParaRPr lang="ko-KR" altLang="en-US"/>
          </a:p>
        </p:txBody>
      </p:sp>
      <p:sp>
        <p:nvSpPr>
          <p:cNvPr id="3" name="Text Placeholder 2">
            <a:extLst>
              <a:ext uri="{FF2B5EF4-FFF2-40B4-BE49-F238E27FC236}">
                <a16:creationId xmlns:a16="http://schemas.microsoft.com/office/drawing/2014/main" id="{AE546B56-CFC8-AC1A-724D-0480055202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4" name="Content Placeholder 3">
            <a:extLst>
              <a:ext uri="{FF2B5EF4-FFF2-40B4-BE49-F238E27FC236}">
                <a16:creationId xmlns:a16="http://schemas.microsoft.com/office/drawing/2014/main" id="{7786DCB1-4F9C-7E82-06BD-9641CE1D7A14}"/>
              </a:ext>
            </a:extLst>
          </p:cNvPr>
          <p:cNvSpPr>
            <a:spLocks noGrp="1"/>
          </p:cNvSpPr>
          <p:nvPr>
            <p:ph sz="half" idx="2"/>
          </p:nvPr>
        </p:nvSpPr>
        <p:spPr>
          <a:xfrm>
            <a:off x="839788" y="2505075"/>
            <a:ext cx="5157787" cy="368458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5" name="Text Placeholder 4">
            <a:extLst>
              <a:ext uri="{FF2B5EF4-FFF2-40B4-BE49-F238E27FC236}">
                <a16:creationId xmlns:a16="http://schemas.microsoft.com/office/drawing/2014/main" id="{814A51BD-1825-07CC-22D1-60242D0F46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6" name="Content Placeholder 5">
            <a:extLst>
              <a:ext uri="{FF2B5EF4-FFF2-40B4-BE49-F238E27FC236}">
                <a16:creationId xmlns:a16="http://schemas.microsoft.com/office/drawing/2014/main" id="{A1ED3A7D-3E14-5EB2-57F6-B10497657F52}"/>
              </a:ext>
            </a:extLst>
          </p:cNvPr>
          <p:cNvSpPr>
            <a:spLocks noGrp="1"/>
          </p:cNvSpPr>
          <p:nvPr>
            <p:ph sz="quarter" idx="4"/>
          </p:nvPr>
        </p:nvSpPr>
        <p:spPr>
          <a:xfrm>
            <a:off x="6172200" y="2505075"/>
            <a:ext cx="5183188" cy="368458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7" name="Date Placeholder 6">
            <a:extLst>
              <a:ext uri="{FF2B5EF4-FFF2-40B4-BE49-F238E27FC236}">
                <a16:creationId xmlns:a16="http://schemas.microsoft.com/office/drawing/2014/main" id="{3E514222-3023-784C-B682-D0C80FF271E0}"/>
              </a:ext>
            </a:extLst>
          </p:cNvPr>
          <p:cNvSpPr>
            <a:spLocks noGrp="1"/>
          </p:cNvSpPr>
          <p:nvPr>
            <p:ph type="dt" sz="half" idx="10"/>
          </p:nvPr>
        </p:nvSpPr>
        <p:spPr/>
        <p:txBody>
          <a:bodyPr/>
          <a:lstStyle/>
          <a:p>
            <a:fld id="{99943661-7FE4-4088-A523-BBA84C92434D}" type="datetimeFigureOut">
              <a:rPr lang="ko-KR" altLang="en-US" smtClean="0"/>
              <a:t>2026-03-26</a:t>
            </a:fld>
            <a:endParaRPr lang="ko-KR" altLang="en-US"/>
          </a:p>
        </p:txBody>
      </p:sp>
      <p:sp>
        <p:nvSpPr>
          <p:cNvPr id="8" name="Footer Placeholder 7">
            <a:extLst>
              <a:ext uri="{FF2B5EF4-FFF2-40B4-BE49-F238E27FC236}">
                <a16:creationId xmlns:a16="http://schemas.microsoft.com/office/drawing/2014/main" id="{9EB23597-4B01-19D3-E871-12F2AAF1DBB2}"/>
              </a:ext>
            </a:extLst>
          </p:cNvPr>
          <p:cNvSpPr>
            <a:spLocks noGrp="1"/>
          </p:cNvSpPr>
          <p:nvPr>
            <p:ph type="ftr" sz="quarter" idx="11"/>
          </p:nvPr>
        </p:nvSpPr>
        <p:spPr/>
        <p:txBody>
          <a:bodyPr/>
          <a:lstStyle/>
          <a:p>
            <a:endParaRPr lang="ko-KR" altLang="en-US"/>
          </a:p>
        </p:txBody>
      </p:sp>
      <p:sp>
        <p:nvSpPr>
          <p:cNvPr id="9" name="Slide Number Placeholder 8">
            <a:extLst>
              <a:ext uri="{FF2B5EF4-FFF2-40B4-BE49-F238E27FC236}">
                <a16:creationId xmlns:a16="http://schemas.microsoft.com/office/drawing/2014/main" id="{10BF7288-46D8-8726-9568-71FD52EE0AFA}"/>
              </a:ext>
            </a:extLst>
          </p:cNvPr>
          <p:cNvSpPr>
            <a:spLocks noGrp="1"/>
          </p:cNvSpPr>
          <p:nvPr>
            <p:ph type="sldNum" sz="quarter" idx="12"/>
          </p:nvPr>
        </p:nvSpPr>
        <p:spPr/>
        <p:txBody>
          <a:bodyPr/>
          <a:lstStyle/>
          <a:p>
            <a:fld id="{B20F65CC-4863-48CD-A726-9D6475EA33B5}" type="slidenum">
              <a:rPr lang="ko-KR" altLang="en-US" smtClean="0"/>
              <a:t>‹#›</a:t>
            </a:fld>
            <a:endParaRPr lang="ko-KR" altLang="en-US"/>
          </a:p>
        </p:txBody>
      </p:sp>
    </p:spTree>
    <p:extLst>
      <p:ext uri="{BB962C8B-B14F-4D97-AF65-F5344CB8AC3E}">
        <p14:creationId xmlns:p14="http://schemas.microsoft.com/office/powerpoint/2010/main" val="164426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53E0F-32BC-6DA9-DDD7-6E37E6C3C280}"/>
              </a:ext>
            </a:extLst>
          </p:cNvPr>
          <p:cNvSpPr>
            <a:spLocks noGrp="1"/>
          </p:cNvSpPr>
          <p:nvPr>
            <p:ph type="title"/>
          </p:nvPr>
        </p:nvSpPr>
        <p:spPr/>
        <p:txBody>
          <a:bodyPr/>
          <a:lstStyle/>
          <a:p>
            <a:r>
              <a:rPr lang="en-US" altLang="ko-KR"/>
              <a:t>Click to edit Master title style</a:t>
            </a:r>
            <a:endParaRPr lang="ko-KR" altLang="en-US"/>
          </a:p>
        </p:txBody>
      </p:sp>
      <p:sp>
        <p:nvSpPr>
          <p:cNvPr id="3" name="Date Placeholder 2">
            <a:extLst>
              <a:ext uri="{FF2B5EF4-FFF2-40B4-BE49-F238E27FC236}">
                <a16:creationId xmlns:a16="http://schemas.microsoft.com/office/drawing/2014/main" id="{24B5CDEA-46C3-C9BD-931C-C9D5B0EF2028}"/>
              </a:ext>
            </a:extLst>
          </p:cNvPr>
          <p:cNvSpPr>
            <a:spLocks noGrp="1"/>
          </p:cNvSpPr>
          <p:nvPr>
            <p:ph type="dt" sz="half" idx="10"/>
          </p:nvPr>
        </p:nvSpPr>
        <p:spPr/>
        <p:txBody>
          <a:bodyPr/>
          <a:lstStyle/>
          <a:p>
            <a:fld id="{99943661-7FE4-4088-A523-BBA84C92434D}" type="datetimeFigureOut">
              <a:rPr lang="ko-KR" altLang="en-US" smtClean="0"/>
              <a:t>2026-03-26</a:t>
            </a:fld>
            <a:endParaRPr lang="ko-KR" altLang="en-US"/>
          </a:p>
        </p:txBody>
      </p:sp>
      <p:sp>
        <p:nvSpPr>
          <p:cNvPr id="4" name="Footer Placeholder 3">
            <a:extLst>
              <a:ext uri="{FF2B5EF4-FFF2-40B4-BE49-F238E27FC236}">
                <a16:creationId xmlns:a16="http://schemas.microsoft.com/office/drawing/2014/main" id="{B830565C-D877-0C9C-0290-DCDF483184E0}"/>
              </a:ext>
            </a:extLst>
          </p:cNvPr>
          <p:cNvSpPr>
            <a:spLocks noGrp="1"/>
          </p:cNvSpPr>
          <p:nvPr>
            <p:ph type="ftr" sz="quarter" idx="11"/>
          </p:nvPr>
        </p:nvSpPr>
        <p:spPr/>
        <p:txBody>
          <a:bodyPr/>
          <a:lstStyle/>
          <a:p>
            <a:endParaRPr lang="ko-KR" altLang="en-US"/>
          </a:p>
        </p:txBody>
      </p:sp>
      <p:sp>
        <p:nvSpPr>
          <p:cNvPr id="5" name="Slide Number Placeholder 4">
            <a:extLst>
              <a:ext uri="{FF2B5EF4-FFF2-40B4-BE49-F238E27FC236}">
                <a16:creationId xmlns:a16="http://schemas.microsoft.com/office/drawing/2014/main" id="{EDBEEEBF-4D27-971D-5B6B-459CEC8453B4}"/>
              </a:ext>
            </a:extLst>
          </p:cNvPr>
          <p:cNvSpPr>
            <a:spLocks noGrp="1"/>
          </p:cNvSpPr>
          <p:nvPr>
            <p:ph type="sldNum" sz="quarter" idx="12"/>
          </p:nvPr>
        </p:nvSpPr>
        <p:spPr/>
        <p:txBody>
          <a:bodyPr/>
          <a:lstStyle/>
          <a:p>
            <a:fld id="{B20F65CC-4863-48CD-A726-9D6475EA33B5}" type="slidenum">
              <a:rPr lang="ko-KR" altLang="en-US" smtClean="0"/>
              <a:t>‹#›</a:t>
            </a:fld>
            <a:endParaRPr lang="ko-KR" altLang="en-US"/>
          </a:p>
        </p:txBody>
      </p:sp>
    </p:spTree>
    <p:extLst>
      <p:ext uri="{BB962C8B-B14F-4D97-AF65-F5344CB8AC3E}">
        <p14:creationId xmlns:p14="http://schemas.microsoft.com/office/powerpoint/2010/main" val="3124520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BC983E-DB74-216E-78F2-D4A023C8DD11}"/>
              </a:ext>
            </a:extLst>
          </p:cNvPr>
          <p:cNvSpPr>
            <a:spLocks noGrp="1"/>
          </p:cNvSpPr>
          <p:nvPr>
            <p:ph type="dt" sz="half" idx="10"/>
          </p:nvPr>
        </p:nvSpPr>
        <p:spPr/>
        <p:txBody>
          <a:bodyPr/>
          <a:lstStyle/>
          <a:p>
            <a:fld id="{99943661-7FE4-4088-A523-BBA84C92434D}" type="datetimeFigureOut">
              <a:rPr lang="ko-KR" altLang="en-US" smtClean="0"/>
              <a:t>2026-03-26</a:t>
            </a:fld>
            <a:endParaRPr lang="ko-KR" altLang="en-US"/>
          </a:p>
        </p:txBody>
      </p:sp>
      <p:sp>
        <p:nvSpPr>
          <p:cNvPr id="3" name="Footer Placeholder 2">
            <a:extLst>
              <a:ext uri="{FF2B5EF4-FFF2-40B4-BE49-F238E27FC236}">
                <a16:creationId xmlns:a16="http://schemas.microsoft.com/office/drawing/2014/main" id="{92E45010-DE43-0969-892F-3112F41DEF83}"/>
              </a:ext>
            </a:extLst>
          </p:cNvPr>
          <p:cNvSpPr>
            <a:spLocks noGrp="1"/>
          </p:cNvSpPr>
          <p:nvPr>
            <p:ph type="ftr" sz="quarter" idx="11"/>
          </p:nvPr>
        </p:nvSpPr>
        <p:spPr/>
        <p:txBody>
          <a:bodyPr/>
          <a:lstStyle/>
          <a:p>
            <a:endParaRPr lang="ko-KR" altLang="en-US"/>
          </a:p>
        </p:txBody>
      </p:sp>
      <p:sp>
        <p:nvSpPr>
          <p:cNvPr id="4" name="Slide Number Placeholder 3">
            <a:extLst>
              <a:ext uri="{FF2B5EF4-FFF2-40B4-BE49-F238E27FC236}">
                <a16:creationId xmlns:a16="http://schemas.microsoft.com/office/drawing/2014/main" id="{C74831B9-CDE6-145C-EC8A-DB4FF43D9EAE}"/>
              </a:ext>
            </a:extLst>
          </p:cNvPr>
          <p:cNvSpPr>
            <a:spLocks noGrp="1"/>
          </p:cNvSpPr>
          <p:nvPr>
            <p:ph type="sldNum" sz="quarter" idx="12"/>
          </p:nvPr>
        </p:nvSpPr>
        <p:spPr/>
        <p:txBody>
          <a:bodyPr/>
          <a:lstStyle/>
          <a:p>
            <a:fld id="{B20F65CC-4863-48CD-A726-9D6475EA33B5}" type="slidenum">
              <a:rPr lang="ko-KR" altLang="en-US" smtClean="0"/>
              <a:t>‹#›</a:t>
            </a:fld>
            <a:endParaRPr lang="ko-KR" altLang="en-US"/>
          </a:p>
        </p:txBody>
      </p:sp>
    </p:spTree>
    <p:extLst>
      <p:ext uri="{BB962C8B-B14F-4D97-AF65-F5344CB8AC3E}">
        <p14:creationId xmlns:p14="http://schemas.microsoft.com/office/powerpoint/2010/main" val="2024273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B84F2-5E8B-D315-7BF3-33F7553199E0}"/>
              </a:ext>
            </a:extLst>
          </p:cNvPr>
          <p:cNvSpPr>
            <a:spLocks noGrp="1"/>
          </p:cNvSpPr>
          <p:nvPr>
            <p:ph type="title"/>
          </p:nvPr>
        </p:nvSpPr>
        <p:spPr>
          <a:xfrm>
            <a:off x="839788" y="457200"/>
            <a:ext cx="3932237" cy="1600200"/>
          </a:xfrm>
        </p:spPr>
        <p:txBody>
          <a:bodyPr anchor="b"/>
          <a:lstStyle>
            <a:lvl1pPr>
              <a:defRPr sz="3200"/>
            </a:lvl1pPr>
          </a:lstStyle>
          <a:p>
            <a:r>
              <a:rPr lang="en-US" altLang="ko-KR"/>
              <a:t>Click to edit Master title style</a:t>
            </a:r>
            <a:endParaRPr lang="ko-KR" altLang="en-US"/>
          </a:p>
        </p:txBody>
      </p:sp>
      <p:sp>
        <p:nvSpPr>
          <p:cNvPr id="3" name="Content Placeholder 2">
            <a:extLst>
              <a:ext uri="{FF2B5EF4-FFF2-40B4-BE49-F238E27FC236}">
                <a16:creationId xmlns:a16="http://schemas.microsoft.com/office/drawing/2014/main" id="{92688A02-691E-F90F-9C75-9FDB024E58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Text Placeholder 3">
            <a:extLst>
              <a:ext uri="{FF2B5EF4-FFF2-40B4-BE49-F238E27FC236}">
                <a16:creationId xmlns:a16="http://schemas.microsoft.com/office/drawing/2014/main" id="{6CE64A7D-73A0-25BA-4215-39FCF3707F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ko-KR"/>
              <a:t>Click to edit Master text styles</a:t>
            </a:r>
          </a:p>
        </p:txBody>
      </p:sp>
      <p:sp>
        <p:nvSpPr>
          <p:cNvPr id="5" name="Date Placeholder 4">
            <a:extLst>
              <a:ext uri="{FF2B5EF4-FFF2-40B4-BE49-F238E27FC236}">
                <a16:creationId xmlns:a16="http://schemas.microsoft.com/office/drawing/2014/main" id="{CBAF604B-A3DE-BC60-7797-B98A4CDE66F3}"/>
              </a:ext>
            </a:extLst>
          </p:cNvPr>
          <p:cNvSpPr>
            <a:spLocks noGrp="1"/>
          </p:cNvSpPr>
          <p:nvPr>
            <p:ph type="dt" sz="half" idx="10"/>
          </p:nvPr>
        </p:nvSpPr>
        <p:spPr/>
        <p:txBody>
          <a:bodyPr/>
          <a:lstStyle/>
          <a:p>
            <a:fld id="{99943661-7FE4-4088-A523-BBA84C92434D}" type="datetimeFigureOut">
              <a:rPr lang="ko-KR" altLang="en-US" smtClean="0"/>
              <a:t>2026-03-26</a:t>
            </a:fld>
            <a:endParaRPr lang="ko-KR" altLang="en-US"/>
          </a:p>
        </p:txBody>
      </p:sp>
      <p:sp>
        <p:nvSpPr>
          <p:cNvPr id="6" name="Footer Placeholder 5">
            <a:extLst>
              <a:ext uri="{FF2B5EF4-FFF2-40B4-BE49-F238E27FC236}">
                <a16:creationId xmlns:a16="http://schemas.microsoft.com/office/drawing/2014/main" id="{8A0706C4-8038-CD2D-3993-AF66A64796C3}"/>
              </a:ext>
            </a:extLst>
          </p:cNvPr>
          <p:cNvSpPr>
            <a:spLocks noGrp="1"/>
          </p:cNvSpPr>
          <p:nvPr>
            <p:ph type="ftr" sz="quarter" idx="11"/>
          </p:nvPr>
        </p:nvSpPr>
        <p:spPr/>
        <p:txBody>
          <a:bodyPr/>
          <a:lstStyle/>
          <a:p>
            <a:endParaRPr lang="ko-KR" altLang="en-US"/>
          </a:p>
        </p:txBody>
      </p:sp>
      <p:sp>
        <p:nvSpPr>
          <p:cNvPr id="7" name="Slide Number Placeholder 6">
            <a:extLst>
              <a:ext uri="{FF2B5EF4-FFF2-40B4-BE49-F238E27FC236}">
                <a16:creationId xmlns:a16="http://schemas.microsoft.com/office/drawing/2014/main" id="{9F3DE703-150C-B667-6459-980F58BA0332}"/>
              </a:ext>
            </a:extLst>
          </p:cNvPr>
          <p:cNvSpPr>
            <a:spLocks noGrp="1"/>
          </p:cNvSpPr>
          <p:nvPr>
            <p:ph type="sldNum" sz="quarter" idx="12"/>
          </p:nvPr>
        </p:nvSpPr>
        <p:spPr/>
        <p:txBody>
          <a:bodyPr/>
          <a:lstStyle/>
          <a:p>
            <a:fld id="{B20F65CC-4863-48CD-A726-9D6475EA33B5}" type="slidenum">
              <a:rPr lang="ko-KR" altLang="en-US" smtClean="0"/>
              <a:t>‹#›</a:t>
            </a:fld>
            <a:endParaRPr lang="ko-KR" altLang="en-US"/>
          </a:p>
        </p:txBody>
      </p:sp>
    </p:spTree>
    <p:extLst>
      <p:ext uri="{BB962C8B-B14F-4D97-AF65-F5344CB8AC3E}">
        <p14:creationId xmlns:p14="http://schemas.microsoft.com/office/powerpoint/2010/main" val="3274044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83EFF-E653-7DA2-CA1F-C427144C414A}"/>
              </a:ext>
            </a:extLst>
          </p:cNvPr>
          <p:cNvSpPr>
            <a:spLocks noGrp="1"/>
          </p:cNvSpPr>
          <p:nvPr>
            <p:ph type="title"/>
          </p:nvPr>
        </p:nvSpPr>
        <p:spPr>
          <a:xfrm>
            <a:off x="839788" y="457200"/>
            <a:ext cx="3932237" cy="1600200"/>
          </a:xfrm>
        </p:spPr>
        <p:txBody>
          <a:bodyPr anchor="b"/>
          <a:lstStyle>
            <a:lvl1pPr>
              <a:defRPr sz="3200"/>
            </a:lvl1pPr>
          </a:lstStyle>
          <a:p>
            <a:r>
              <a:rPr lang="en-US" altLang="ko-KR"/>
              <a:t>Click to edit Master title style</a:t>
            </a:r>
            <a:endParaRPr lang="ko-KR" altLang="en-US"/>
          </a:p>
        </p:txBody>
      </p:sp>
      <p:sp>
        <p:nvSpPr>
          <p:cNvPr id="3" name="Picture Placeholder 2">
            <a:extLst>
              <a:ext uri="{FF2B5EF4-FFF2-40B4-BE49-F238E27FC236}">
                <a16:creationId xmlns:a16="http://schemas.microsoft.com/office/drawing/2014/main" id="{1BCCD82E-8791-0743-D784-66DB2DF688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Text Placeholder 3">
            <a:extLst>
              <a:ext uri="{FF2B5EF4-FFF2-40B4-BE49-F238E27FC236}">
                <a16:creationId xmlns:a16="http://schemas.microsoft.com/office/drawing/2014/main" id="{E6903863-68B5-85E6-4218-074CBAADDA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ko-KR"/>
              <a:t>Click to edit Master text styles</a:t>
            </a:r>
          </a:p>
        </p:txBody>
      </p:sp>
      <p:sp>
        <p:nvSpPr>
          <p:cNvPr id="5" name="Date Placeholder 4">
            <a:extLst>
              <a:ext uri="{FF2B5EF4-FFF2-40B4-BE49-F238E27FC236}">
                <a16:creationId xmlns:a16="http://schemas.microsoft.com/office/drawing/2014/main" id="{96A0A9A8-573A-1FFA-6066-3CC28C76BD10}"/>
              </a:ext>
            </a:extLst>
          </p:cNvPr>
          <p:cNvSpPr>
            <a:spLocks noGrp="1"/>
          </p:cNvSpPr>
          <p:nvPr>
            <p:ph type="dt" sz="half" idx="10"/>
          </p:nvPr>
        </p:nvSpPr>
        <p:spPr/>
        <p:txBody>
          <a:bodyPr/>
          <a:lstStyle/>
          <a:p>
            <a:fld id="{99943661-7FE4-4088-A523-BBA84C92434D}" type="datetimeFigureOut">
              <a:rPr lang="ko-KR" altLang="en-US" smtClean="0"/>
              <a:t>2026-03-26</a:t>
            </a:fld>
            <a:endParaRPr lang="ko-KR" altLang="en-US"/>
          </a:p>
        </p:txBody>
      </p:sp>
      <p:sp>
        <p:nvSpPr>
          <p:cNvPr id="6" name="Footer Placeholder 5">
            <a:extLst>
              <a:ext uri="{FF2B5EF4-FFF2-40B4-BE49-F238E27FC236}">
                <a16:creationId xmlns:a16="http://schemas.microsoft.com/office/drawing/2014/main" id="{10A96E00-9E14-E0F3-281B-5B74895CE9A6}"/>
              </a:ext>
            </a:extLst>
          </p:cNvPr>
          <p:cNvSpPr>
            <a:spLocks noGrp="1"/>
          </p:cNvSpPr>
          <p:nvPr>
            <p:ph type="ftr" sz="quarter" idx="11"/>
          </p:nvPr>
        </p:nvSpPr>
        <p:spPr/>
        <p:txBody>
          <a:bodyPr/>
          <a:lstStyle/>
          <a:p>
            <a:endParaRPr lang="ko-KR" altLang="en-US"/>
          </a:p>
        </p:txBody>
      </p:sp>
      <p:sp>
        <p:nvSpPr>
          <p:cNvPr id="7" name="Slide Number Placeholder 6">
            <a:extLst>
              <a:ext uri="{FF2B5EF4-FFF2-40B4-BE49-F238E27FC236}">
                <a16:creationId xmlns:a16="http://schemas.microsoft.com/office/drawing/2014/main" id="{ECF514F0-F1A7-313E-06CE-FD09D9B884AB}"/>
              </a:ext>
            </a:extLst>
          </p:cNvPr>
          <p:cNvSpPr>
            <a:spLocks noGrp="1"/>
          </p:cNvSpPr>
          <p:nvPr>
            <p:ph type="sldNum" sz="quarter" idx="12"/>
          </p:nvPr>
        </p:nvSpPr>
        <p:spPr/>
        <p:txBody>
          <a:bodyPr/>
          <a:lstStyle/>
          <a:p>
            <a:fld id="{B20F65CC-4863-48CD-A726-9D6475EA33B5}" type="slidenum">
              <a:rPr lang="ko-KR" altLang="en-US" smtClean="0"/>
              <a:t>‹#›</a:t>
            </a:fld>
            <a:endParaRPr lang="ko-KR" altLang="en-US"/>
          </a:p>
        </p:txBody>
      </p:sp>
    </p:spTree>
    <p:extLst>
      <p:ext uri="{BB962C8B-B14F-4D97-AF65-F5344CB8AC3E}">
        <p14:creationId xmlns:p14="http://schemas.microsoft.com/office/powerpoint/2010/main" val="1453299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7F5D1-62BE-FADA-3DCF-6B81BA006B6A}"/>
              </a:ext>
            </a:extLst>
          </p:cNvPr>
          <p:cNvSpPr>
            <a:spLocks noGrp="1"/>
          </p:cNvSpPr>
          <p:nvPr>
            <p:ph type="title"/>
          </p:nvPr>
        </p:nvSpPr>
        <p:spPr/>
        <p:txBody>
          <a:bodyPr/>
          <a:lstStyle/>
          <a:p>
            <a:r>
              <a:rPr lang="en-US" altLang="ko-KR"/>
              <a:t>Click to edit Master title style</a:t>
            </a:r>
            <a:endParaRPr lang="ko-KR" altLang="en-US"/>
          </a:p>
        </p:txBody>
      </p:sp>
      <p:sp>
        <p:nvSpPr>
          <p:cNvPr id="3" name="Vertical Text Placeholder 2">
            <a:extLst>
              <a:ext uri="{FF2B5EF4-FFF2-40B4-BE49-F238E27FC236}">
                <a16:creationId xmlns:a16="http://schemas.microsoft.com/office/drawing/2014/main" id="{F508376A-D558-F5A4-3299-2757525F4347}"/>
              </a:ext>
            </a:extLst>
          </p:cNvPr>
          <p:cNvSpPr>
            <a:spLocks noGrp="1"/>
          </p:cNvSpPr>
          <p:nvPr>
            <p:ph type="body" orient="vert" idx="1"/>
          </p:nvPr>
        </p:nvSpPr>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a:extLst>
              <a:ext uri="{FF2B5EF4-FFF2-40B4-BE49-F238E27FC236}">
                <a16:creationId xmlns:a16="http://schemas.microsoft.com/office/drawing/2014/main" id="{0951E4E3-A09A-C262-A6AE-835E16F5AB53}"/>
              </a:ext>
            </a:extLst>
          </p:cNvPr>
          <p:cNvSpPr>
            <a:spLocks noGrp="1"/>
          </p:cNvSpPr>
          <p:nvPr>
            <p:ph type="dt" sz="half" idx="10"/>
          </p:nvPr>
        </p:nvSpPr>
        <p:spPr/>
        <p:txBody>
          <a:bodyPr/>
          <a:lstStyle/>
          <a:p>
            <a:fld id="{99943661-7FE4-4088-A523-BBA84C92434D}" type="datetimeFigureOut">
              <a:rPr lang="ko-KR" altLang="en-US" smtClean="0"/>
              <a:t>2026-03-26</a:t>
            </a:fld>
            <a:endParaRPr lang="ko-KR" altLang="en-US"/>
          </a:p>
        </p:txBody>
      </p:sp>
      <p:sp>
        <p:nvSpPr>
          <p:cNvPr id="5" name="Footer Placeholder 4">
            <a:extLst>
              <a:ext uri="{FF2B5EF4-FFF2-40B4-BE49-F238E27FC236}">
                <a16:creationId xmlns:a16="http://schemas.microsoft.com/office/drawing/2014/main" id="{545CACA8-2A5D-FA6D-EE55-D34927F06947}"/>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0F94A84C-EFF6-9D35-46E3-5AED96007771}"/>
              </a:ext>
            </a:extLst>
          </p:cNvPr>
          <p:cNvSpPr>
            <a:spLocks noGrp="1"/>
          </p:cNvSpPr>
          <p:nvPr>
            <p:ph type="sldNum" sz="quarter" idx="12"/>
          </p:nvPr>
        </p:nvSpPr>
        <p:spPr/>
        <p:txBody>
          <a:bodyPr/>
          <a:lstStyle/>
          <a:p>
            <a:fld id="{B20F65CC-4863-48CD-A726-9D6475EA33B5}" type="slidenum">
              <a:rPr lang="ko-KR" altLang="en-US" smtClean="0"/>
              <a:t>‹#›</a:t>
            </a:fld>
            <a:endParaRPr lang="ko-KR" altLang="en-US"/>
          </a:p>
        </p:txBody>
      </p:sp>
    </p:spTree>
    <p:extLst>
      <p:ext uri="{BB962C8B-B14F-4D97-AF65-F5344CB8AC3E}">
        <p14:creationId xmlns:p14="http://schemas.microsoft.com/office/powerpoint/2010/main" val="923291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E9EB4E-4DA4-017F-0F23-117C8419F6E1}"/>
              </a:ext>
            </a:extLst>
          </p:cNvPr>
          <p:cNvSpPr>
            <a:spLocks noGrp="1"/>
          </p:cNvSpPr>
          <p:nvPr>
            <p:ph type="title" orient="vert"/>
          </p:nvPr>
        </p:nvSpPr>
        <p:spPr>
          <a:xfrm>
            <a:off x="8724900" y="365125"/>
            <a:ext cx="2628900" cy="5811838"/>
          </a:xfrm>
        </p:spPr>
        <p:txBody>
          <a:bodyPr vert="eaVert"/>
          <a:lstStyle/>
          <a:p>
            <a:r>
              <a:rPr lang="en-US" altLang="ko-KR"/>
              <a:t>Click to edit Master title style</a:t>
            </a:r>
            <a:endParaRPr lang="ko-KR" altLang="en-US"/>
          </a:p>
        </p:txBody>
      </p:sp>
      <p:sp>
        <p:nvSpPr>
          <p:cNvPr id="3" name="Vertical Text Placeholder 2">
            <a:extLst>
              <a:ext uri="{FF2B5EF4-FFF2-40B4-BE49-F238E27FC236}">
                <a16:creationId xmlns:a16="http://schemas.microsoft.com/office/drawing/2014/main" id="{362AE3BF-9581-B44B-BA73-72E949B07E2E}"/>
              </a:ext>
            </a:extLst>
          </p:cNvPr>
          <p:cNvSpPr>
            <a:spLocks noGrp="1"/>
          </p:cNvSpPr>
          <p:nvPr>
            <p:ph type="body" orient="vert" idx="1"/>
          </p:nvPr>
        </p:nvSpPr>
        <p:spPr>
          <a:xfrm>
            <a:off x="838200" y="365125"/>
            <a:ext cx="7734300" cy="5811838"/>
          </a:xfrm>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a:extLst>
              <a:ext uri="{FF2B5EF4-FFF2-40B4-BE49-F238E27FC236}">
                <a16:creationId xmlns:a16="http://schemas.microsoft.com/office/drawing/2014/main" id="{F8AF3920-FE81-3B8A-F01F-9F5B62FE8B87}"/>
              </a:ext>
            </a:extLst>
          </p:cNvPr>
          <p:cNvSpPr>
            <a:spLocks noGrp="1"/>
          </p:cNvSpPr>
          <p:nvPr>
            <p:ph type="dt" sz="half" idx="10"/>
          </p:nvPr>
        </p:nvSpPr>
        <p:spPr/>
        <p:txBody>
          <a:bodyPr/>
          <a:lstStyle/>
          <a:p>
            <a:fld id="{99943661-7FE4-4088-A523-BBA84C92434D}" type="datetimeFigureOut">
              <a:rPr lang="ko-KR" altLang="en-US" smtClean="0"/>
              <a:t>2026-03-26</a:t>
            </a:fld>
            <a:endParaRPr lang="ko-KR" altLang="en-US"/>
          </a:p>
        </p:txBody>
      </p:sp>
      <p:sp>
        <p:nvSpPr>
          <p:cNvPr id="5" name="Footer Placeholder 4">
            <a:extLst>
              <a:ext uri="{FF2B5EF4-FFF2-40B4-BE49-F238E27FC236}">
                <a16:creationId xmlns:a16="http://schemas.microsoft.com/office/drawing/2014/main" id="{398D405A-C352-F81A-E7E7-E2D0EB88D840}"/>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4B6BA364-0713-D7A4-BF74-A9B41C23727B}"/>
              </a:ext>
            </a:extLst>
          </p:cNvPr>
          <p:cNvSpPr>
            <a:spLocks noGrp="1"/>
          </p:cNvSpPr>
          <p:nvPr>
            <p:ph type="sldNum" sz="quarter" idx="12"/>
          </p:nvPr>
        </p:nvSpPr>
        <p:spPr/>
        <p:txBody>
          <a:bodyPr/>
          <a:lstStyle/>
          <a:p>
            <a:fld id="{B20F65CC-4863-48CD-A726-9D6475EA33B5}" type="slidenum">
              <a:rPr lang="ko-KR" altLang="en-US" smtClean="0"/>
              <a:t>‹#›</a:t>
            </a:fld>
            <a:endParaRPr lang="ko-KR" altLang="en-US"/>
          </a:p>
        </p:txBody>
      </p:sp>
    </p:spTree>
    <p:extLst>
      <p:ext uri="{BB962C8B-B14F-4D97-AF65-F5344CB8AC3E}">
        <p14:creationId xmlns:p14="http://schemas.microsoft.com/office/powerpoint/2010/main" val="3781261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CC8C3F-3C7A-3A67-97BE-784E0830D9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ko-KR"/>
              <a:t>Click to edit Master title style</a:t>
            </a:r>
            <a:endParaRPr lang="ko-KR" altLang="en-US"/>
          </a:p>
        </p:txBody>
      </p:sp>
      <p:sp>
        <p:nvSpPr>
          <p:cNvPr id="3" name="Text Placeholder 2">
            <a:extLst>
              <a:ext uri="{FF2B5EF4-FFF2-40B4-BE49-F238E27FC236}">
                <a16:creationId xmlns:a16="http://schemas.microsoft.com/office/drawing/2014/main" id="{ED83C26E-2BBD-E374-D823-52A31DA8EA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a:extLst>
              <a:ext uri="{FF2B5EF4-FFF2-40B4-BE49-F238E27FC236}">
                <a16:creationId xmlns:a16="http://schemas.microsoft.com/office/drawing/2014/main" id="{0BE82460-F3E7-3666-0B24-8A70058208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943661-7FE4-4088-A523-BBA84C92434D}" type="datetimeFigureOut">
              <a:rPr lang="ko-KR" altLang="en-US" smtClean="0"/>
              <a:t>2026-03-26</a:t>
            </a:fld>
            <a:endParaRPr lang="ko-KR" altLang="en-US"/>
          </a:p>
        </p:txBody>
      </p:sp>
      <p:sp>
        <p:nvSpPr>
          <p:cNvPr id="5" name="Footer Placeholder 4">
            <a:extLst>
              <a:ext uri="{FF2B5EF4-FFF2-40B4-BE49-F238E27FC236}">
                <a16:creationId xmlns:a16="http://schemas.microsoft.com/office/drawing/2014/main" id="{78865999-7902-C49E-CA1A-8C6FE9B448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Slide Number Placeholder 5">
            <a:extLst>
              <a:ext uri="{FF2B5EF4-FFF2-40B4-BE49-F238E27FC236}">
                <a16:creationId xmlns:a16="http://schemas.microsoft.com/office/drawing/2014/main" id="{B8CF753A-960A-C3D2-9A9F-81007AC824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0F65CC-4863-48CD-A726-9D6475EA33B5}" type="slidenum">
              <a:rPr lang="ko-KR" altLang="en-US" smtClean="0"/>
              <a:t>‹#›</a:t>
            </a:fld>
            <a:endParaRPr lang="ko-KR" altLang="en-US"/>
          </a:p>
        </p:txBody>
      </p:sp>
    </p:spTree>
    <p:extLst>
      <p:ext uri="{BB962C8B-B14F-4D97-AF65-F5344CB8AC3E}">
        <p14:creationId xmlns:p14="http://schemas.microsoft.com/office/powerpoint/2010/main" val="3384448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0F400-2269-A8B4-28A8-3E73CA7FEF54}"/>
              </a:ext>
            </a:extLst>
          </p:cNvPr>
          <p:cNvSpPr>
            <a:spLocks noGrp="1"/>
          </p:cNvSpPr>
          <p:nvPr>
            <p:ph type="ctrTitle"/>
          </p:nvPr>
        </p:nvSpPr>
        <p:spPr/>
        <p:txBody>
          <a:bodyPr/>
          <a:lstStyle/>
          <a:p>
            <a:r>
              <a:rPr lang="en-US" altLang="ko-KR" dirty="0"/>
              <a:t>Week 4</a:t>
            </a:r>
            <a:endParaRPr lang="ko-KR" altLang="en-US" dirty="0"/>
          </a:p>
        </p:txBody>
      </p:sp>
      <p:sp>
        <p:nvSpPr>
          <p:cNvPr id="3" name="Subtitle 2">
            <a:extLst>
              <a:ext uri="{FF2B5EF4-FFF2-40B4-BE49-F238E27FC236}">
                <a16:creationId xmlns:a16="http://schemas.microsoft.com/office/drawing/2014/main" id="{5C845C85-1D56-83B2-634E-BAF6B42DDD17}"/>
              </a:ext>
            </a:extLst>
          </p:cNvPr>
          <p:cNvSpPr>
            <a:spLocks noGrp="1"/>
          </p:cNvSpPr>
          <p:nvPr>
            <p:ph type="subTitle" idx="1"/>
          </p:nvPr>
        </p:nvSpPr>
        <p:spPr/>
        <p:txBody>
          <a:bodyPr>
            <a:normAutofit/>
          </a:bodyPr>
          <a:lstStyle/>
          <a:p>
            <a:r>
              <a:rPr lang="en-US" altLang="ko-KR" sz="3600" b="1" dirty="0"/>
              <a:t>Key Blockchain Use Cases</a:t>
            </a:r>
            <a:endParaRPr lang="ko-KR" altLang="en-US" sz="3600" b="1" dirty="0"/>
          </a:p>
        </p:txBody>
      </p:sp>
    </p:spTree>
    <p:extLst>
      <p:ext uri="{BB962C8B-B14F-4D97-AF65-F5344CB8AC3E}">
        <p14:creationId xmlns:p14="http://schemas.microsoft.com/office/powerpoint/2010/main" val="1067544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9B358-109F-DD6E-0299-FAEAAACB38EF}"/>
              </a:ext>
            </a:extLst>
          </p:cNvPr>
          <p:cNvSpPr>
            <a:spLocks noGrp="1"/>
          </p:cNvSpPr>
          <p:nvPr>
            <p:ph type="title"/>
          </p:nvPr>
        </p:nvSpPr>
        <p:spPr/>
        <p:txBody>
          <a:bodyPr/>
          <a:lstStyle/>
          <a:p>
            <a:r>
              <a:rPr lang="en-US" altLang="ko-KR" dirty="0"/>
              <a:t>Blockchain two fundamental categories</a:t>
            </a:r>
            <a:endParaRPr lang="ko-KR" altLang="en-US" dirty="0"/>
          </a:p>
        </p:txBody>
      </p:sp>
      <p:sp>
        <p:nvSpPr>
          <p:cNvPr id="3" name="Content Placeholder 2">
            <a:extLst>
              <a:ext uri="{FF2B5EF4-FFF2-40B4-BE49-F238E27FC236}">
                <a16:creationId xmlns:a16="http://schemas.microsoft.com/office/drawing/2014/main" id="{0F0CEF40-63CA-ADBB-D114-7107132A8F9F}"/>
              </a:ext>
            </a:extLst>
          </p:cNvPr>
          <p:cNvSpPr>
            <a:spLocks noGrp="1"/>
          </p:cNvSpPr>
          <p:nvPr>
            <p:ph idx="1"/>
          </p:nvPr>
        </p:nvSpPr>
        <p:spPr/>
        <p:txBody>
          <a:bodyPr>
            <a:normAutofit lnSpcReduction="10000"/>
          </a:bodyPr>
          <a:lstStyle/>
          <a:p>
            <a:r>
              <a:rPr lang="en-US" altLang="ko-KR" dirty="0"/>
              <a:t>Blockchain use cases fall into two fundamental categories: </a:t>
            </a:r>
            <a:r>
              <a:rPr lang="en-US" altLang="ko-KR" b="1" dirty="0"/>
              <a:t>record keeping</a:t>
            </a:r>
            <a:r>
              <a:rPr lang="en-US" altLang="ko-KR" dirty="0"/>
              <a:t>, static registries of data about highly valuable assets, and </a:t>
            </a:r>
            <a:r>
              <a:rPr lang="en-US" altLang="ko-KR" b="1" dirty="0"/>
              <a:t>transactions</a:t>
            </a:r>
            <a:r>
              <a:rPr lang="en-US" altLang="ko-KR" dirty="0"/>
              <a:t>, dynamic registries of the exchange of tradeable assets:</a:t>
            </a:r>
          </a:p>
          <a:p>
            <a:r>
              <a:rPr lang="en-US" altLang="ko-KR" dirty="0"/>
              <a:t>Record keeping use cases include the long-term safeguarding of data on valuable physical and digital assets, keeping track of identity-related information about individuals and executable smart contracts based on pre-defined conditions.</a:t>
            </a:r>
          </a:p>
          <a:p>
            <a:r>
              <a:rPr lang="en-US" altLang="ko-KR" dirty="0"/>
              <a:t>Transaction use cases include keeping track of data about </a:t>
            </a:r>
            <a:r>
              <a:rPr lang="en-US" altLang="ko-KR" dirty="0" err="1"/>
              <a:t>fre</a:t>
            </a:r>
            <a:r>
              <a:rPr lang="en-US" altLang="ko-KR" dirty="0"/>
              <a:t> </a:t>
            </a:r>
            <a:r>
              <a:rPr lang="en-US" altLang="ko-KR" dirty="0" err="1"/>
              <a:t>quently</a:t>
            </a:r>
            <a:r>
              <a:rPr lang="en-US" altLang="ko-KR" dirty="0"/>
              <a:t> exchanged assets, near-real-time digital payments, and emerging digital assets.</a:t>
            </a:r>
            <a:endParaRPr lang="ko-KR" altLang="en-US" dirty="0"/>
          </a:p>
        </p:txBody>
      </p:sp>
    </p:spTree>
    <p:extLst>
      <p:ext uri="{BB962C8B-B14F-4D97-AF65-F5344CB8AC3E}">
        <p14:creationId xmlns:p14="http://schemas.microsoft.com/office/powerpoint/2010/main" val="2108133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182C5-8744-C8E8-099B-12BFDB4DFFCB}"/>
              </a:ext>
            </a:extLst>
          </p:cNvPr>
          <p:cNvSpPr>
            <a:spLocks noGrp="1"/>
          </p:cNvSpPr>
          <p:nvPr>
            <p:ph type="title"/>
          </p:nvPr>
        </p:nvSpPr>
        <p:spPr/>
        <p:txBody>
          <a:bodyPr/>
          <a:lstStyle/>
          <a:p>
            <a:r>
              <a:rPr lang="en-US" altLang="ko-KR" b="1" dirty="0"/>
              <a:t>Record keeping</a:t>
            </a:r>
            <a:endParaRPr lang="ko-KR" altLang="en-US" dirty="0"/>
          </a:p>
        </p:txBody>
      </p:sp>
      <p:sp>
        <p:nvSpPr>
          <p:cNvPr id="3" name="Content Placeholder 2">
            <a:extLst>
              <a:ext uri="{FF2B5EF4-FFF2-40B4-BE49-F238E27FC236}">
                <a16:creationId xmlns:a16="http://schemas.microsoft.com/office/drawing/2014/main" id="{96CA11FA-40FF-CF73-D777-2AE23624FEFE}"/>
              </a:ext>
            </a:extLst>
          </p:cNvPr>
          <p:cNvSpPr>
            <a:spLocks noGrp="1"/>
          </p:cNvSpPr>
          <p:nvPr>
            <p:ph idx="1"/>
          </p:nvPr>
        </p:nvSpPr>
        <p:spPr/>
        <p:txBody>
          <a:bodyPr>
            <a:normAutofit fontScale="85000" lnSpcReduction="20000"/>
          </a:bodyPr>
          <a:lstStyle/>
          <a:p>
            <a:pPr marL="0" indent="0">
              <a:buNone/>
            </a:pPr>
            <a:r>
              <a:rPr lang="en-US" altLang="ko-KR" dirty="0"/>
              <a:t>Record keeping means </a:t>
            </a:r>
            <a:r>
              <a:rPr lang="en-US" altLang="ko-KR" b="1" dirty="0"/>
              <a:t>storing important information safely for a long time</a:t>
            </a:r>
            <a:r>
              <a:rPr lang="en-US" altLang="ko-KR" dirty="0"/>
              <a:t> so it cannot be changed, lost, or faked. It is like keeping a permanent notebook of truth.</a:t>
            </a:r>
          </a:p>
          <a:p>
            <a:pPr marL="0" indent="0">
              <a:buNone/>
            </a:pPr>
            <a:endParaRPr lang="en-US" altLang="ko-KR" dirty="0"/>
          </a:p>
          <a:p>
            <a:pPr marL="0" indent="0">
              <a:buNone/>
            </a:pPr>
            <a:r>
              <a:rPr lang="en-US" altLang="ko-KR" b="1" dirty="0"/>
              <a:t>Daily life example </a:t>
            </a:r>
            <a:endParaRPr lang="ko-KR" altLang="en-US" b="1" dirty="0"/>
          </a:p>
          <a:p>
            <a:r>
              <a:rPr lang="en-US" altLang="ko-KR" b="1" dirty="0"/>
              <a:t>Property record:</a:t>
            </a:r>
            <a:r>
              <a:rPr lang="en-US" altLang="ko-KR" dirty="0"/>
              <a:t> Government keeps a land registry showing who owns a house or land.</a:t>
            </a:r>
            <a:br>
              <a:rPr lang="en-US" altLang="ko-KR" dirty="0"/>
            </a:br>
            <a:r>
              <a:rPr lang="en-US" altLang="ko-KR" dirty="0"/>
              <a:t>→ Even after many years, ownership proof is </a:t>
            </a:r>
            <a:r>
              <a:rPr lang="ar-AE" altLang="ko-KR" dirty="0"/>
              <a:t>محفوظ (</a:t>
            </a:r>
            <a:r>
              <a:rPr lang="en-US" altLang="ko-KR" dirty="0"/>
              <a:t>safe).</a:t>
            </a:r>
          </a:p>
          <a:p>
            <a:r>
              <a:rPr lang="en-US" altLang="ko-KR" b="1" dirty="0"/>
              <a:t>Medical record:</a:t>
            </a:r>
            <a:r>
              <a:rPr lang="en-US" altLang="ko-KR" dirty="0"/>
              <a:t> Hospital stores your health history so doctors can see your past treatments anytime.</a:t>
            </a:r>
          </a:p>
          <a:p>
            <a:r>
              <a:rPr lang="en-US" altLang="ko-KR" b="1" dirty="0"/>
              <a:t>School record:</a:t>
            </a:r>
            <a:r>
              <a:rPr lang="en-US" altLang="ko-KR" dirty="0"/>
              <a:t> Your university keeps your grades and degree permanently.</a:t>
            </a:r>
          </a:p>
          <a:p>
            <a:r>
              <a:rPr lang="en-US" altLang="ko-KR" dirty="0"/>
              <a:t>In all these cases, information is </a:t>
            </a:r>
            <a:r>
              <a:rPr lang="en-US" altLang="ko-KR" b="1" dirty="0"/>
              <a:t>stored, protected, and rarely changed.</a:t>
            </a:r>
            <a:endParaRPr lang="en-US" altLang="ko-KR" dirty="0"/>
          </a:p>
          <a:p>
            <a:pPr marL="0" indent="0">
              <a:buNone/>
            </a:pPr>
            <a:endParaRPr lang="ko-KR" altLang="en-US" dirty="0"/>
          </a:p>
        </p:txBody>
      </p:sp>
    </p:spTree>
    <p:extLst>
      <p:ext uri="{BB962C8B-B14F-4D97-AF65-F5344CB8AC3E}">
        <p14:creationId xmlns:p14="http://schemas.microsoft.com/office/powerpoint/2010/main" val="3756174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C1D1A-F66A-A21D-2456-A6307510A9ED}"/>
              </a:ext>
            </a:extLst>
          </p:cNvPr>
          <p:cNvSpPr>
            <a:spLocks noGrp="1"/>
          </p:cNvSpPr>
          <p:nvPr>
            <p:ph type="title"/>
          </p:nvPr>
        </p:nvSpPr>
        <p:spPr/>
        <p:txBody>
          <a:bodyPr/>
          <a:lstStyle/>
          <a:p>
            <a:r>
              <a:rPr lang="en-US" altLang="ko-KR" b="1" dirty="0"/>
              <a:t>Crypto / Blockchain example</a:t>
            </a:r>
            <a:endParaRPr lang="ko-KR" altLang="en-US" dirty="0"/>
          </a:p>
        </p:txBody>
      </p:sp>
      <p:sp>
        <p:nvSpPr>
          <p:cNvPr id="3" name="Content Placeholder 2">
            <a:extLst>
              <a:ext uri="{FF2B5EF4-FFF2-40B4-BE49-F238E27FC236}">
                <a16:creationId xmlns:a16="http://schemas.microsoft.com/office/drawing/2014/main" id="{DC9A357E-1EE6-FB48-AEB1-6B25078C9CFA}"/>
              </a:ext>
            </a:extLst>
          </p:cNvPr>
          <p:cNvSpPr>
            <a:spLocks noGrp="1"/>
          </p:cNvSpPr>
          <p:nvPr>
            <p:ph idx="1"/>
          </p:nvPr>
        </p:nvSpPr>
        <p:spPr/>
        <p:txBody>
          <a:bodyPr>
            <a:normAutofit/>
          </a:bodyPr>
          <a:lstStyle/>
          <a:p>
            <a:r>
              <a:rPr lang="en-US" altLang="ko-KR" b="1" dirty="0"/>
              <a:t>Ownership record:</a:t>
            </a:r>
            <a:r>
              <a:rPr lang="en-US" altLang="ko-KR" dirty="0"/>
              <a:t> Blockchain stores who owns a crypto coin</a:t>
            </a:r>
            <a:br>
              <a:rPr lang="en-US" altLang="ko-KR" dirty="0"/>
            </a:br>
            <a:r>
              <a:rPr lang="en-US" altLang="ko-KR" dirty="0"/>
              <a:t>→ Example: If you own Bitcoin, blockchain permanently records that wallet = owner.</a:t>
            </a:r>
          </a:p>
          <a:p>
            <a:r>
              <a:rPr lang="en-US" altLang="ko-KR" b="1" dirty="0"/>
              <a:t>Identity / certificate:</a:t>
            </a:r>
            <a:r>
              <a:rPr lang="en-US" altLang="ko-KR" dirty="0"/>
              <a:t> Blockchain can store digital identity, degrees, or certificates so no one can fake them.</a:t>
            </a:r>
          </a:p>
          <a:p>
            <a:r>
              <a:rPr lang="en-US" altLang="ko-KR" b="1" dirty="0"/>
              <a:t>Smart contracts record:</a:t>
            </a:r>
            <a:r>
              <a:rPr lang="en-US" altLang="ko-KR" dirty="0"/>
              <a:t> A contract stored on blockchain stays and executes automatically when conditions are met.</a:t>
            </a:r>
          </a:p>
          <a:p>
            <a:r>
              <a:rPr lang="en-US" altLang="ko-KR" dirty="0"/>
              <a:t>Here blockchain acts like a </a:t>
            </a:r>
            <a:r>
              <a:rPr lang="en-US" altLang="ko-KR" b="1" dirty="0"/>
              <a:t>tamper-proof digital register (unchangeable record book).</a:t>
            </a:r>
            <a:endParaRPr lang="en-US" altLang="ko-KR" dirty="0"/>
          </a:p>
          <a:p>
            <a:endParaRPr lang="ko-KR" altLang="en-US" dirty="0"/>
          </a:p>
        </p:txBody>
      </p:sp>
    </p:spTree>
    <p:extLst>
      <p:ext uri="{BB962C8B-B14F-4D97-AF65-F5344CB8AC3E}">
        <p14:creationId xmlns:p14="http://schemas.microsoft.com/office/powerpoint/2010/main" val="3861666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E219C-6845-9903-56F4-B9A4755DC2F1}"/>
              </a:ext>
            </a:extLst>
          </p:cNvPr>
          <p:cNvSpPr>
            <a:spLocks noGrp="1"/>
          </p:cNvSpPr>
          <p:nvPr>
            <p:ph type="title"/>
          </p:nvPr>
        </p:nvSpPr>
        <p:spPr/>
        <p:txBody>
          <a:bodyPr/>
          <a:lstStyle/>
          <a:p>
            <a:r>
              <a:rPr lang="en-US" altLang="ko-KR" b="1" dirty="0"/>
              <a:t>Transactions</a:t>
            </a:r>
            <a:endParaRPr lang="ko-KR" altLang="en-US" dirty="0"/>
          </a:p>
        </p:txBody>
      </p:sp>
      <p:sp>
        <p:nvSpPr>
          <p:cNvPr id="3" name="Content Placeholder 2">
            <a:extLst>
              <a:ext uri="{FF2B5EF4-FFF2-40B4-BE49-F238E27FC236}">
                <a16:creationId xmlns:a16="http://schemas.microsoft.com/office/drawing/2014/main" id="{91FF9AB4-5EAC-995D-EECE-9F4492B7B5AC}"/>
              </a:ext>
            </a:extLst>
          </p:cNvPr>
          <p:cNvSpPr>
            <a:spLocks noGrp="1"/>
          </p:cNvSpPr>
          <p:nvPr>
            <p:ph idx="1"/>
          </p:nvPr>
        </p:nvSpPr>
        <p:spPr/>
        <p:txBody>
          <a:bodyPr>
            <a:normAutofit fontScale="92500" lnSpcReduction="10000"/>
          </a:bodyPr>
          <a:lstStyle/>
          <a:p>
            <a:r>
              <a:rPr lang="en-US" altLang="ko-KR" b="1" dirty="0"/>
              <a:t>Transaction means exchanging or moving something from one person to another.</a:t>
            </a:r>
            <a:br>
              <a:rPr lang="en-US" altLang="ko-KR" dirty="0"/>
            </a:br>
            <a:r>
              <a:rPr lang="en-US" altLang="ko-KR" dirty="0"/>
              <a:t>It is a </a:t>
            </a:r>
            <a:r>
              <a:rPr lang="en-US" altLang="ko-KR" b="1" dirty="0"/>
              <a:t>change happening now</a:t>
            </a:r>
            <a:r>
              <a:rPr lang="en-US" altLang="ko-KR" dirty="0"/>
              <a:t>, not just storing information.</a:t>
            </a:r>
          </a:p>
          <a:p>
            <a:pPr marL="0" indent="0">
              <a:buNone/>
            </a:pPr>
            <a:r>
              <a:rPr lang="en-US" altLang="ko-KR" b="1" dirty="0"/>
              <a:t>Daily life examples </a:t>
            </a:r>
            <a:endParaRPr lang="ko-KR" altLang="en-US" b="1" dirty="0"/>
          </a:p>
          <a:p>
            <a:r>
              <a:rPr lang="en-US" altLang="ko-KR" b="1" dirty="0"/>
              <a:t>Sending money:</a:t>
            </a:r>
            <a:r>
              <a:rPr lang="en-US" altLang="ko-KR" dirty="0"/>
              <a:t> You send $50 to your friend → money moves from you → to friend.</a:t>
            </a:r>
          </a:p>
          <a:p>
            <a:r>
              <a:rPr lang="en-US" altLang="ko-KR" b="1" dirty="0"/>
              <a:t>Buying tea/coffee:</a:t>
            </a:r>
            <a:r>
              <a:rPr lang="en-US" altLang="ko-KR" dirty="0"/>
              <a:t> You pay cash → shopkeeper gives tea → exchange completed.</a:t>
            </a:r>
          </a:p>
          <a:p>
            <a:r>
              <a:rPr lang="en-US" altLang="ko-KR" b="1" dirty="0"/>
              <a:t>Bank transfer:</a:t>
            </a:r>
            <a:r>
              <a:rPr lang="en-US" altLang="ko-KR" dirty="0"/>
              <a:t> You transfer money → bank updates balances → transaction done.</a:t>
            </a:r>
          </a:p>
          <a:p>
            <a:r>
              <a:rPr lang="en-US" altLang="ko-KR" dirty="0"/>
              <a:t>Transactions = </a:t>
            </a:r>
            <a:r>
              <a:rPr lang="en-US" altLang="ko-KR" b="1" dirty="0"/>
              <a:t>movement / exchange of value.</a:t>
            </a:r>
            <a:endParaRPr lang="en-US" altLang="ko-KR" dirty="0"/>
          </a:p>
          <a:p>
            <a:endParaRPr lang="ko-KR" altLang="en-US" dirty="0"/>
          </a:p>
        </p:txBody>
      </p:sp>
    </p:spTree>
    <p:extLst>
      <p:ext uri="{BB962C8B-B14F-4D97-AF65-F5344CB8AC3E}">
        <p14:creationId xmlns:p14="http://schemas.microsoft.com/office/powerpoint/2010/main" val="1145417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55C32-317D-3B0B-2636-46BAAB7D5904}"/>
              </a:ext>
            </a:extLst>
          </p:cNvPr>
          <p:cNvSpPr>
            <a:spLocks noGrp="1"/>
          </p:cNvSpPr>
          <p:nvPr>
            <p:ph type="title"/>
          </p:nvPr>
        </p:nvSpPr>
        <p:spPr/>
        <p:txBody>
          <a:bodyPr/>
          <a:lstStyle/>
          <a:p>
            <a:r>
              <a:rPr lang="en-US" altLang="ko-KR" b="1" dirty="0"/>
              <a:t>Crypto / Blockchain examples</a:t>
            </a:r>
            <a:endParaRPr lang="ko-KR" altLang="en-US" dirty="0"/>
          </a:p>
        </p:txBody>
      </p:sp>
      <p:sp>
        <p:nvSpPr>
          <p:cNvPr id="3" name="Content Placeholder 2">
            <a:extLst>
              <a:ext uri="{FF2B5EF4-FFF2-40B4-BE49-F238E27FC236}">
                <a16:creationId xmlns:a16="http://schemas.microsoft.com/office/drawing/2014/main" id="{65999EAB-100F-52E3-6D88-04F491A69B61}"/>
              </a:ext>
            </a:extLst>
          </p:cNvPr>
          <p:cNvSpPr>
            <a:spLocks noGrp="1"/>
          </p:cNvSpPr>
          <p:nvPr>
            <p:ph idx="1"/>
          </p:nvPr>
        </p:nvSpPr>
        <p:spPr/>
        <p:txBody>
          <a:bodyPr/>
          <a:lstStyle/>
          <a:p>
            <a:r>
              <a:rPr lang="en-US" altLang="ko-KR" b="1" dirty="0"/>
              <a:t>Sending Bitcoin:</a:t>
            </a:r>
            <a:r>
              <a:rPr lang="en-US" altLang="ko-KR" dirty="0"/>
              <a:t> You send BTC to another wallet → blockchain records transfer.</a:t>
            </a:r>
          </a:p>
          <a:p>
            <a:r>
              <a:rPr lang="en-US" altLang="ko-KR" b="1" dirty="0"/>
              <a:t>Token swap:</a:t>
            </a:r>
            <a:r>
              <a:rPr lang="en-US" altLang="ko-KR" dirty="0"/>
              <a:t> You exchange ETH for another coin → ownership changes.</a:t>
            </a:r>
          </a:p>
          <a:p>
            <a:r>
              <a:rPr lang="en-US" altLang="ko-KR" dirty="0"/>
              <a:t>Blockchain keeps </a:t>
            </a:r>
            <a:r>
              <a:rPr lang="en-US" altLang="ko-KR" b="1" dirty="0"/>
              <a:t>live record of exchanges happening continuously.</a:t>
            </a:r>
            <a:endParaRPr lang="en-US" altLang="ko-KR" dirty="0"/>
          </a:p>
          <a:p>
            <a:endParaRPr lang="ko-KR" altLang="en-US" dirty="0"/>
          </a:p>
        </p:txBody>
      </p:sp>
    </p:spTree>
    <p:extLst>
      <p:ext uri="{BB962C8B-B14F-4D97-AF65-F5344CB8AC3E}">
        <p14:creationId xmlns:p14="http://schemas.microsoft.com/office/powerpoint/2010/main" val="349456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1554A-1197-0CC4-A3A6-AB35A61181C5}"/>
              </a:ext>
            </a:extLst>
          </p:cNvPr>
          <p:cNvSpPr>
            <a:spLocks noGrp="1"/>
          </p:cNvSpPr>
          <p:nvPr>
            <p:ph type="title"/>
          </p:nvPr>
        </p:nvSpPr>
        <p:spPr/>
        <p:txBody>
          <a:bodyPr/>
          <a:lstStyle/>
          <a:p>
            <a:r>
              <a:rPr lang="en-US" altLang="ko-KR" dirty="0"/>
              <a:t>Comparison </a:t>
            </a:r>
            <a:endParaRPr lang="ko-KR" altLang="en-US" dirty="0"/>
          </a:p>
        </p:txBody>
      </p:sp>
      <p:pic>
        <p:nvPicPr>
          <p:cNvPr id="5" name="Content Placeholder 4">
            <a:extLst>
              <a:ext uri="{FF2B5EF4-FFF2-40B4-BE49-F238E27FC236}">
                <a16:creationId xmlns:a16="http://schemas.microsoft.com/office/drawing/2014/main" id="{D6D0E032-4B1A-23EB-597C-D49B2F7F4A72}"/>
              </a:ext>
            </a:extLst>
          </p:cNvPr>
          <p:cNvPicPr>
            <a:picLocks noGrp="1" noChangeAspect="1"/>
          </p:cNvPicPr>
          <p:nvPr>
            <p:ph idx="1"/>
          </p:nvPr>
        </p:nvPicPr>
        <p:blipFill>
          <a:blip r:embed="rId2"/>
          <a:stretch>
            <a:fillRect/>
          </a:stretch>
        </p:blipFill>
        <p:spPr>
          <a:xfrm>
            <a:off x="900752" y="1910687"/>
            <a:ext cx="10365475" cy="3000251"/>
          </a:xfrm>
          <a:prstGeom prst="rect">
            <a:avLst/>
          </a:prstGeom>
        </p:spPr>
      </p:pic>
    </p:spTree>
    <p:extLst>
      <p:ext uri="{BB962C8B-B14F-4D97-AF65-F5344CB8AC3E}">
        <p14:creationId xmlns:p14="http://schemas.microsoft.com/office/powerpoint/2010/main" val="2352596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0B17-4A2C-D71C-E108-81D4269A2D63}"/>
              </a:ext>
            </a:extLst>
          </p:cNvPr>
          <p:cNvSpPr>
            <a:spLocks noGrp="1"/>
          </p:cNvSpPr>
          <p:nvPr>
            <p:ph type="title"/>
          </p:nvPr>
        </p:nvSpPr>
        <p:spPr/>
        <p:txBody>
          <a:bodyPr>
            <a:normAutofit fontScale="90000"/>
          </a:bodyPr>
          <a:lstStyle/>
          <a:p>
            <a:r>
              <a:rPr lang="en-US" altLang="ko-KR" b="1" dirty="0"/>
              <a:t>How Record Keeping + Transactions work together in Blockchain</a:t>
            </a:r>
            <a:br>
              <a:rPr lang="en-US" altLang="ko-KR" b="1" dirty="0"/>
            </a:br>
            <a:endParaRPr lang="ko-KR" altLang="en-US" dirty="0"/>
          </a:p>
        </p:txBody>
      </p:sp>
      <p:sp>
        <p:nvSpPr>
          <p:cNvPr id="3" name="Content Placeholder 2">
            <a:extLst>
              <a:ext uri="{FF2B5EF4-FFF2-40B4-BE49-F238E27FC236}">
                <a16:creationId xmlns:a16="http://schemas.microsoft.com/office/drawing/2014/main" id="{5CACDE61-A5F0-2184-E387-DA8C0F4B7D80}"/>
              </a:ext>
            </a:extLst>
          </p:cNvPr>
          <p:cNvSpPr>
            <a:spLocks noGrp="1"/>
          </p:cNvSpPr>
          <p:nvPr>
            <p:ph idx="1"/>
          </p:nvPr>
        </p:nvSpPr>
        <p:spPr/>
        <p:txBody>
          <a:bodyPr/>
          <a:lstStyle/>
          <a:p>
            <a:r>
              <a:rPr lang="en-US" altLang="ko-KR" dirty="0"/>
              <a:t>Blockchain is like a </a:t>
            </a:r>
            <a:r>
              <a:rPr lang="en-US" altLang="ko-KR" b="1" dirty="0"/>
              <a:t>digital notebook</a:t>
            </a:r>
            <a:r>
              <a:rPr lang="en-US" altLang="ko-KR" dirty="0"/>
              <a:t> that does two jobs at the same time:</a:t>
            </a:r>
          </a:p>
          <a:p>
            <a:r>
              <a:rPr lang="en-US" altLang="ko-KR" b="1" dirty="0"/>
              <a:t>Writes every transaction (movement)</a:t>
            </a:r>
            <a:endParaRPr lang="en-US" altLang="ko-KR" dirty="0"/>
          </a:p>
          <a:p>
            <a:r>
              <a:rPr lang="en-US" altLang="ko-KR" b="1" dirty="0"/>
              <a:t>Keeps the record forever (storage)</a:t>
            </a:r>
            <a:endParaRPr lang="en-US" altLang="ko-KR" dirty="0"/>
          </a:p>
          <a:p>
            <a:r>
              <a:rPr lang="en-US" altLang="ko-KR" dirty="0"/>
              <a:t>So → </a:t>
            </a:r>
            <a:r>
              <a:rPr lang="en-US" altLang="ko-KR" b="1" dirty="0"/>
              <a:t>Transactions create data → Record keeping stores it permanently.</a:t>
            </a:r>
            <a:endParaRPr lang="en-US" altLang="ko-KR" dirty="0"/>
          </a:p>
          <a:p>
            <a:endParaRPr lang="ko-KR" altLang="en-US" dirty="0"/>
          </a:p>
        </p:txBody>
      </p:sp>
    </p:spTree>
    <p:extLst>
      <p:ext uri="{BB962C8B-B14F-4D97-AF65-F5344CB8AC3E}">
        <p14:creationId xmlns:p14="http://schemas.microsoft.com/office/powerpoint/2010/main" val="630023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381A6-DD97-8D26-CBF3-8F2CE9C479AC}"/>
              </a:ext>
            </a:extLst>
          </p:cNvPr>
          <p:cNvSpPr>
            <a:spLocks noGrp="1"/>
          </p:cNvSpPr>
          <p:nvPr>
            <p:ph type="title"/>
          </p:nvPr>
        </p:nvSpPr>
        <p:spPr/>
        <p:txBody>
          <a:bodyPr/>
          <a:lstStyle/>
          <a:p>
            <a:r>
              <a:rPr lang="en-US" altLang="ko-KR" b="1" dirty="0"/>
              <a:t>Blockchain in Advertising</a:t>
            </a:r>
            <a:endParaRPr lang="ko-KR" altLang="en-US" dirty="0"/>
          </a:p>
        </p:txBody>
      </p:sp>
      <p:sp>
        <p:nvSpPr>
          <p:cNvPr id="3" name="Content Placeholder 2">
            <a:extLst>
              <a:ext uri="{FF2B5EF4-FFF2-40B4-BE49-F238E27FC236}">
                <a16:creationId xmlns:a16="http://schemas.microsoft.com/office/drawing/2014/main" id="{5899166A-6132-C80D-795D-DFB20E10C693}"/>
              </a:ext>
            </a:extLst>
          </p:cNvPr>
          <p:cNvSpPr>
            <a:spLocks noGrp="1"/>
          </p:cNvSpPr>
          <p:nvPr>
            <p:ph idx="1"/>
          </p:nvPr>
        </p:nvSpPr>
        <p:spPr>
          <a:xfrm>
            <a:off x="1535372" y="2053987"/>
            <a:ext cx="9818427" cy="4122975"/>
          </a:xfrm>
        </p:spPr>
        <p:txBody>
          <a:bodyPr/>
          <a:lstStyle/>
          <a:p>
            <a:pPr marL="0" indent="0">
              <a:buNone/>
            </a:pPr>
            <a:r>
              <a:rPr lang="en-US" altLang="ko-KR" b="1" dirty="0"/>
              <a:t>Blockchain helps advertising become honest, transparent, and fraud-free.</a:t>
            </a:r>
            <a:br>
              <a:rPr lang="en-US" altLang="ko-KR" dirty="0"/>
            </a:br>
            <a:r>
              <a:rPr lang="en-US" altLang="ko-KR" dirty="0"/>
              <a:t>It makes sure:</a:t>
            </a:r>
          </a:p>
          <a:p>
            <a:r>
              <a:rPr lang="en-US" altLang="ko-KR" dirty="0"/>
              <a:t>Real people watched the ad </a:t>
            </a:r>
            <a:r>
              <a:rPr lang="ko-KR" altLang="en-US" dirty="0"/>
              <a:t>👀</a:t>
            </a:r>
          </a:p>
          <a:p>
            <a:r>
              <a:rPr lang="en-US" altLang="ko-KR" dirty="0"/>
              <a:t>Fake views / bots are removed ❌</a:t>
            </a:r>
          </a:p>
          <a:p>
            <a:r>
              <a:rPr lang="en-US" altLang="ko-KR" dirty="0"/>
              <a:t>Payment goes to the right person automatically </a:t>
            </a:r>
            <a:r>
              <a:rPr lang="ko-KR" altLang="en-US" dirty="0"/>
              <a:t>💰</a:t>
            </a:r>
          </a:p>
        </p:txBody>
      </p:sp>
    </p:spTree>
    <p:extLst>
      <p:ext uri="{BB962C8B-B14F-4D97-AF65-F5344CB8AC3E}">
        <p14:creationId xmlns:p14="http://schemas.microsoft.com/office/powerpoint/2010/main" val="3994419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2660E-B47E-2032-8071-36DC5721D0CB}"/>
              </a:ext>
            </a:extLst>
          </p:cNvPr>
          <p:cNvSpPr>
            <a:spLocks noGrp="1"/>
          </p:cNvSpPr>
          <p:nvPr>
            <p:ph type="title"/>
          </p:nvPr>
        </p:nvSpPr>
        <p:spPr/>
        <p:txBody>
          <a:bodyPr/>
          <a:lstStyle/>
          <a:p>
            <a:r>
              <a:rPr lang="en-US" altLang="ko-KR" dirty="0"/>
              <a:t>Main idea</a:t>
            </a:r>
            <a:endParaRPr lang="ko-KR" altLang="en-US" dirty="0"/>
          </a:p>
        </p:txBody>
      </p:sp>
      <p:sp>
        <p:nvSpPr>
          <p:cNvPr id="3" name="Content Placeholder 2">
            <a:extLst>
              <a:ext uri="{FF2B5EF4-FFF2-40B4-BE49-F238E27FC236}">
                <a16:creationId xmlns:a16="http://schemas.microsoft.com/office/drawing/2014/main" id="{56226CC8-34BC-2F0A-4378-2A5850449C3A}"/>
              </a:ext>
            </a:extLst>
          </p:cNvPr>
          <p:cNvSpPr>
            <a:spLocks noGrp="1"/>
          </p:cNvSpPr>
          <p:nvPr>
            <p:ph idx="1"/>
          </p:nvPr>
        </p:nvSpPr>
        <p:spPr/>
        <p:txBody>
          <a:bodyPr/>
          <a:lstStyle/>
          <a:p>
            <a:r>
              <a:rPr lang="en-US" altLang="ko-KR" b="1" dirty="0"/>
              <a:t>Buy-side transparency (for advertisers):</a:t>
            </a:r>
            <a:br>
              <a:rPr lang="en-US" altLang="ko-KR" dirty="0"/>
            </a:br>
            <a:r>
              <a:rPr lang="en-US" altLang="ko-KR" dirty="0"/>
              <a:t>→ Blockchain keeps a clear record of where money was spent (auditing).</a:t>
            </a:r>
          </a:p>
          <a:p>
            <a:r>
              <a:rPr lang="en-US" altLang="ko-KR" b="1" dirty="0"/>
              <a:t>Sell-side transparency (for publishers):</a:t>
            </a:r>
            <a:br>
              <a:rPr lang="en-US" altLang="ko-KR" dirty="0"/>
            </a:br>
            <a:r>
              <a:rPr lang="en-US" altLang="ko-KR" dirty="0"/>
              <a:t>→ </a:t>
            </a:r>
            <a:r>
              <a:rPr lang="en-US" altLang="ko-KR" i="1" dirty="0"/>
              <a:t>Proof of View (PoV)</a:t>
            </a:r>
            <a:r>
              <a:rPr lang="en-US" altLang="ko-KR" dirty="0"/>
              <a:t> confirms that a real person actually watched the ad.</a:t>
            </a:r>
          </a:p>
          <a:p>
            <a:endParaRPr lang="ko-KR" altLang="en-US" dirty="0"/>
          </a:p>
        </p:txBody>
      </p:sp>
    </p:spTree>
    <p:extLst>
      <p:ext uri="{BB962C8B-B14F-4D97-AF65-F5344CB8AC3E}">
        <p14:creationId xmlns:p14="http://schemas.microsoft.com/office/powerpoint/2010/main" val="4132953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B71B5-6B80-4FCE-CBBD-D35D0915AC73}"/>
              </a:ext>
            </a:extLst>
          </p:cNvPr>
          <p:cNvSpPr>
            <a:spLocks noGrp="1"/>
          </p:cNvSpPr>
          <p:nvPr>
            <p:ph type="title"/>
          </p:nvPr>
        </p:nvSpPr>
        <p:spPr/>
        <p:txBody>
          <a:bodyPr/>
          <a:lstStyle/>
          <a:p>
            <a:r>
              <a:rPr lang="en-US" altLang="ko-KR" dirty="0"/>
              <a:t>What is Proof of View (PoV)? </a:t>
            </a:r>
            <a:endParaRPr lang="ko-KR" altLang="en-US" dirty="0"/>
          </a:p>
        </p:txBody>
      </p:sp>
      <p:sp>
        <p:nvSpPr>
          <p:cNvPr id="3" name="Content Placeholder 2">
            <a:extLst>
              <a:ext uri="{FF2B5EF4-FFF2-40B4-BE49-F238E27FC236}">
                <a16:creationId xmlns:a16="http://schemas.microsoft.com/office/drawing/2014/main" id="{9F619D84-8C85-1A15-1685-4746C55D78E2}"/>
              </a:ext>
            </a:extLst>
          </p:cNvPr>
          <p:cNvSpPr>
            <a:spLocks noGrp="1"/>
          </p:cNvSpPr>
          <p:nvPr>
            <p:ph idx="1"/>
          </p:nvPr>
        </p:nvSpPr>
        <p:spPr/>
        <p:txBody>
          <a:bodyPr/>
          <a:lstStyle/>
          <a:p>
            <a:pPr marL="0" indent="0">
              <a:buNone/>
            </a:pPr>
            <a:r>
              <a:rPr lang="en-US" altLang="ko-KR" dirty="0"/>
              <a:t>PoV = Technology that checks </a:t>
            </a:r>
            <a:r>
              <a:rPr lang="en-US" altLang="ko-KR" b="1" dirty="0"/>
              <a:t>real view vs fake view</a:t>
            </a:r>
            <a:endParaRPr lang="en-US" altLang="ko-KR" dirty="0"/>
          </a:p>
          <a:p>
            <a:pPr marL="0" indent="0">
              <a:buNone/>
            </a:pPr>
            <a:r>
              <a:rPr lang="en-US" altLang="ko-KR" dirty="0"/>
              <a:t>It:</a:t>
            </a:r>
          </a:p>
          <a:p>
            <a:r>
              <a:rPr lang="en-US" altLang="ko-KR" dirty="0"/>
              <a:t>Records only logged-in users (real ID) ✔️</a:t>
            </a:r>
          </a:p>
          <a:p>
            <a:r>
              <a:rPr lang="en-US" altLang="ko-KR" dirty="0"/>
              <a:t>Rejects fake/multiple views from same user ❌</a:t>
            </a:r>
          </a:p>
          <a:p>
            <a:r>
              <a:rPr lang="en-US" altLang="ko-KR" dirty="0"/>
              <a:t>Randomly checks video frames to confirm real watching </a:t>
            </a:r>
            <a:r>
              <a:rPr lang="ko-KR" altLang="en-US" dirty="0"/>
              <a:t>🎥</a:t>
            </a:r>
          </a:p>
          <a:p>
            <a:r>
              <a:rPr lang="en-US" altLang="ko-KR" dirty="0"/>
              <a:t>Uses smart contracts to record views &amp; send payment automatically </a:t>
            </a:r>
            <a:r>
              <a:rPr lang="ko-KR" altLang="en-US" dirty="0"/>
              <a:t>💸</a:t>
            </a:r>
          </a:p>
          <a:p>
            <a:endParaRPr lang="ko-KR" altLang="en-US" dirty="0"/>
          </a:p>
        </p:txBody>
      </p:sp>
    </p:spTree>
    <p:extLst>
      <p:ext uri="{BB962C8B-B14F-4D97-AF65-F5344CB8AC3E}">
        <p14:creationId xmlns:p14="http://schemas.microsoft.com/office/powerpoint/2010/main" val="2912083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C08F-FD35-3BC4-86C8-C54CFDA04161}"/>
              </a:ext>
            </a:extLst>
          </p:cNvPr>
          <p:cNvSpPr>
            <a:spLocks noGrp="1"/>
          </p:cNvSpPr>
          <p:nvPr>
            <p:ph type="title"/>
          </p:nvPr>
        </p:nvSpPr>
        <p:spPr/>
        <p:txBody>
          <a:bodyPr/>
          <a:lstStyle/>
          <a:p>
            <a:r>
              <a:rPr lang="en-US" altLang="ko-KR" dirty="0"/>
              <a:t>Daily life example</a:t>
            </a:r>
            <a:endParaRPr lang="ko-KR" altLang="en-US" dirty="0"/>
          </a:p>
        </p:txBody>
      </p:sp>
      <p:sp>
        <p:nvSpPr>
          <p:cNvPr id="3" name="Content Placeholder 2">
            <a:extLst>
              <a:ext uri="{FF2B5EF4-FFF2-40B4-BE49-F238E27FC236}">
                <a16:creationId xmlns:a16="http://schemas.microsoft.com/office/drawing/2014/main" id="{1DB21B68-360A-E764-AE28-DA36EA9AE521}"/>
              </a:ext>
            </a:extLst>
          </p:cNvPr>
          <p:cNvSpPr>
            <a:spLocks noGrp="1"/>
          </p:cNvSpPr>
          <p:nvPr>
            <p:ph idx="1"/>
          </p:nvPr>
        </p:nvSpPr>
        <p:spPr/>
        <p:txBody>
          <a:bodyPr/>
          <a:lstStyle/>
          <a:p>
            <a:pPr marL="0" indent="0">
              <a:buNone/>
            </a:pPr>
            <a:r>
              <a:rPr lang="en-US" altLang="ko-KR" dirty="0"/>
              <a:t>Imagine a </a:t>
            </a:r>
            <a:r>
              <a:rPr lang="en-US" altLang="ko-KR" b="1" dirty="0"/>
              <a:t>TV advertising company</a:t>
            </a:r>
            <a:r>
              <a:rPr lang="en-US" altLang="ko-KR" dirty="0"/>
              <a:t>:</a:t>
            </a:r>
          </a:p>
          <a:p>
            <a:r>
              <a:rPr lang="en-US" altLang="ko-KR" dirty="0"/>
              <a:t>A company pays for 1,000 real viewers.</a:t>
            </a:r>
          </a:p>
          <a:p>
            <a:r>
              <a:rPr lang="en-US" altLang="ko-KR" dirty="0"/>
              <a:t>System checks:</a:t>
            </a:r>
          </a:p>
          <a:p>
            <a:pPr lvl="1"/>
            <a:r>
              <a:rPr lang="en-US" altLang="ko-KR" dirty="0"/>
              <a:t>Are viewers real people?</a:t>
            </a:r>
          </a:p>
          <a:p>
            <a:pPr lvl="1"/>
            <a:r>
              <a:rPr lang="en-US" altLang="ko-KR" dirty="0"/>
              <a:t>Did they actually watch the ad?</a:t>
            </a:r>
          </a:p>
          <a:p>
            <a:r>
              <a:rPr lang="en-US" altLang="ko-KR" dirty="0"/>
              <a:t>Fake views (bots, auto-play, cheating) are removed.</a:t>
            </a:r>
          </a:p>
          <a:p>
            <a:r>
              <a:rPr lang="en-US" altLang="ko-KR" dirty="0"/>
              <a:t>Payment is made only for </a:t>
            </a:r>
            <a:r>
              <a:rPr lang="en-US" altLang="ko-KR" b="1" dirty="0"/>
              <a:t>real viewers</a:t>
            </a:r>
            <a:r>
              <a:rPr lang="en-US" altLang="ko-KR" dirty="0"/>
              <a:t>.</a:t>
            </a:r>
          </a:p>
          <a:p>
            <a:r>
              <a:rPr lang="en-US" altLang="ko-KR" dirty="0"/>
              <a:t>This is similar to blockchain PoV — </a:t>
            </a:r>
            <a:r>
              <a:rPr lang="en-US" altLang="ko-KR" b="1" dirty="0"/>
              <a:t>pay only for real watching.</a:t>
            </a:r>
            <a:endParaRPr lang="en-US" altLang="ko-KR" dirty="0"/>
          </a:p>
          <a:p>
            <a:endParaRPr lang="ko-KR" altLang="en-US" dirty="0"/>
          </a:p>
        </p:txBody>
      </p:sp>
    </p:spTree>
    <p:extLst>
      <p:ext uri="{BB962C8B-B14F-4D97-AF65-F5344CB8AC3E}">
        <p14:creationId xmlns:p14="http://schemas.microsoft.com/office/powerpoint/2010/main" val="3662553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7215C-6922-9106-9F06-4DCAAAC0393D}"/>
              </a:ext>
            </a:extLst>
          </p:cNvPr>
          <p:cNvSpPr>
            <a:spLocks noGrp="1"/>
          </p:cNvSpPr>
          <p:nvPr>
            <p:ph type="title"/>
          </p:nvPr>
        </p:nvSpPr>
        <p:spPr/>
        <p:txBody>
          <a:bodyPr/>
          <a:lstStyle/>
          <a:p>
            <a:r>
              <a:rPr lang="en-US" altLang="ko-KR" dirty="0"/>
              <a:t>Crypto / Blockchain example </a:t>
            </a:r>
            <a:endParaRPr lang="ko-KR" altLang="en-US" dirty="0"/>
          </a:p>
        </p:txBody>
      </p:sp>
      <p:sp>
        <p:nvSpPr>
          <p:cNvPr id="3" name="Content Placeholder 2">
            <a:extLst>
              <a:ext uri="{FF2B5EF4-FFF2-40B4-BE49-F238E27FC236}">
                <a16:creationId xmlns:a16="http://schemas.microsoft.com/office/drawing/2014/main" id="{8C656175-CE01-604E-17EC-81A01806266C}"/>
              </a:ext>
            </a:extLst>
          </p:cNvPr>
          <p:cNvSpPr>
            <a:spLocks noGrp="1"/>
          </p:cNvSpPr>
          <p:nvPr>
            <p:ph idx="1"/>
          </p:nvPr>
        </p:nvSpPr>
        <p:spPr/>
        <p:txBody>
          <a:bodyPr>
            <a:normAutofit fontScale="92500" lnSpcReduction="20000"/>
          </a:bodyPr>
          <a:lstStyle/>
          <a:p>
            <a:r>
              <a:rPr lang="en-US" altLang="ko-KR" dirty="0"/>
              <a:t>On a blockchain-based ad platform:</a:t>
            </a:r>
          </a:p>
          <a:p>
            <a:r>
              <a:rPr lang="en-US" altLang="ko-KR" dirty="0"/>
              <a:t>Advertiser posts an ad and deposits money.</a:t>
            </a:r>
          </a:p>
          <a:p>
            <a:r>
              <a:rPr lang="en-US" altLang="ko-KR" dirty="0"/>
              <a:t>Users watch the ad.</a:t>
            </a:r>
          </a:p>
          <a:p>
            <a:r>
              <a:rPr lang="en-US" altLang="ko-KR" dirty="0"/>
              <a:t>PoV verifies:</a:t>
            </a:r>
          </a:p>
          <a:p>
            <a:pPr lvl="1"/>
            <a:r>
              <a:rPr lang="en-US" altLang="ko-KR" dirty="0"/>
              <a:t>Real user ID</a:t>
            </a:r>
          </a:p>
          <a:p>
            <a:pPr lvl="1"/>
            <a:r>
              <a:rPr lang="en-US" altLang="ko-KR" dirty="0"/>
              <a:t>Actually watching (not bot)</a:t>
            </a:r>
          </a:p>
          <a:p>
            <a:r>
              <a:rPr lang="en-US" altLang="ko-KR" dirty="0"/>
              <a:t>Blockchain records the view permanently.</a:t>
            </a:r>
          </a:p>
          <a:p>
            <a:r>
              <a:rPr lang="en-US" altLang="ko-KR" dirty="0"/>
              <a:t>Smart contract automatically:</a:t>
            </a:r>
          </a:p>
          <a:p>
            <a:pPr lvl="1"/>
            <a:r>
              <a:rPr lang="en-US" altLang="ko-KR" dirty="0"/>
              <a:t>Pays publisher (website/app owner)</a:t>
            </a:r>
          </a:p>
          <a:p>
            <a:pPr lvl="1"/>
            <a:r>
              <a:rPr lang="en-US" altLang="ko-KR" dirty="0"/>
              <a:t>Sometimes rewards viewer with tokens </a:t>
            </a:r>
            <a:r>
              <a:rPr lang="ko-KR" altLang="en-US" dirty="0"/>
              <a:t>🎁</a:t>
            </a:r>
          </a:p>
          <a:p>
            <a:r>
              <a:rPr lang="en-US" altLang="ko-KR"/>
              <a:t>Result: </a:t>
            </a:r>
            <a:r>
              <a:rPr lang="en-US" altLang="ko-KR" b="1"/>
              <a:t>No fraud, full transparency, automatic payment.</a:t>
            </a:r>
            <a:endParaRPr lang="en-US" altLang="ko-KR"/>
          </a:p>
          <a:p>
            <a:endParaRPr lang="ko-KR" altLang="en-US" dirty="0"/>
          </a:p>
        </p:txBody>
      </p:sp>
    </p:spTree>
    <p:extLst>
      <p:ext uri="{BB962C8B-B14F-4D97-AF65-F5344CB8AC3E}">
        <p14:creationId xmlns:p14="http://schemas.microsoft.com/office/powerpoint/2010/main" val="3575829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DA32-BCDB-0818-B1A0-8F23B9B2DAA2}"/>
              </a:ext>
            </a:extLst>
          </p:cNvPr>
          <p:cNvSpPr>
            <a:spLocks noGrp="1"/>
          </p:cNvSpPr>
          <p:nvPr>
            <p:ph type="title"/>
          </p:nvPr>
        </p:nvSpPr>
        <p:spPr/>
        <p:txBody>
          <a:bodyPr/>
          <a:lstStyle/>
          <a:p>
            <a:r>
              <a:rPr lang="en-US" altLang="ko-KR" dirty="0"/>
              <a:t>Applications 1: Verifying the Authenticity of Returned Drugs</a:t>
            </a:r>
            <a:endParaRPr lang="ko-KR" altLang="en-US" dirty="0"/>
          </a:p>
        </p:txBody>
      </p:sp>
      <p:sp>
        <p:nvSpPr>
          <p:cNvPr id="3" name="Content Placeholder 2">
            <a:extLst>
              <a:ext uri="{FF2B5EF4-FFF2-40B4-BE49-F238E27FC236}">
                <a16:creationId xmlns:a16="http://schemas.microsoft.com/office/drawing/2014/main" id="{C2DA097A-389E-D5DD-39E0-18825F6B4A84}"/>
              </a:ext>
            </a:extLst>
          </p:cNvPr>
          <p:cNvSpPr>
            <a:spLocks noGrp="1"/>
          </p:cNvSpPr>
          <p:nvPr>
            <p:ph idx="1"/>
          </p:nvPr>
        </p:nvSpPr>
        <p:spPr/>
        <p:txBody>
          <a:bodyPr>
            <a:normAutofit/>
          </a:bodyPr>
          <a:lstStyle/>
          <a:p>
            <a:r>
              <a:rPr lang="en-US" altLang="ko-KR" dirty="0"/>
              <a:t>In the Pharma industry, drugs are frequently returned to the pharmaceutical manufacturers. </a:t>
            </a:r>
          </a:p>
          <a:p>
            <a:r>
              <a:rPr lang="en-US" altLang="ko-KR" dirty="0"/>
              <a:t>While the proportion of the returned drugs is small compared to the sales (about 2–3% of sales), the per year volume is in the range of $7–10 billion. </a:t>
            </a:r>
          </a:p>
          <a:p>
            <a:r>
              <a:rPr lang="en-US" altLang="ko-KR" dirty="0"/>
              <a:t>Currently, big pharma working with tech companies to develop Pharma Blockchain Proof of Concept (POC) app for this use case:</a:t>
            </a:r>
            <a:endParaRPr lang="ko-KR" altLang="en-US" dirty="0"/>
          </a:p>
        </p:txBody>
      </p:sp>
    </p:spTree>
    <p:extLst>
      <p:ext uri="{BB962C8B-B14F-4D97-AF65-F5344CB8AC3E}">
        <p14:creationId xmlns:p14="http://schemas.microsoft.com/office/powerpoint/2010/main" val="3327246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6D932-622F-9A65-478D-856CD5D44823}"/>
              </a:ext>
            </a:extLst>
          </p:cNvPr>
          <p:cNvSpPr>
            <a:spLocks noGrp="1"/>
          </p:cNvSpPr>
          <p:nvPr>
            <p:ph type="title"/>
          </p:nvPr>
        </p:nvSpPr>
        <p:spPr/>
        <p:txBody>
          <a:bodyPr/>
          <a:lstStyle/>
          <a:p>
            <a:endParaRPr lang="ko-KR" altLang="en-US"/>
          </a:p>
        </p:txBody>
      </p:sp>
      <p:sp>
        <p:nvSpPr>
          <p:cNvPr id="3" name="Content Placeholder 2">
            <a:extLst>
              <a:ext uri="{FF2B5EF4-FFF2-40B4-BE49-F238E27FC236}">
                <a16:creationId xmlns:a16="http://schemas.microsoft.com/office/drawing/2014/main" id="{B8C06FE8-CD97-21B7-260D-1EBBD77D4ADD}"/>
              </a:ext>
            </a:extLst>
          </p:cNvPr>
          <p:cNvSpPr>
            <a:spLocks noGrp="1"/>
          </p:cNvSpPr>
          <p:nvPr>
            <p:ph idx="1"/>
          </p:nvPr>
        </p:nvSpPr>
        <p:spPr/>
        <p:txBody>
          <a:bodyPr/>
          <a:lstStyle/>
          <a:p>
            <a:r>
              <a:rPr lang="en-US" altLang="ko-KR" dirty="0"/>
              <a:t>The system generates unique identifiers for a drug package.</a:t>
            </a:r>
          </a:p>
          <a:p>
            <a:r>
              <a:rPr lang="en-US" altLang="ko-KR" dirty="0"/>
              <a:t> When a manufacturer ships a package, they register the item on the Pharma POC Blockchain, with the four pieces of information generated by the ATTP; the item number (based on GS1 standard), a serial number, a batch number, and expiration date. </a:t>
            </a:r>
          </a:p>
          <a:p>
            <a:r>
              <a:rPr lang="en-US" altLang="ko-KR" dirty="0"/>
              <a:t>Using this PoC tracking will be easy, efficient and fast.</a:t>
            </a:r>
            <a:endParaRPr lang="ko-KR" altLang="en-US" dirty="0"/>
          </a:p>
        </p:txBody>
      </p:sp>
    </p:spTree>
    <p:extLst>
      <p:ext uri="{BB962C8B-B14F-4D97-AF65-F5344CB8AC3E}">
        <p14:creationId xmlns:p14="http://schemas.microsoft.com/office/powerpoint/2010/main" val="4162656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6476C-432B-8272-7D59-E90895670A60}"/>
              </a:ext>
            </a:extLst>
          </p:cNvPr>
          <p:cNvSpPr>
            <a:spLocks noGrp="1"/>
          </p:cNvSpPr>
          <p:nvPr>
            <p:ph type="title"/>
          </p:nvPr>
        </p:nvSpPr>
        <p:spPr/>
        <p:txBody>
          <a:bodyPr/>
          <a:lstStyle/>
          <a:p>
            <a:r>
              <a:rPr lang="en-US" altLang="ko-KR" dirty="0"/>
              <a:t>Applications 2: Transparency and traceability of consent in Clinical Trials</a:t>
            </a:r>
            <a:endParaRPr lang="ko-KR" altLang="en-US" dirty="0"/>
          </a:p>
        </p:txBody>
      </p:sp>
      <p:sp>
        <p:nvSpPr>
          <p:cNvPr id="3" name="Content Placeholder 2">
            <a:extLst>
              <a:ext uri="{FF2B5EF4-FFF2-40B4-BE49-F238E27FC236}">
                <a16:creationId xmlns:a16="http://schemas.microsoft.com/office/drawing/2014/main" id="{C9513D05-9CC9-2C56-4FCA-ED188D6CC8C3}"/>
              </a:ext>
            </a:extLst>
          </p:cNvPr>
          <p:cNvSpPr>
            <a:spLocks noGrp="1"/>
          </p:cNvSpPr>
          <p:nvPr>
            <p:ph idx="1"/>
          </p:nvPr>
        </p:nvSpPr>
        <p:spPr/>
        <p:txBody>
          <a:bodyPr>
            <a:normAutofit/>
          </a:bodyPr>
          <a:lstStyle/>
          <a:p>
            <a:r>
              <a:rPr lang="en-US" altLang="ko-KR" dirty="0"/>
              <a:t>Informed patient consent involves making the patient aware of each step in the Clinical Trial process including any possible risks posed by the study. Clinical trial consent for protocols and their revisions need to be transparent for patients and traceable for stakeholders. </a:t>
            </a:r>
          </a:p>
          <a:p>
            <a:r>
              <a:rPr lang="en-US" altLang="ko-KR" dirty="0"/>
              <a:t>However, in practice, the informed consent process is difficult to handle in a rigorous and satisfactory way. The FDA reports that almost 10% of the trials they monitor feature some issues related to consent collection. </a:t>
            </a:r>
            <a:endParaRPr lang="ko-KR" altLang="en-US" dirty="0"/>
          </a:p>
        </p:txBody>
      </p:sp>
    </p:spTree>
    <p:extLst>
      <p:ext uri="{BB962C8B-B14F-4D97-AF65-F5344CB8AC3E}">
        <p14:creationId xmlns:p14="http://schemas.microsoft.com/office/powerpoint/2010/main" val="1986594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4511E-4A5B-4F17-A9DF-69B7A91984BC}"/>
              </a:ext>
            </a:extLst>
          </p:cNvPr>
          <p:cNvSpPr>
            <a:spLocks noGrp="1"/>
          </p:cNvSpPr>
          <p:nvPr>
            <p:ph type="title"/>
          </p:nvPr>
        </p:nvSpPr>
        <p:spPr/>
        <p:txBody>
          <a:bodyPr/>
          <a:lstStyle/>
          <a:p>
            <a:endParaRPr lang="ko-KR" altLang="en-US"/>
          </a:p>
        </p:txBody>
      </p:sp>
      <p:sp>
        <p:nvSpPr>
          <p:cNvPr id="3" name="Content Placeholder 2">
            <a:extLst>
              <a:ext uri="{FF2B5EF4-FFF2-40B4-BE49-F238E27FC236}">
                <a16:creationId xmlns:a16="http://schemas.microsoft.com/office/drawing/2014/main" id="{E54BBC93-39E4-BA7B-4B3D-FEFA0594C96C}"/>
              </a:ext>
            </a:extLst>
          </p:cNvPr>
          <p:cNvSpPr>
            <a:spLocks noGrp="1"/>
          </p:cNvSpPr>
          <p:nvPr>
            <p:ph idx="1"/>
          </p:nvPr>
        </p:nvSpPr>
        <p:spPr/>
        <p:txBody>
          <a:bodyPr>
            <a:normAutofit fontScale="92500" lnSpcReduction="20000"/>
          </a:bodyPr>
          <a:lstStyle/>
          <a:p>
            <a:r>
              <a:rPr lang="en-US" altLang="ko-KR" dirty="0"/>
              <a:t>These include: failure to obtain written informed consent, </a:t>
            </a:r>
            <a:r>
              <a:rPr lang="en-US" altLang="ko-KR" dirty="0" err="1"/>
              <a:t>unap</a:t>
            </a:r>
            <a:r>
              <a:rPr lang="en-US" altLang="ko-KR" dirty="0"/>
              <a:t> proved forms, invalid consent document, failure to re-consent to a re vised protocol and missing Institutional Review Board approval to pro </a:t>
            </a:r>
            <a:r>
              <a:rPr lang="en-US" altLang="ko-KR" dirty="0" err="1"/>
              <a:t>tocol</a:t>
            </a:r>
            <a:r>
              <a:rPr lang="en-US" altLang="ko-KR" dirty="0"/>
              <a:t> changes, amongst others. Frequently also there are reported cases of document fraud such as issues of backdating consent documents.</a:t>
            </a:r>
          </a:p>
          <a:p>
            <a:r>
              <a:rPr lang="en-US" altLang="ko-KR" dirty="0"/>
              <a:t>Blockchain technology provides a mechanism for unfalsifiable time-stamping of consent forms, storing and tracking the consent in a secure and publicly verifiable way, and enabling the sharing of this information in real-time. </a:t>
            </a:r>
          </a:p>
          <a:p>
            <a:r>
              <a:rPr lang="en-US" altLang="ko-KR" dirty="0"/>
              <a:t>Additionally, smart contracts can be bound to protocol revisions, such that any change in the clinical trial protocol requires the patient consent needing renewal.</a:t>
            </a:r>
            <a:endParaRPr lang="ko-KR" altLang="en-US" dirty="0"/>
          </a:p>
          <a:p>
            <a:endParaRPr lang="ko-KR" altLang="en-US" dirty="0"/>
          </a:p>
        </p:txBody>
      </p:sp>
    </p:spTree>
    <p:extLst>
      <p:ext uri="{BB962C8B-B14F-4D97-AF65-F5344CB8AC3E}">
        <p14:creationId xmlns:p14="http://schemas.microsoft.com/office/powerpoint/2010/main" val="3584959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F64E9-E27B-CD55-90CE-EA1DDE865735}"/>
              </a:ext>
            </a:extLst>
          </p:cNvPr>
          <p:cNvSpPr>
            <a:spLocks noGrp="1"/>
          </p:cNvSpPr>
          <p:nvPr>
            <p:ph type="title"/>
          </p:nvPr>
        </p:nvSpPr>
        <p:spPr/>
        <p:txBody>
          <a:bodyPr/>
          <a:lstStyle/>
          <a:p>
            <a:r>
              <a:rPr lang="en-US" altLang="ko-KR" dirty="0"/>
              <a:t>Applications 3: Insurance </a:t>
            </a:r>
            <a:endParaRPr lang="ko-KR" altLang="en-US" dirty="0"/>
          </a:p>
        </p:txBody>
      </p:sp>
      <p:sp>
        <p:nvSpPr>
          <p:cNvPr id="3" name="Content Placeholder 2">
            <a:extLst>
              <a:ext uri="{FF2B5EF4-FFF2-40B4-BE49-F238E27FC236}">
                <a16:creationId xmlns:a16="http://schemas.microsoft.com/office/drawing/2014/main" id="{203A49E8-9576-4D0C-59A5-0817396745E8}"/>
              </a:ext>
            </a:extLst>
          </p:cNvPr>
          <p:cNvSpPr>
            <a:spLocks noGrp="1"/>
          </p:cNvSpPr>
          <p:nvPr>
            <p:ph idx="1"/>
          </p:nvPr>
        </p:nvSpPr>
        <p:spPr/>
        <p:txBody>
          <a:bodyPr/>
          <a:lstStyle/>
          <a:p>
            <a:r>
              <a:rPr lang="en-US" altLang="ko-KR" dirty="0"/>
              <a:t>Arguably, the greatest Blockchain application for insurance is through smart contracts. Such contracts powered by Blockchain could allow customers and insurers to manage claims in a truly transparent and secure manner, according to Deloitte. </a:t>
            </a:r>
          </a:p>
          <a:p>
            <a:r>
              <a:rPr lang="en-US" altLang="ko-KR" dirty="0"/>
              <a:t>All contracts and claims could be recorded on the Blockchain and validated by the network, which would eliminate invalid claims. </a:t>
            </a:r>
          </a:p>
          <a:p>
            <a:r>
              <a:rPr lang="en-US" altLang="ko-KR" dirty="0"/>
              <a:t>For example, the Blockchain would reject multiple claims on the same accident.</a:t>
            </a:r>
            <a:endParaRPr lang="ko-KR" altLang="en-US" dirty="0"/>
          </a:p>
        </p:txBody>
      </p:sp>
    </p:spTree>
    <p:extLst>
      <p:ext uri="{BB962C8B-B14F-4D97-AF65-F5344CB8AC3E}">
        <p14:creationId xmlns:p14="http://schemas.microsoft.com/office/powerpoint/2010/main" val="3234753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700B-503A-AFD7-5A82-3C60359E46D0}"/>
              </a:ext>
            </a:extLst>
          </p:cNvPr>
          <p:cNvSpPr>
            <a:spLocks noGrp="1"/>
          </p:cNvSpPr>
          <p:nvPr>
            <p:ph type="title"/>
          </p:nvPr>
        </p:nvSpPr>
        <p:spPr/>
        <p:txBody>
          <a:bodyPr/>
          <a:lstStyle/>
          <a:p>
            <a:endParaRPr lang="ko-KR" altLang="en-US"/>
          </a:p>
        </p:txBody>
      </p:sp>
      <p:sp>
        <p:nvSpPr>
          <p:cNvPr id="3" name="Content Placeholder 2">
            <a:extLst>
              <a:ext uri="{FF2B5EF4-FFF2-40B4-BE49-F238E27FC236}">
                <a16:creationId xmlns:a16="http://schemas.microsoft.com/office/drawing/2014/main" id="{F47C61E5-589C-DF05-E780-66E745C7EBC5}"/>
              </a:ext>
            </a:extLst>
          </p:cNvPr>
          <p:cNvSpPr>
            <a:spLocks noGrp="1"/>
          </p:cNvSpPr>
          <p:nvPr>
            <p:ph idx="1"/>
          </p:nvPr>
        </p:nvSpPr>
        <p:spPr/>
        <p:txBody>
          <a:bodyPr/>
          <a:lstStyle/>
          <a:p>
            <a:pPr marL="0" indent="0">
              <a:buNone/>
            </a:pPr>
            <a:r>
              <a:rPr lang="en-US" altLang="ko-KR" dirty="0"/>
              <a:t>Blockchain can improve </a:t>
            </a:r>
            <a:r>
              <a:rPr lang="en-US" altLang="ko-KR" b="1" dirty="0"/>
              <a:t>insurance</a:t>
            </a:r>
            <a:r>
              <a:rPr lang="en-US" altLang="ko-KR" dirty="0"/>
              <a:t> by using </a:t>
            </a:r>
            <a:r>
              <a:rPr lang="en-US" altLang="ko-KR" b="1" dirty="0"/>
              <a:t>smart contracts</a:t>
            </a:r>
            <a:r>
              <a:rPr lang="en-US" altLang="ko-KR" dirty="0"/>
              <a:t> (automatic digital agreements).</a:t>
            </a:r>
            <a:br>
              <a:rPr lang="en-US" altLang="ko-KR" dirty="0"/>
            </a:br>
            <a:r>
              <a:rPr lang="en-US" altLang="ko-KR" dirty="0"/>
              <a:t>These smart contracts:</a:t>
            </a:r>
          </a:p>
          <a:p>
            <a:r>
              <a:rPr lang="en-US" altLang="ko-KR" dirty="0"/>
              <a:t>Automatically check if a claim is valid</a:t>
            </a:r>
          </a:p>
          <a:p>
            <a:r>
              <a:rPr lang="en-US" altLang="ko-KR" dirty="0"/>
              <a:t>Record all claims safely on blockchain</a:t>
            </a:r>
          </a:p>
          <a:p>
            <a:r>
              <a:rPr lang="en-US" altLang="ko-KR" dirty="0"/>
              <a:t>Stop fake or duplicate claims</a:t>
            </a:r>
          </a:p>
          <a:p>
            <a:r>
              <a:rPr lang="en-US" altLang="ko-KR" dirty="0"/>
              <a:t>Make the process </a:t>
            </a:r>
            <a:r>
              <a:rPr lang="en-US" altLang="ko-KR" b="1" dirty="0"/>
              <a:t>transparent, fast, and secure</a:t>
            </a:r>
            <a:endParaRPr lang="en-US" altLang="ko-KR" dirty="0"/>
          </a:p>
          <a:p>
            <a:pPr marL="0" indent="0">
              <a:buNone/>
            </a:pPr>
            <a:r>
              <a:rPr lang="en-US" altLang="ko-KR" dirty="0"/>
              <a:t>So, no cheating, no confusion, and less paperwork.</a:t>
            </a:r>
          </a:p>
          <a:p>
            <a:endParaRPr lang="ko-KR" altLang="en-US" dirty="0"/>
          </a:p>
        </p:txBody>
      </p:sp>
    </p:spTree>
    <p:extLst>
      <p:ext uri="{BB962C8B-B14F-4D97-AF65-F5344CB8AC3E}">
        <p14:creationId xmlns:p14="http://schemas.microsoft.com/office/powerpoint/2010/main" val="3133265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75C0C-90BE-DC15-A9D0-1383BDCA0E51}"/>
              </a:ext>
            </a:extLst>
          </p:cNvPr>
          <p:cNvSpPr>
            <a:spLocks noGrp="1"/>
          </p:cNvSpPr>
          <p:nvPr>
            <p:ph type="title"/>
          </p:nvPr>
        </p:nvSpPr>
        <p:spPr/>
        <p:txBody>
          <a:bodyPr/>
          <a:lstStyle/>
          <a:p>
            <a:r>
              <a:rPr lang="en-US" altLang="ko-KR" dirty="0"/>
              <a:t>Daily Life Example 1</a:t>
            </a:r>
            <a:endParaRPr lang="ko-KR" altLang="en-US" dirty="0"/>
          </a:p>
        </p:txBody>
      </p:sp>
      <p:sp>
        <p:nvSpPr>
          <p:cNvPr id="3" name="Content Placeholder 2">
            <a:extLst>
              <a:ext uri="{FF2B5EF4-FFF2-40B4-BE49-F238E27FC236}">
                <a16:creationId xmlns:a16="http://schemas.microsoft.com/office/drawing/2014/main" id="{8860407E-E686-5492-4F58-A62524A81ABB}"/>
              </a:ext>
            </a:extLst>
          </p:cNvPr>
          <p:cNvSpPr>
            <a:spLocks noGrp="1"/>
          </p:cNvSpPr>
          <p:nvPr>
            <p:ph idx="1"/>
          </p:nvPr>
        </p:nvSpPr>
        <p:spPr/>
        <p:txBody>
          <a:bodyPr>
            <a:normAutofit/>
          </a:bodyPr>
          <a:lstStyle/>
          <a:p>
            <a:pPr marL="0" indent="0">
              <a:buNone/>
            </a:pPr>
            <a:r>
              <a:rPr lang="en-US" altLang="ko-KR" dirty="0"/>
              <a:t>Imagine you buy </a:t>
            </a:r>
            <a:r>
              <a:rPr lang="en-US" altLang="ko-KR" b="1" dirty="0"/>
              <a:t>car insurance</a:t>
            </a:r>
            <a:r>
              <a:rPr lang="en-US" altLang="ko-KR" dirty="0"/>
              <a:t>.</a:t>
            </a:r>
          </a:p>
          <a:p>
            <a:r>
              <a:rPr lang="en-US" altLang="ko-KR" dirty="0"/>
              <a:t>You set a smart contract: </a:t>
            </a:r>
            <a:r>
              <a:rPr lang="en-US" altLang="ko-KR" i="1" dirty="0"/>
              <a:t>If accident happens → pay repair money automatically.</a:t>
            </a:r>
            <a:endParaRPr lang="en-US" altLang="ko-KR" dirty="0"/>
          </a:p>
          <a:p>
            <a:r>
              <a:rPr lang="en-US" altLang="ko-KR" dirty="0"/>
              <a:t>Your car has sensors or police report confirms accident.</a:t>
            </a:r>
          </a:p>
          <a:p>
            <a:r>
              <a:rPr lang="en-US" altLang="ko-KR" dirty="0"/>
              <a:t>Blockchain checks data → accident is real ✔️</a:t>
            </a:r>
          </a:p>
          <a:p>
            <a:r>
              <a:rPr lang="en-US" altLang="ko-KR" dirty="0"/>
              <a:t>Payment is sent automatically to you.</a:t>
            </a:r>
          </a:p>
          <a:p>
            <a:pPr marL="0" indent="0">
              <a:buNone/>
            </a:pPr>
            <a:r>
              <a:rPr lang="en-US" altLang="ko-KR" dirty="0"/>
              <a:t>Now suppose you try to claim </a:t>
            </a:r>
            <a:r>
              <a:rPr lang="en-US" altLang="ko-KR" b="1" dirty="0"/>
              <a:t>twice for same accident</a:t>
            </a:r>
            <a:r>
              <a:rPr lang="en-US" altLang="ko-KR" dirty="0"/>
              <a:t> ❌</a:t>
            </a:r>
            <a:br>
              <a:rPr lang="en-US" altLang="ko-KR" dirty="0"/>
            </a:br>
            <a:r>
              <a:rPr lang="en-US" altLang="ko-KR" dirty="0"/>
              <a:t>Blockchain already recorded first claim → second claim </a:t>
            </a:r>
            <a:r>
              <a:rPr lang="en-US" altLang="ko-KR" b="1" dirty="0"/>
              <a:t>rejected automatically</a:t>
            </a:r>
            <a:r>
              <a:rPr lang="en-US" altLang="ko-KR" dirty="0"/>
              <a:t>. No fraud, no manual checking.</a:t>
            </a:r>
          </a:p>
          <a:p>
            <a:endParaRPr lang="ko-KR" altLang="en-US" dirty="0"/>
          </a:p>
        </p:txBody>
      </p:sp>
    </p:spTree>
    <p:extLst>
      <p:ext uri="{BB962C8B-B14F-4D97-AF65-F5344CB8AC3E}">
        <p14:creationId xmlns:p14="http://schemas.microsoft.com/office/powerpoint/2010/main" val="33695611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45A7A-901E-C3CC-E551-EF2E570E1F37}"/>
              </a:ext>
            </a:extLst>
          </p:cNvPr>
          <p:cNvSpPr>
            <a:spLocks noGrp="1"/>
          </p:cNvSpPr>
          <p:nvPr>
            <p:ph type="title"/>
          </p:nvPr>
        </p:nvSpPr>
        <p:spPr/>
        <p:txBody>
          <a:bodyPr/>
          <a:lstStyle/>
          <a:p>
            <a:r>
              <a:rPr lang="en-US" altLang="ko-KR" dirty="0"/>
              <a:t>Daily Life Example 2</a:t>
            </a:r>
            <a:endParaRPr lang="ko-KR" altLang="en-US" dirty="0"/>
          </a:p>
        </p:txBody>
      </p:sp>
      <p:sp>
        <p:nvSpPr>
          <p:cNvPr id="3" name="Content Placeholder 2">
            <a:extLst>
              <a:ext uri="{FF2B5EF4-FFF2-40B4-BE49-F238E27FC236}">
                <a16:creationId xmlns:a16="http://schemas.microsoft.com/office/drawing/2014/main" id="{75B00FC9-AA39-D994-154A-71ADEFBE4EC5}"/>
              </a:ext>
            </a:extLst>
          </p:cNvPr>
          <p:cNvSpPr>
            <a:spLocks noGrp="1"/>
          </p:cNvSpPr>
          <p:nvPr>
            <p:ph idx="1"/>
          </p:nvPr>
        </p:nvSpPr>
        <p:spPr/>
        <p:txBody>
          <a:bodyPr/>
          <a:lstStyle/>
          <a:p>
            <a:pPr marL="0" indent="0">
              <a:buNone/>
            </a:pPr>
            <a:r>
              <a:rPr lang="en-US" altLang="ko-KR" b="1" dirty="0"/>
              <a:t>Vending Machine = Smart Contract</a:t>
            </a:r>
            <a:endParaRPr lang="en-US" altLang="ko-KR" dirty="0"/>
          </a:p>
          <a:p>
            <a:r>
              <a:rPr lang="en-US" altLang="ko-KR" dirty="0"/>
              <a:t>Insert money</a:t>
            </a:r>
          </a:p>
          <a:p>
            <a:r>
              <a:rPr lang="en-US" altLang="ko-KR" dirty="0"/>
              <a:t>Choose drink</a:t>
            </a:r>
          </a:p>
          <a:p>
            <a:r>
              <a:rPr lang="en-US" altLang="ko-KR" dirty="0"/>
              <a:t>Machine checks money</a:t>
            </a:r>
          </a:p>
          <a:p>
            <a:r>
              <a:rPr lang="en-US" altLang="ko-KR" dirty="0"/>
              <a:t>Condition true (enough money)</a:t>
            </a:r>
          </a:p>
          <a:p>
            <a:r>
              <a:rPr lang="en-US" altLang="ko-KR" dirty="0"/>
              <a:t>Drink comes automatically</a:t>
            </a:r>
          </a:p>
          <a:p>
            <a:pPr marL="0" indent="0">
              <a:buNone/>
            </a:pPr>
            <a:r>
              <a:rPr lang="en-US" altLang="ko-KR" dirty="0"/>
              <a:t>No shopkeeper needed</a:t>
            </a:r>
          </a:p>
          <a:p>
            <a:endParaRPr lang="ko-KR" altLang="en-US" dirty="0"/>
          </a:p>
        </p:txBody>
      </p:sp>
    </p:spTree>
    <p:extLst>
      <p:ext uri="{BB962C8B-B14F-4D97-AF65-F5344CB8AC3E}">
        <p14:creationId xmlns:p14="http://schemas.microsoft.com/office/powerpoint/2010/main" val="3027917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5645-ED59-103F-56A7-445D1B76030B}"/>
              </a:ext>
            </a:extLst>
          </p:cNvPr>
          <p:cNvSpPr>
            <a:spLocks noGrp="1"/>
          </p:cNvSpPr>
          <p:nvPr>
            <p:ph type="title"/>
          </p:nvPr>
        </p:nvSpPr>
        <p:spPr/>
        <p:txBody>
          <a:bodyPr/>
          <a:lstStyle/>
          <a:p>
            <a:r>
              <a:rPr lang="en-US" altLang="ko-KR" dirty="0"/>
              <a:t>Crypto / Blockchain Example </a:t>
            </a:r>
            <a:endParaRPr lang="ko-KR" altLang="en-US" dirty="0"/>
          </a:p>
        </p:txBody>
      </p:sp>
      <p:sp>
        <p:nvSpPr>
          <p:cNvPr id="3" name="Content Placeholder 2">
            <a:extLst>
              <a:ext uri="{FF2B5EF4-FFF2-40B4-BE49-F238E27FC236}">
                <a16:creationId xmlns:a16="http://schemas.microsoft.com/office/drawing/2014/main" id="{4D22D704-FEAA-A197-1938-E03312F4E1BB}"/>
              </a:ext>
            </a:extLst>
          </p:cNvPr>
          <p:cNvSpPr>
            <a:spLocks noGrp="1"/>
          </p:cNvSpPr>
          <p:nvPr>
            <p:ph idx="1"/>
          </p:nvPr>
        </p:nvSpPr>
        <p:spPr/>
        <p:txBody>
          <a:bodyPr>
            <a:normAutofit lnSpcReduction="10000"/>
          </a:bodyPr>
          <a:lstStyle/>
          <a:p>
            <a:pPr marL="0" indent="0">
              <a:buNone/>
            </a:pPr>
            <a:r>
              <a:rPr lang="en-US" altLang="ko-KR" dirty="0"/>
              <a:t>In blockchain insurance (like decentralized insurance):</a:t>
            </a:r>
          </a:p>
          <a:p>
            <a:r>
              <a:rPr lang="en-US" altLang="ko-KR" dirty="0"/>
              <a:t>A farmer buys </a:t>
            </a:r>
            <a:r>
              <a:rPr lang="en-US" altLang="ko-KR" b="1" dirty="0"/>
              <a:t>weather insurance</a:t>
            </a:r>
            <a:r>
              <a:rPr lang="en-US" altLang="ko-KR" dirty="0"/>
              <a:t> using smart contract.</a:t>
            </a:r>
          </a:p>
          <a:p>
            <a:r>
              <a:rPr lang="en-US" altLang="ko-KR" dirty="0"/>
              <a:t>Rule in contract: </a:t>
            </a:r>
            <a:r>
              <a:rPr lang="en-US" altLang="ko-KR" i="1" dirty="0"/>
              <a:t>If rainfall &lt; 20mm this month → automatic payout.</a:t>
            </a:r>
            <a:endParaRPr lang="en-US" altLang="ko-KR" dirty="0"/>
          </a:p>
          <a:p>
            <a:r>
              <a:rPr lang="en-US" altLang="ko-KR" dirty="0"/>
              <a:t>Weather data comes from trusted oracle.</a:t>
            </a:r>
          </a:p>
          <a:p>
            <a:r>
              <a:rPr lang="en-US" altLang="ko-KR" dirty="0"/>
              <a:t>If drought happens → smart contract sends crypto payment automatically.</a:t>
            </a:r>
          </a:p>
          <a:p>
            <a:pPr marL="0" indent="0">
              <a:buNone/>
            </a:pPr>
            <a:r>
              <a:rPr lang="en-US" altLang="ko-KR" dirty="0"/>
              <a:t>If farmer tries to claim again for same drought ❌</a:t>
            </a:r>
            <a:br>
              <a:rPr lang="en-US" altLang="ko-KR" dirty="0"/>
            </a:br>
            <a:r>
              <a:rPr lang="en-US" altLang="ko-KR" dirty="0"/>
              <a:t>Blockchain record shows claim already paid → </a:t>
            </a:r>
            <a:r>
              <a:rPr lang="en-US" altLang="ko-KR" b="1" dirty="0"/>
              <a:t>duplicate claim rejected</a:t>
            </a:r>
            <a:r>
              <a:rPr lang="en-US" altLang="ko-KR" dirty="0"/>
              <a:t>.</a:t>
            </a:r>
          </a:p>
          <a:p>
            <a:endParaRPr lang="ko-KR" altLang="en-US" dirty="0"/>
          </a:p>
        </p:txBody>
      </p:sp>
    </p:spTree>
    <p:extLst>
      <p:ext uri="{BB962C8B-B14F-4D97-AF65-F5344CB8AC3E}">
        <p14:creationId xmlns:p14="http://schemas.microsoft.com/office/powerpoint/2010/main" val="35602774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91AEE-85E8-2989-C413-148336D158BD}"/>
              </a:ext>
            </a:extLst>
          </p:cNvPr>
          <p:cNvSpPr>
            <a:spLocks noGrp="1"/>
          </p:cNvSpPr>
          <p:nvPr>
            <p:ph type="title"/>
          </p:nvPr>
        </p:nvSpPr>
        <p:spPr/>
        <p:txBody>
          <a:bodyPr/>
          <a:lstStyle/>
          <a:p>
            <a:r>
              <a:rPr lang="en-US" altLang="ko-KR" b="1" dirty="0"/>
              <a:t>Smart Contract — Easy 5 Steps</a:t>
            </a:r>
            <a:endParaRPr lang="ko-KR" altLang="en-US" dirty="0"/>
          </a:p>
        </p:txBody>
      </p:sp>
      <p:sp>
        <p:nvSpPr>
          <p:cNvPr id="3" name="Content Placeholder 2">
            <a:extLst>
              <a:ext uri="{FF2B5EF4-FFF2-40B4-BE49-F238E27FC236}">
                <a16:creationId xmlns:a16="http://schemas.microsoft.com/office/drawing/2014/main" id="{F9F85EED-1E71-2447-CFCB-D4C60781D44C}"/>
              </a:ext>
            </a:extLst>
          </p:cNvPr>
          <p:cNvSpPr>
            <a:spLocks noGrp="1"/>
          </p:cNvSpPr>
          <p:nvPr>
            <p:ph idx="1"/>
          </p:nvPr>
        </p:nvSpPr>
        <p:spPr/>
        <p:txBody>
          <a:bodyPr>
            <a:normAutofit fontScale="85000" lnSpcReduction="20000"/>
          </a:bodyPr>
          <a:lstStyle/>
          <a:p>
            <a:r>
              <a:rPr lang="en-US" altLang="ko-KR" b="1" dirty="0"/>
              <a:t>Step 1 — Create Rules </a:t>
            </a:r>
            <a:r>
              <a:rPr lang="ko-KR" altLang="en-US" b="1" dirty="0"/>
              <a:t>📝</a:t>
            </a:r>
            <a:br>
              <a:rPr lang="en-US" altLang="ko-KR" dirty="0"/>
            </a:br>
            <a:r>
              <a:rPr lang="en-US" altLang="ko-KR" dirty="0"/>
              <a:t>Two people make an agreement in code.</a:t>
            </a:r>
            <a:br>
              <a:rPr lang="en-US" altLang="ko-KR" dirty="0"/>
            </a:br>
            <a:r>
              <a:rPr lang="en-US" altLang="ko-KR" dirty="0"/>
              <a:t>Example rule: </a:t>
            </a:r>
            <a:r>
              <a:rPr lang="en-US" altLang="ko-KR" i="1" dirty="0"/>
              <a:t>If condition happens → payment sent automatically.</a:t>
            </a:r>
            <a:endParaRPr lang="en-US" altLang="ko-KR" dirty="0"/>
          </a:p>
          <a:p>
            <a:r>
              <a:rPr lang="en-US" altLang="ko-KR" b="1" dirty="0"/>
              <a:t>Step 2 — Put on Blockchain </a:t>
            </a:r>
            <a:r>
              <a:rPr lang="ko-KR" altLang="en-US" b="1" dirty="0"/>
              <a:t>🔗</a:t>
            </a:r>
            <a:br>
              <a:rPr lang="en-US" altLang="ko-KR" dirty="0"/>
            </a:br>
            <a:r>
              <a:rPr lang="en-US" altLang="ko-KR" dirty="0"/>
              <a:t>The contract is uploaded to blockchain, so no one can change or cheat it.</a:t>
            </a:r>
          </a:p>
          <a:p>
            <a:r>
              <a:rPr lang="en-US" altLang="ko-KR" b="1" dirty="0"/>
              <a:t>Step 3 — Wait for Condition ⏳</a:t>
            </a:r>
            <a:br>
              <a:rPr lang="en-US" altLang="ko-KR" dirty="0"/>
            </a:br>
            <a:r>
              <a:rPr lang="en-US" altLang="ko-KR" dirty="0"/>
              <a:t>The smart contract keeps watching for the condition to happen.</a:t>
            </a:r>
          </a:p>
          <a:p>
            <a:r>
              <a:rPr lang="en-US" altLang="ko-KR" b="1" dirty="0"/>
              <a:t>Step 4 — Condition Met ✔️</a:t>
            </a:r>
            <a:br>
              <a:rPr lang="en-US" altLang="ko-KR" dirty="0"/>
            </a:br>
            <a:r>
              <a:rPr lang="en-US" altLang="ko-KR" dirty="0"/>
              <a:t>When the condition becomes true, the contract checks it automatically.</a:t>
            </a:r>
          </a:p>
          <a:p>
            <a:r>
              <a:rPr lang="en-US" altLang="ko-KR" b="1" dirty="0"/>
              <a:t>Step 5 — Auto Action ⚡</a:t>
            </a:r>
            <a:br>
              <a:rPr lang="en-US" altLang="ko-KR" dirty="0"/>
            </a:br>
            <a:r>
              <a:rPr lang="en-US" altLang="ko-KR" dirty="0"/>
              <a:t>Contract executes itself → sends money / records data / completes task.</a:t>
            </a:r>
            <a:br>
              <a:rPr lang="en-US" altLang="ko-KR" dirty="0"/>
            </a:br>
            <a:r>
              <a:rPr lang="en-US" altLang="ko-KR" dirty="0"/>
              <a:t>No middleman, no delay, no cheating.</a:t>
            </a:r>
          </a:p>
          <a:p>
            <a:endParaRPr lang="ko-KR" altLang="en-US" dirty="0"/>
          </a:p>
        </p:txBody>
      </p:sp>
    </p:spTree>
    <p:extLst>
      <p:ext uri="{BB962C8B-B14F-4D97-AF65-F5344CB8AC3E}">
        <p14:creationId xmlns:p14="http://schemas.microsoft.com/office/powerpoint/2010/main" val="3721074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2A5A7-25C8-CA39-D570-96502351D503}"/>
              </a:ext>
            </a:extLst>
          </p:cNvPr>
          <p:cNvSpPr>
            <a:spLocks noGrp="1"/>
          </p:cNvSpPr>
          <p:nvPr>
            <p:ph type="title"/>
          </p:nvPr>
        </p:nvSpPr>
        <p:spPr/>
        <p:txBody>
          <a:bodyPr/>
          <a:lstStyle/>
          <a:p>
            <a:r>
              <a:rPr lang="en-US" altLang="ko-KR" dirty="0"/>
              <a:t>Application 4: Real Estate</a:t>
            </a:r>
            <a:endParaRPr lang="ko-KR" altLang="en-US" dirty="0"/>
          </a:p>
        </p:txBody>
      </p:sp>
      <p:sp>
        <p:nvSpPr>
          <p:cNvPr id="3" name="Content Placeholder 2">
            <a:extLst>
              <a:ext uri="{FF2B5EF4-FFF2-40B4-BE49-F238E27FC236}">
                <a16:creationId xmlns:a16="http://schemas.microsoft.com/office/drawing/2014/main" id="{D2F68240-EA09-D7EB-9651-7415EA92832D}"/>
              </a:ext>
            </a:extLst>
          </p:cNvPr>
          <p:cNvSpPr>
            <a:spLocks noGrp="1"/>
          </p:cNvSpPr>
          <p:nvPr>
            <p:ph idx="1"/>
          </p:nvPr>
        </p:nvSpPr>
        <p:spPr/>
        <p:txBody>
          <a:bodyPr/>
          <a:lstStyle/>
          <a:p>
            <a:r>
              <a:rPr lang="en-US" altLang="ko-KR" dirty="0"/>
              <a:t>The average homeowner sells his or her home every 5 to 7 years, and the average person will move nearly 12 times during his or her lifetime. With such movement, Blockchain could certainly be of use in the real estate market. </a:t>
            </a:r>
          </a:p>
          <a:p>
            <a:endParaRPr lang="en-US" altLang="ko-KR" dirty="0"/>
          </a:p>
          <a:p>
            <a:r>
              <a:rPr lang="en-US" altLang="ko-KR" dirty="0"/>
              <a:t>It would expedite home sales by quickly verifying finances, would reduce fraud thanks to its encryption, and would offer transparency throughout the entire selling and purchasing process.</a:t>
            </a:r>
            <a:endParaRPr lang="ko-KR" altLang="en-US" dirty="0"/>
          </a:p>
        </p:txBody>
      </p:sp>
    </p:spTree>
    <p:extLst>
      <p:ext uri="{BB962C8B-B14F-4D97-AF65-F5344CB8AC3E}">
        <p14:creationId xmlns:p14="http://schemas.microsoft.com/office/powerpoint/2010/main" val="11130679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0EB55-485B-E9CB-7D1F-3C411BDC7AEE}"/>
              </a:ext>
            </a:extLst>
          </p:cNvPr>
          <p:cNvSpPr>
            <a:spLocks noGrp="1"/>
          </p:cNvSpPr>
          <p:nvPr>
            <p:ph type="title"/>
          </p:nvPr>
        </p:nvSpPr>
        <p:spPr/>
        <p:txBody>
          <a:bodyPr/>
          <a:lstStyle/>
          <a:p>
            <a:r>
              <a:rPr lang="en-US" altLang="ko-KR" dirty="0"/>
              <a:t>EXPLAINATION</a:t>
            </a:r>
            <a:endParaRPr lang="ko-KR" altLang="en-US" dirty="0"/>
          </a:p>
        </p:txBody>
      </p:sp>
      <p:sp>
        <p:nvSpPr>
          <p:cNvPr id="3" name="Content Placeholder 2">
            <a:extLst>
              <a:ext uri="{FF2B5EF4-FFF2-40B4-BE49-F238E27FC236}">
                <a16:creationId xmlns:a16="http://schemas.microsoft.com/office/drawing/2014/main" id="{CBEB3358-55B1-C57F-353D-757810E26F34}"/>
              </a:ext>
            </a:extLst>
          </p:cNvPr>
          <p:cNvSpPr>
            <a:spLocks noGrp="1"/>
          </p:cNvSpPr>
          <p:nvPr>
            <p:ph idx="1"/>
          </p:nvPr>
        </p:nvSpPr>
        <p:spPr/>
        <p:txBody>
          <a:bodyPr/>
          <a:lstStyle/>
          <a:p>
            <a:pPr marL="0" indent="0">
              <a:buNone/>
            </a:pPr>
            <a:r>
              <a:rPr lang="en-US" altLang="ko-KR" dirty="0"/>
              <a:t>In </a:t>
            </a:r>
            <a:r>
              <a:rPr lang="en-US" altLang="ko-KR" b="1" dirty="0"/>
              <a:t>real estate (buying/selling houses)</a:t>
            </a:r>
            <a:r>
              <a:rPr lang="en-US" altLang="ko-KR" dirty="0"/>
              <a:t>, blockchain can make the process:</a:t>
            </a:r>
          </a:p>
          <a:p>
            <a:r>
              <a:rPr lang="en-US" altLang="ko-KR" dirty="0"/>
              <a:t>Faster ⚡ (quick verification of money and documents)</a:t>
            </a:r>
          </a:p>
          <a:p>
            <a:r>
              <a:rPr lang="en-US" altLang="ko-KR" dirty="0"/>
              <a:t>Safer </a:t>
            </a:r>
            <a:r>
              <a:rPr lang="ko-KR" altLang="en-US" dirty="0"/>
              <a:t>🔒 </a:t>
            </a:r>
            <a:r>
              <a:rPr lang="en-US" altLang="ko-KR" dirty="0"/>
              <a:t>(hard to cheat because records cannot be changed)</a:t>
            </a:r>
          </a:p>
          <a:p>
            <a:r>
              <a:rPr lang="en-US" altLang="ko-KR" dirty="0"/>
              <a:t>Transparent </a:t>
            </a:r>
            <a:r>
              <a:rPr lang="ko-KR" altLang="en-US" dirty="0"/>
              <a:t>👀 </a:t>
            </a:r>
            <a:r>
              <a:rPr lang="en-US" altLang="ko-KR" dirty="0"/>
              <a:t>(everyone can see correct history)</a:t>
            </a:r>
          </a:p>
          <a:p>
            <a:pPr marL="0" indent="0">
              <a:buNone/>
            </a:pPr>
            <a:r>
              <a:rPr lang="en-US" altLang="ko-KR" dirty="0"/>
              <a:t>This helps reduce fraud and speeds up buying and selling property.</a:t>
            </a:r>
          </a:p>
          <a:p>
            <a:endParaRPr lang="ko-KR" altLang="en-US" dirty="0"/>
          </a:p>
        </p:txBody>
      </p:sp>
    </p:spTree>
    <p:extLst>
      <p:ext uri="{BB962C8B-B14F-4D97-AF65-F5344CB8AC3E}">
        <p14:creationId xmlns:p14="http://schemas.microsoft.com/office/powerpoint/2010/main" val="38650812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13165-D771-09CF-4C49-75B7B6D9F06E}"/>
              </a:ext>
            </a:extLst>
          </p:cNvPr>
          <p:cNvSpPr>
            <a:spLocks noGrp="1"/>
          </p:cNvSpPr>
          <p:nvPr>
            <p:ph type="title"/>
          </p:nvPr>
        </p:nvSpPr>
        <p:spPr/>
        <p:txBody>
          <a:bodyPr/>
          <a:lstStyle/>
          <a:p>
            <a:r>
              <a:rPr lang="en-US" altLang="ko-KR" dirty="0"/>
              <a:t>Daily Life Example</a:t>
            </a:r>
            <a:endParaRPr lang="ko-KR" altLang="en-US" dirty="0"/>
          </a:p>
        </p:txBody>
      </p:sp>
      <p:sp>
        <p:nvSpPr>
          <p:cNvPr id="3" name="Content Placeholder 2">
            <a:extLst>
              <a:ext uri="{FF2B5EF4-FFF2-40B4-BE49-F238E27FC236}">
                <a16:creationId xmlns:a16="http://schemas.microsoft.com/office/drawing/2014/main" id="{71186B61-2C89-0B8B-7A02-BEDBDE047C53}"/>
              </a:ext>
            </a:extLst>
          </p:cNvPr>
          <p:cNvSpPr>
            <a:spLocks noGrp="1"/>
          </p:cNvSpPr>
          <p:nvPr>
            <p:ph idx="1"/>
          </p:nvPr>
        </p:nvSpPr>
        <p:spPr/>
        <p:txBody>
          <a:bodyPr>
            <a:normAutofit fontScale="85000" lnSpcReduction="20000"/>
          </a:bodyPr>
          <a:lstStyle/>
          <a:p>
            <a:pPr marL="0" indent="0">
              <a:buNone/>
            </a:pPr>
            <a:r>
              <a:rPr lang="en-US" altLang="ko-KR" dirty="0"/>
              <a:t>Normal house buying:</a:t>
            </a:r>
          </a:p>
          <a:p>
            <a:r>
              <a:rPr lang="en-US" altLang="ko-KR" dirty="0"/>
              <a:t>You want to buy a house</a:t>
            </a:r>
          </a:p>
          <a:p>
            <a:r>
              <a:rPr lang="en-US" altLang="ko-KR" dirty="0"/>
              <a:t>Bank checks your money (takes many days)</a:t>
            </a:r>
          </a:p>
          <a:p>
            <a:r>
              <a:rPr lang="en-US" altLang="ko-KR" dirty="0"/>
              <a:t>Papers checked manually</a:t>
            </a:r>
          </a:p>
          <a:p>
            <a:r>
              <a:rPr lang="en-US" altLang="ko-KR" dirty="0"/>
              <a:t>Risk of fake documents or hidden issues</a:t>
            </a:r>
          </a:p>
          <a:p>
            <a:pPr marL="0" indent="0">
              <a:buNone/>
            </a:pPr>
            <a:r>
              <a:rPr lang="en-US" altLang="ko-KR" dirty="0"/>
              <a:t>With blockchain:</a:t>
            </a:r>
          </a:p>
          <a:p>
            <a:r>
              <a:rPr lang="en-US" altLang="ko-KR" dirty="0"/>
              <a:t>Property records stored on blockchain</a:t>
            </a:r>
          </a:p>
          <a:p>
            <a:r>
              <a:rPr lang="en-US" altLang="ko-KR" dirty="0"/>
              <a:t>Buyer money verified quickly</a:t>
            </a:r>
          </a:p>
          <a:p>
            <a:r>
              <a:rPr lang="en-US" altLang="ko-KR" dirty="0"/>
              <a:t>Smart contract transfers ownership automatically after payment</a:t>
            </a:r>
          </a:p>
          <a:p>
            <a:r>
              <a:rPr lang="en-US" altLang="ko-KR" dirty="0"/>
              <a:t>All history visible → no fake ownership, no cheating</a:t>
            </a:r>
          </a:p>
          <a:p>
            <a:pPr marL="0" indent="0">
              <a:buNone/>
            </a:pPr>
            <a:r>
              <a:rPr lang="en-US" altLang="ko-KR" dirty="0"/>
              <a:t>So, </a:t>
            </a:r>
            <a:r>
              <a:rPr lang="en-US" altLang="ko-KR" b="1" dirty="0"/>
              <a:t>faster + safer + clear deal</a:t>
            </a:r>
            <a:r>
              <a:rPr lang="en-US" altLang="ko-KR" dirty="0"/>
              <a:t>.</a:t>
            </a:r>
          </a:p>
          <a:p>
            <a:endParaRPr lang="ko-KR" altLang="en-US" dirty="0"/>
          </a:p>
        </p:txBody>
      </p:sp>
    </p:spTree>
    <p:extLst>
      <p:ext uri="{BB962C8B-B14F-4D97-AF65-F5344CB8AC3E}">
        <p14:creationId xmlns:p14="http://schemas.microsoft.com/office/powerpoint/2010/main" val="41061312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2442A-4A53-DBD5-C18A-1DFAFC9E3F89}"/>
              </a:ext>
            </a:extLst>
          </p:cNvPr>
          <p:cNvSpPr>
            <a:spLocks noGrp="1"/>
          </p:cNvSpPr>
          <p:nvPr>
            <p:ph type="title"/>
          </p:nvPr>
        </p:nvSpPr>
        <p:spPr/>
        <p:txBody>
          <a:bodyPr/>
          <a:lstStyle/>
          <a:p>
            <a:r>
              <a:rPr lang="en-US" altLang="ko-KR" dirty="0"/>
              <a:t>Crypto / Blockchain Example</a:t>
            </a:r>
            <a:endParaRPr lang="ko-KR" altLang="en-US" dirty="0"/>
          </a:p>
        </p:txBody>
      </p:sp>
      <p:sp>
        <p:nvSpPr>
          <p:cNvPr id="3" name="Content Placeholder 2">
            <a:extLst>
              <a:ext uri="{FF2B5EF4-FFF2-40B4-BE49-F238E27FC236}">
                <a16:creationId xmlns:a16="http://schemas.microsoft.com/office/drawing/2014/main" id="{181FBE8E-B26D-313F-BBEA-A20F60D226A0}"/>
              </a:ext>
            </a:extLst>
          </p:cNvPr>
          <p:cNvSpPr>
            <a:spLocks noGrp="1"/>
          </p:cNvSpPr>
          <p:nvPr>
            <p:ph idx="1"/>
          </p:nvPr>
        </p:nvSpPr>
        <p:spPr/>
        <p:txBody>
          <a:bodyPr/>
          <a:lstStyle/>
          <a:p>
            <a:pPr marL="0" indent="0">
              <a:buNone/>
            </a:pPr>
            <a:r>
              <a:rPr lang="en-US" altLang="ko-KR" b="1" dirty="0"/>
              <a:t>Tokenized Real Estate</a:t>
            </a:r>
            <a:endParaRPr lang="en-US" altLang="ko-KR" dirty="0"/>
          </a:p>
          <a:p>
            <a:r>
              <a:rPr lang="en-US" altLang="ko-KR" dirty="0"/>
              <a:t>A house is converted into digital tokens on blockchain</a:t>
            </a:r>
          </a:p>
          <a:p>
            <a:r>
              <a:rPr lang="en-US" altLang="ko-KR" dirty="0"/>
              <a:t>Each token = small ownership share of property</a:t>
            </a:r>
          </a:p>
          <a:p>
            <a:r>
              <a:rPr lang="en-US" altLang="ko-KR" dirty="0"/>
              <a:t>Buyer sends crypto → smart contract transfers property tokens automatically</a:t>
            </a:r>
          </a:p>
          <a:p>
            <a:r>
              <a:rPr lang="en-US" altLang="ko-KR" dirty="0"/>
              <a:t>Ownership recorded permanently on blockchain</a:t>
            </a:r>
          </a:p>
          <a:p>
            <a:pPr marL="0" indent="0">
              <a:buNone/>
            </a:pPr>
            <a:r>
              <a:rPr lang="en-US" altLang="ko-KR" dirty="0"/>
              <a:t>No middleman, less paperwork, fast transfer.</a:t>
            </a:r>
          </a:p>
          <a:p>
            <a:pPr marL="0" indent="0">
              <a:buNone/>
            </a:pPr>
            <a:r>
              <a:rPr lang="en-US" altLang="ko-KR" b="1" dirty="0"/>
              <a:t>Blockchain in real estate = faster property transfer + fraud protection + transparent ownership history.</a:t>
            </a:r>
            <a:endParaRPr lang="en-US" altLang="ko-KR" dirty="0"/>
          </a:p>
          <a:p>
            <a:pPr marL="0" indent="0">
              <a:buNone/>
            </a:pPr>
            <a:endParaRPr lang="en-US" altLang="ko-KR" dirty="0"/>
          </a:p>
          <a:p>
            <a:endParaRPr lang="ko-KR" altLang="en-US" dirty="0"/>
          </a:p>
        </p:txBody>
      </p:sp>
    </p:spTree>
    <p:extLst>
      <p:ext uri="{BB962C8B-B14F-4D97-AF65-F5344CB8AC3E}">
        <p14:creationId xmlns:p14="http://schemas.microsoft.com/office/powerpoint/2010/main" val="4155143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D694D-26CA-2B0D-ADB1-DF6906C9BA60}"/>
              </a:ext>
            </a:extLst>
          </p:cNvPr>
          <p:cNvSpPr>
            <a:spLocks noGrp="1"/>
          </p:cNvSpPr>
          <p:nvPr>
            <p:ph type="title"/>
          </p:nvPr>
        </p:nvSpPr>
        <p:spPr/>
        <p:txBody>
          <a:bodyPr/>
          <a:lstStyle/>
          <a:p>
            <a:r>
              <a:rPr lang="en-US" altLang="ko-KR" dirty="0" err="1"/>
              <a:t>TOkenization</a:t>
            </a:r>
            <a:r>
              <a:rPr lang="en-US" altLang="ko-KR" dirty="0"/>
              <a:t>??</a:t>
            </a:r>
            <a:endParaRPr lang="ko-KR" altLang="en-US" dirty="0"/>
          </a:p>
        </p:txBody>
      </p:sp>
      <p:sp>
        <p:nvSpPr>
          <p:cNvPr id="3" name="Content Placeholder 2">
            <a:extLst>
              <a:ext uri="{FF2B5EF4-FFF2-40B4-BE49-F238E27FC236}">
                <a16:creationId xmlns:a16="http://schemas.microsoft.com/office/drawing/2014/main" id="{873A6E82-7D5C-9B77-2EBC-BC3AB01D11C3}"/>
              </a:ext>
            </a:extLst>
          </p:cNvPr>
          <p:cNvSpPr>
            <a:spLocks noGrp="1"/>
          </p:cNvSpPr>
          <p:nvPr>
            <p:ph idx="1"/>
          </p:nvPr>
        </p:nvSpPr>
        <p:spPr/>
        <p:txBody>
          <a:bodyPr/>
          <a:lstStyle/>
          <a:p>
            <a:r>
              <a:rPr lang="en-US" altLang="ko-KR" b="1" dirty="0"/>
              <a:t>Tokenization = converting a real thing into digital tokens on blockchain.</a:t>
            </a:r>
            <a:endParaRPr lang="en-US" altLang="ko-KR" dirty="0"/>
          </a:p>
          <a:p>
            <a:r>
              <a:rPr lang="en-US" altLang="ko-KR" dirty="0"/>
              <a:t>Each </a:t>
            </a:r>
            <a:r>
              <a:rPr lang="en-US" altLang="ko-KR" b="1" dirty="0"/>
              <a:t>token = small digital share</a:t>
            </a:r>
            <a:r>
              <a:rPr lang="en-US" altLang="ko-KR" dirty="0"/>
              <a:t> of something (house, gold, art, money, etc.).</a:t>
            </a:r>
          </a:p>
          <a:p>
            <a:r>
              <a:rPr lang="en-US" altLang="ko-KR" dirty="0"/>
              <a:t>So instead of buying the whole thing, you can buy </a:t>
            </a:r>
            <a:r>
              <a:rPr lang="en-US" altLang="ko-KR" b="1" dirty="0"/>
              <a:t>small parts</a:t>
            </a:r>
            <a:r>
              <a:rPr lang="en-US" altLang="ko-KR" dirty="0"/>
              <a:t> easily.</a:t>
            </a:r>
          </a:p>
          <a:p>
            <a:endParaRPr lang="ko-KR" altLang="en-US" dirty="0"/>
          </a:p>
        </p:txBody>
      </p:sp>
    </p:spTree>
    <p:extLst>
      <p:ext uri="{BB962C8B-B14F-4D97-AF65-F5344CB8AC3E}">
        <p14:creationId xmlns:p14="http://schemas.microsoft.com/office/powerpoint/2010/main" val="8956042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C9F57-6C84-D4B5-447D-B59006E816F5}"/>
              </a:ext>
            </a:extLst>
          </p:cNvPr>
          <p:cNvSpPr>
            <a:spLocks noGrp="1"/>
          </p:cNvSpPr>
          <p:nvPr>
            <p:ph type="title"/>
          </p:nvPr>
        </p:nvSpPr>
        <p:spPr/>
        <p:txBody>
          <a:bodyPr/>
          <a:lstStyle/>
          <a:p>
            <a:r>
              <a:rPr lang="en-US" altLang="ko-KR" dirty="0"/>
              <a:t>Daily Life Example</a:t>
            </a:r>
            <a:endParaRPr lang="ko-KR" altLang="en-US" dirty="0"/>
          </a:p>
        </p:txBody>
      </p:sp>
      <p:sp>
        <p:nvSpPr>
          <p:cNvPr id="3" name="Content Placeholder 2">
            <a:extLst>
              <a:ext uri="{FF2B5EF4-FFF2-40B4-BE49-F238E27FC236}">
                <a16:creationId xmlns:a16="http://schemas.microsoft.com/office/drawing/2014/main" id="{EDCF6B2B-C7C2-6CDB-8621-CDBAF4A5AAE3}"/>
              </a:ext>
            </a:extLst>
          </p:cNvPr>
          <p:cNvSpPr>
            <a:spLocks noGrp="1"/>
          </p:cNvSpPr>
          <p:nvPr>
            <p:ph idx="1"/>
          </p:nvPr>
        </p:nvSpPr>
        <p:spPr/>
        <p:txBody>
          <a:bodyPr/>
          <a:lstStyle/>
          <a:p>
            <a:pPr marL="0" indent="0">
              <a:buNone/>
            </a:pPr>
            <a:r>
              <a:rPr lang="en-US" altLang="ko-KR" dirty="0"/>
              <a:t>Imagine a </a:t>
            </a:r>
            <a:r>
              <a:rPr lang="en-US" altLang="ko-KR" b="1" dirty="0"/>
              <a:t>pizza </a:t>
            </a:r>
            <a:r>
              <a:rPr lang="ko-KR" altLang="en-US" b="1" dirty="0"/>
              <a:t>🍕</a:t>
            </a:r>
            <a:endParaRPr lang="en-US" altLang="ko-KR" dirty="0"/>
          </a:p>
          <a:p>
            <a:r>
              <a:rPr lang="en-US" altLang="ko-KR" dirty="0"/>
              <a:t>Whole pizza = real asset (like house)</a:t>
            </a:r>
          </a:p>
          <a:p>
            <a:r>
              <a:rPr lang="en-US" altLang="ko-KR" dirty="0"/>
              <a:t>Pizza cut into 8 slices = tokens</a:t>
            </a:r>
          </a:p>
          <a:p>
            <a:r>
              <a:rPr lang="en-US" altLang="ko-KR" dirty="0"/>
              <a:t>Each slice = small ownership</a:t>
            </a:r>
          </a:p>
          <a:p>
            <a:pPr marL="0" indent="0">
              <a:buNone/>
            </a:pPr>
            <a:r>
              <a:rPr lang="en-US" altLang="ko-KR" dirty="0"/>
              <a:t>You don’t need to buy full pizza → you can buy </a:t>
            </a:r>
            <a:r>
              <a:rPr lang="en-US" altLang="ko-KR" b="1" dirty="0"/>
              <a:t>1 slice only</a:t>
            </a:r>
            <a:r>
              <a:rPr lang="en-US" altLang="ko-KR" dirty="0"/>
              <a:t>.</a:t>
            </a:r>
          </a:p>
          <a:p>
            <a:pPr marL="0" indent="0">
              <a:buNone/>
            </a:pPr>
            <a:r>
              <a:rPr lang="en-US" altLang="ko-KR" dirty="0"/>
              <a:t>Same idea in tokenization.</a:t>
            </a:r>
          </a:p>
          <a:p>
            <a:endParaRPr lang="ko-KR" altLang="en-US" dirty="0"/>
          </a:p>
        </p:txBody>
      </p:sp>
    </p:spTree>
    <p:extLst>
      <p:ext uri="{BB962C8B-B14F-4D97-AF65-F5344CB8AC3E}">
        <p14:creationId xmlns:p14="http://schemas.microsoft.com/office/powerpoint/2010/main" val="16563661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99C2D-F7DA-3311-F850-7529307A8CA0}"/>
              </a:ext>
            </a:extLst>
          </p:cNvPr>
          <p:cNvSpPr>
            <a:spLocks noGrp="1"/>
          </p:cNvSpPr>
          <p:nvPr>
            <p:ph type="title"/>
          </p:nvPr>
        </p:nvSpPr>
        <p:spPr/>
        <p:txBody>
          <a:bodyPr/>
          <a:lstStyle/>
          <a:p>
            <a:r>
              <a:rPr lang="en-US" altLang="ko-KR" dirty="0"/>
              <a:t>Crypto / Blockchain Example</a:t>
            </a:r>
            <a:endParaRPr lang="ko-KR" altLang="en-US" dirty="0"/>
          </a:p>
        </p:txBody>
      </p:sp>
      <p:sp>
        <p:nvSpPr>
          <p:cNvPr id="3" name="Content Placeholder 2">
            <a:extLst>
              <a:ext uri="{FF2B5EF4-FFF2-40B4-BE49-F238E27FC236}">
                <a16:creationId xmlns:a16="http://schemas.microsoft.com/office/drawing/2014/main" id="{FDEEA639-B246-E7B5-054C-9171E8027BA7}"/>
              </a:ext>
            </a:extLst>
          </p:cNvPr>
          <p:cNvSpPr>
            <a:spLocks noGrp="1"/>
          </p:cNvSpPr>
          <p:nvPr>
            <p:ph idx="1"/>
          </p:nvPr>
        </p:nvSpPr>
        <p:spPr/>
        <p:txBody>
          <a:bodyPr>
            <a:normAutofit fontScale="92500" lnSpcReduction="20000"/>
          </a:bodyPr>
          <a:lstStyle/>
          <a:p>
            <a:pPr marL="0" indent="0">
              <a:buNone/>
            </a:pPr>
            <a:r>
              <a:rPr lang="en-US" altLang="ko-KR" b="1" dirty="0"/>
              <a:t>Tokenized House</a:t>
            </a:r>
            <a:endParaRPr lang="en-US" altLang="ko-KR" dirty="0"/>
          </a:p>
          <a:p>
            <a:r>
              <a:rPr lang="en-US" altLang="ko-KR" dirty="0"/>
              <a:t>Real house value = $100,000</a:t>
            </a:r>
          </a:p>
          <a:p>
            <a:r>
              <a:rPr lang="en-US" altLang="ko-KR" dirty="0"/>
              <a:t>Converted into </a:t>
            </a:r>
            <a:r>
              <a:rPr lang="en-US" altLang="ko-KR" b="1" dirty="0"/>
              <a:t>10,000 tokens</a:t>
            </a:r>
            <a:r>
              <a:rPr lang="en-US" altLang="ko-KR" dirty="0"/>
              <a:t> on blockchain</a:t>
            </a:r>
          </a:p>
          <a:p>
            <a:r>
              <a:rPr lang="en-US" altLang="ko-KR" dirty="0"/>
              <a:t>1 token = $10 share of house</a:t>
            </a:r>
          </a:p>
          <a:p>
            <a:pPr marL="0" indent="0">
              <a:buNone/>
            </a:pPr>
            <a:r>
              <a:rPr lang="en-US" altLang="ko-KR" dirty="0"/>
              <a:t>If you buy 100 tokens → you own </a:t>
            </a:r>
            <a:r>
              <a:rPr lang="en-US" altLang="ko-KR" b="1" dirty="0"/>
              <a:t>small part of that house</a:t>
            </a:r>
            <a:r>
              <a:rPr lang="en-US" altLang="ko-KR" dirty="0"/>
              <a:t>.</a:t>
            </a:r>
          </a:p>
          <a:p>
            <a:pPr marL="0" indent="0">
              <a:buNone/>
            </a:pPr>
            <a:r>
              <a:rPr lang="en-US" altLang="ko-KR" dirty="0"/>
              <a:t>You can:</a:t>
            </a:r>
          </a:p>
          <a:p>
            <a:r>
              <a:rPr lang="en-US" altLang="ko-KR" dirty="0"/>
              <a:t>Sell tokens anytime</a:t>
            </a:r>
          </a:p>
          <a:p>
            <a:r>
              <a:rPr lang="en-US" altLang="ko-KR" dirty="0"/>
              <a:t>Buy more tokens</a:t>
            </a:r>
          </a:p>
          <a:p>
            <a:r>
              <a:rPr lang="en-US" altLang="ko-KR" dirty="0"/>
              <a:t>Earn rent share (if property gives income)</a:t>
            </a:r>
          </a:p>
          <a:p>
            <a:pPr marL="0" indent="0">
              <a:buNone/>
            </a:pPr>
            <a:r>
              <a:rPr lang="en-US" altLang="ko-KR" dirty="0"/>
              <a:t>All ownership recorded safely on blockchain.</a:t>
            </a:r>
          </a:p>
          <a:p>
            <a:endParaRPr lang="ko-KR" altLang="en-US" dirty="0"/>
          </a:p>
        </p:txBody>
      </p:sp>
    </p:spTree>
    <p:extLst>
      <p:ext uri="{BB962C8B-B14F-4D97-AF65-F5344CB8AC3E}">
        <p14:creationId xmlns:p14="http://schemas.microsoft.com/office/powerpoint/2010/main" val="30173189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C3450-4FBB-77F3-ADF0-9284E7008689}"/>
              </a:ext>
            </a:extLst>
          </p:cNvPr>
          <p:cNvSpPr>
            <a:spLocks noGrp="1"/>
          </p:cNvSpPr>
          <p:nvPr>
            <p:ph type="title"/>
          </p:nvPr>
        </p:nvSpPr>
        <p:spPr/>
        <p:txBody>
          <a:bodyPr/>
          <a:lstStyle/>
          <a:p>
            <a:r>
              <a:rPr lang="en-US" altLang="ko-KR" dirty="0"/>
              <a:t>Why Tokenization is Useful</a:t>
            </a:r>
            <a:endParaRPr lang="ko-KR" altLang="en-US" dirty="0"/>
          </a:p>
        </p:txBody>
      </p:sp>
      <p:sp>
        <p:nvSpPr>
          <p:cNvPr id="3" name="Content Placeholder 2">
            <a:extLst>
              <a:ext uri="{FF2B5EF4-FFF2-40B4-BE49-F238E27FC236}">
                <a16:creationId xmlns:a16="http://schemas.microsoft.com/office/drawing/2014/main" id="{B15E59EF-3258-FE76-0275-990DD10BF686}"/>
              </a:ext>
            </a:extLst>
          </p:cNvPr>
          <p:cNvSpPr>
            <a:spLocks noGrp="1"/>
          </p:cNvSpPr>
          <p:nvPr>
            <p:ph idx="1"/>
          </p:nvPr>
        </p:nvSpPr>
        <p:spPr/>
        <p:txBody>
          <a:bodyPr/>
          <a:lstStyle/>
          <a:p>
            <a:r>
              <a:rPr lang="en-US" altLang="ko-KR" dirty="0"/>
              <a:t>Buy small share (no need big money) </a:t>
            </a:r>
            <a:r>
              <a:rPr lang="ko-KR" altLang="en-US" dirty="0"/>
              <a:t>💰</a:t>
            </a:r>
          </a:p>
          <a:p>
            <a:r>
              <a:rPr lang="en-US" altLang="ko-KR" dirty="0"/>
              <a:t>Easy to buy/sell ⚡</a:t>
            </a:r>
          </a:p>
          <a:p>
            <a:r>
              <a:rPr lang="en-US" altLang="ko-KR" dirty="0"/>
              <a:t>Transparent ownership </a:t>
            </a:r>
            <a:r>
              <a:rPr lang="ko-KR" altLang="en-US" dirty="0"/>
              <a:t>👀</a:t>
            </a:r>
          </a:p>
          <a:p>
            <a:r>
              <a:rPr lang="en-US" altLang="ko-KR" dirty="0"/>
              <a:t>Safe record on blockchain</a:t>
            </a:r>
          </a:p>
          <a:p>
            <a:endParaRPr lang="en-US" altLang="ko-KR" dirty="0"/>
          </a:p>
          <a:p>
            <a:pPr marL="0" indent="0">
              <a:buNone/>
            </a:pPr>
            <a:r>
              <a:rPr lang="en-US" altLang="ko-KR" dirty="0"/>
              <a:t>Tokenization = turning real assets into small digital shares (tokens) on blockchain.</a:t>
            </a:r>
          </a:p>
          <a:p>
            <a:endParaRPr lang="ko-KR" altLang="en-US" dirty="0"/>
          </a:p>
        </p:txBody>
      </p:sp>
    </p:spTree>
    <p:extLst>
      <p:ext uri="{BB962C8B-B14F-4D97-AF65-F5344CB8AC3E}">
        <p14:creationId xmlns:p14="http://schemas.microsoft.com/office/powerpoint/2010/main" val="27121472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D9A8C-3FFD-3409-D37C-730EE883A1AD}"/>
              </a:ext>
            </a:extLst>
          </p:cNvPr>
          <p:cNvSpPr>
            <a:spLocks noGrp="1"/>
          </p:cNvSpPr>
          <p:nvPr>
            <p:ph type="title"/>
          </p:nvPr>
        </p:nvSpPr>
        <p:spPr/>
        <p:txBody>
          <a:bodyPr/>
          <a:lstStyle/>
          <a:p>
            <a:endParaRPr lang="ko-KR" altLang="en-US"/>
          </a:p>
        </p:txBody>
      </p:sp>
      <p:sp>
        <p:nvSpPr>
          <p:cNvPr id="3" name="Content Placeholder 2">
            <a:extLst>
              <a:ext uri="{FF2B5EF4-FFF2-40B4-BE49-F238E27FC236}">
                <a16:creationId xmlns:a16="http://schemas.microsoft.com/office/drawing/2014/main" id="{8BB40888-39F4-A4ED-99F2-0F629F2C8ADF}"/>
              </a:ext>
            </a:extLst>
          </p:cNvPr>
          <p:cNvSpPr>
            <a:spLocks noGrp="1"/>
          </p:cNvSpPr>
          <p:nvPr>
            <p:ph idx="1"/>
          </p:nvPr>
        </p:nvSpPr>
        <p:spPr/>
        <p:txBody>
          <a:bodyPr/>
          <a:lstStyle/>
          <a:p>
            <a:r>
              <a:rPr lang="en-US" altLang="ko-KR" b="1" dirty="0"/>
              <a:t>Simple Idea</a:t>
            </a:r>
          </a:p>
          <a:p>
            <a:r>
              <a:rPr lang="en-US" altLang="ko-KR" b="1" dirty="0"/>
              <a:t>Tokenization = digital share of a real asset</a:t>
            </a:r>
            <a:endParaRPr lang="en-US" altLang="ko-KR" dirty="0"/>
          </a:p>
          <a:p>
            <a:r>
              <a:rPr lang="en-US" altLang="ko-KR" b="1" dirty="0"/>
              <a:t>Cryptocurrency = digital money</a:t>
            </a:r>
          </a:p>
          <a:p>
            <a:endParaRPr lang="en-US" altLang="ko-KR" dirty="0"/>
          </a:p>
          <a:p>
            <a:endParaRPr lang="ko-KR" altLang="en-US" dirty="0"/>
          </a:p>
        </p:txBody>
      </p:sp>
      <p:pic>
        <p:nvPicPr>
          <p:cNvPr id="5" name="Picture 4">
            <a:extLst>
              <a:ext uri="{FF2B5EF4-FFF2-40B4-BE49-F238E27FC236}">
                <a16:creationId xmlns:a16="http://schemas.microsoft.com/office/drawing/2014/main" id="{A6C81248-DB4F-E5C0-2BA8-15CE23307F52}"/>
              </a:ext>
            </a:extLst>
          </p:cNvPr>
          <p:cNvPicPr>
            <a:picLocks noChangeAspect="1"/>
          </p:cNvPicPr>
          <p:nvPr/>
        </p:nvPicPr>
        <p:blipFill>
          <a:blip r:embed="rId2"/>
          <a:stretch>
            <a:fillRect/>
          </a:stretch>
        </p:blipFill>
        <p:spPr>
          <a:xfrm>
            <a:off x="1904474" y="3288600"/>
            <a:ext cx="7591481" cy="3324249"/>
          </a:xfrm>
          <a:prstGeom prst="rect">
            <a:avLst/>
          </a:prstGeom>
        </p:spPr>
      </p:pic>
    </p:spTree>
    <p:extLst>
      <p:ext uri="{BB962C8B-B14F-4D97-AF65-F5344CB8AC3E}">
        <p14:creationId xmlns:p14="http://schemas.microsoft.com/office/powerpoint/2010/main" val="6473816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2B186-D698-AD1E-393F-444D8B2C2F24}"/>
              </a:ext>
            </a:extLst>
          </p:cNvPr>
          <p:cNvSpPr>
            <a:spLocks noGrp="1"/>
          </p:cNvSpPr>
          <p:nvPr>
            <p:ph type="title"/>
          </p:nvPr>
        </p:nvSpPr>
        <p:spPr/>
        <p:txBody>
          <a:bodyPr/>
          <a:lstStyle/>
          <a:p>
            <a:r>
              <a:rPr lang="en-US" altLang="ko-KR" dirty="0"/>
              <a:t>Daily Life Example</a:t>
            </a:r>
            <a:endParaRPr lang="ko-KR" altLang="en-US" dirty="0"/>
          </a:p>
        </p:txBody>
      </p:sp>
      <p:sp>
        <p:nvSpPr>
          <p:cNvPr id="3" name="Content Placeholder 2">
            <a:extLst>
              <a:ext uri="{FF2B5EF4-FFF2-40B4-BE49-F238E27FC236}">
                <a16:creationId xmlns:a16="http://schemas.microsoft.com/office/drawing/2014/main" id="{BE6C63F3-72BD-E71E-7F52-189C71E8BFEC}"/>
              </a:ext>
            </a:extLst>
          </p:cNvPr>
          <p:cNvSpPr>
            <a:spLocks noGrp="1"/>
          </p:cNvSpPr>
          <p:nvPr>
            <p:ph idx="1"/>
          </p:nvPr>
        </p:nvSpPr>
        <p:spPr/>
        <p:txBody>
          <a:bodyPr/>
          <a:lstStyle/>
          <a:p>
            <a:r>
              <a:rPr lang="en-US" altLang="ko-KR" b="1" dirty="0"/>
              <a:t>Tokenization:</a:t>
            </a:r>
            <a:br>
              <a:rPr lang="en-US" altLang="ko-KR" dirty="0"/>
            </a:br>
            <a:r>
              <a:rPr lang="en-US" altLang="ko-KR" dirty="0"/>
              <a:t>A building is divided into 1,000 digital shares → you buy 10 shares → you own small part of building.</a:t>
            </a:r>
          </a:p>
          <a:p>
            <a:r>
              <a:rPr lang="en-US" altLang="ko-KR" b="1" dirty="0"/>
              <a:t>Cryptocurrency:</a:t>
            </a:r>
            <a:br>
              <a:rPr lang="en-US" altLang="ko-KR" dirty="0"/>
            </a:br>
            <a:r>
              <a:rPr lang="en-US" altLang="ko-KR" dirty="0"/>
              <a:t>You send digital money to your friend like online cash.</a:t>
            </a:r>
          </a:p>
          <a:p>
            <a:endParaRPr lang="ko-KR" altLang="en-US" dirty="0"/>
          </a:p>
        </p:txBody>
      </p:sp>
    </p:spTree>
    <p:extLst>
      <p:ext uri="{BB962C8B-B14F-4D97-AF65-F5344CB8AC3E}">
        <p14:creationId xmlns:p14="http://schemas.microsoft.com/office/powerpoint/2010/main" val="32310823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200FE-03AF-316E-C377-D123B6BA7F63}"/>
              </a:ext>
            </a:extLst>
          </p:cNvPr>
          <p:cNvSpPr>
            <a:spLocks noGrp="1"/>
          </p:cNvSpPr>
          <p:nvPr>
            <p:ph type="title"/>
          </p:nvPr>
        </p:nvSpPr>
        <p:spPr>
          <a:xfrm>
            <a:off x="838200" y="385597"/>
            <a:ext cx="10515600" cy="1325563"/>
          </a:xfrm>
        </p:spPr>
        <p:txBody>
          <a:bodyPr/>
          <a:lstStyle/>
          <a:p>
            <a:r>
              <a:rPr lang="en-US" altLang="ko-KR" dirty="0"/>
              <a:t>Application 5: Energy</a:t>
            </a:r>
            <a:endParaRPr lang="ko-KR" altLang="en-US" dirty="0"/>
          </a:p>
        </p:txBody>
      </p:sp>
      <p:sp>
        <p:nvSpPr>
          <p:cNvPr id="3" name="Content Placeholder 2">
            <a:extLst>
              <a:ext uri="{FF2B5EF4-FFF2-40B4-BE49-F238E27FC236}">
                <a16:creationId xmlns:a16="http://schemas.microsoft.com/office/drawing/2014/main" id="{CCED8B31-82C2-4AAF-885D-E5BABD400A17}"/>
              </a:ext>
            </a:extLst>
          </p:cNvPr>
          <p:cNvSpPr>
            <a:spLocks noGrp="1"/>
          </p:cNvSpPr>
          <p:nvPr>
            <p:ph idx="1"/>
          </p:nvPr>
        </p:nvSpPr>
        <p:spPr/>
        <p:txBody>
          <a:bodyPr/>
          <a:lstStyle/>
          <a:p>
            <a:r>
              <a:rPr lang="en-US" altLang="ko-KR" dirty="0"/>
              <a:t>Blockchain technology could be used to execute energy supply trans actions, but it could further provide the basis for metering, billing, and clearing processes, according to PWC.</a:t>
            </a:r>
          </a:p>
          <a:p>
            <a:r>
              <a:rPr lang="en-US" altLang="ko-KR" dirty="0"/>
              <a:t>Other potential applications include documenting ownership, asset management, origin guarantees, emission allowances, and renewable energy certificates.</a:t>
            </a:r>
            <a:endParaRPr lang="ko-KR" altLang="en-US" dirty="0"/>
          </a:p>
        </p:txBody>
      </p:sp>
    </p:spTree>
    <p:extLst>
      <p:ext uri="{BB962C8B-B14F-4D97-AF65-F5344CB8AC3E}">
        <p14:creationId xmlns:p14="http://schemas.microsoft.com/office/powerpoint/2010/main" val="1273792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4924A-C514-FEFE-9F38-4C791D98C656}"/>
              </a:ext>
            </a:extLst>
          </p:cNvPr>
          <p:cNvSpPr>
            <a:spLocks noGrp="1"/>
          </p:cNvSpPr>
          <p:nvPr>
            <p:ph type="title"/>
          </p:nvPr>
        </p:nvSpPr>
        <p:spPr/>
        <p:txBody>
          <a:bodyPr/>
          <a:lstStyle/>
          <a:p>
            <a:r>
              <a:rPr lang="en-US" altLang="ko-KR" dirty="0"/>
              <a:t>Daily Life Example</a:t>
            </a:r>
            <a:endParaRPr lang="ko-KR" altLang="en-US" dirty="0"/>
          </a:p>
        </p:txBody>
      </p:sp>
      <p:sp>
        <p:nvSpPr>
          <p:cNvPr id="3" name="Content Placeholder 2">
            <a:extLst>
              <a:ext uri="{FF2B5EF4-FFF2-40B4-BE49-F238E27FC236}">
                <a16:creationId xmlns:a16="http://schemas.microsoft.com/office/drawing/2014/main" id="{D6F62044-35BB-66F5-692A-0F7E39DC7102}"/>
              </a:ext>
            </a:extLst>
          </p:cNvPr>
          <p:cNvSpPr>
            <a:spLocks noGrp="1"/>
          </p:cNvSpPr>
          <p:nvPr>
            <p:ph idx="1"/>
          </p:nvPr>
        </p:nvSpPr>
        <p:spPr/>
        <p:txBody>
          <a:bodyPr/>
          <a:lstStyle/>
          <a:p>
            <a:pPr marL="0" indent="0">
              <a:buNone/>
            </a:pPr>
            <a:r>
              <a:rPr lang="en-US" altLang="ko-KR" dirty="0"/>
              <a:t>Imagine your home has </a:t>
            </a:r>
            <a:r>
              <a:rPr lang="en-US" altLang="ko-KR" b="1" dirty="0"/>
              <a:t>solar panels</a:t>
            </a:r>
            <a:r>
              <a:rPr lang="en-US" altLang="ko-KR" dirty="0"/>
              <a:t>:</a:t>
            </a:r>
          </a:p>
          <a:p>
            <a:r>
              <a:rPr lang="en-US" altLang="ko-KR" dirty="0"/>
              <a:t>Your panels produce extra electricity</a:t>
            </a:r>
          </a:p>
          <a:p>
            <a:r>
              <a:rPr lang="en-US" altLang="ko-KR" dirty="0"/>
              <a:t>Smart meter records how much energy you generate</a:t>
            </a:r>
          </a:p>
          <a:p>
            <a:r>
              <a:rPr lang="en-US" altLang="ko-KR" dirty="0"/>
              <a:t>Blockchain records this data safely</a:t>
            </a:r>
          </a:p>
          <a:p>
            <a:r>
              <a:rPr lang="en-US" altLang="ko-KR" dirty="0"/>
              <a:t>Extra electricity automatically sold to neighbor</a:t>
            </a:r>
          </a:p>
          <a:p>
            <a:r>
              <a:rPr lang="en-US" altLang="ko-KR" dirty="0"/>
              <a:t>Payment sent to you automatically</a:t>
            </a:r>
          </a:p>
          <a:p>
            <a:pPr marL="0" indent="0">
              <a:buNone/>
            </a:pPr>
            <a:r>
              <a:rPr lang="en-US" altLang="ko-KR" dirty="0"/>
              <a:t>No manual billing, no cheating, correct record ✔️</a:t>
            </a:r>
          </a:p>
          <a:p>
            <a:endParaRPr lang="ko-KR" altLang="en-US" dirty="0"/>
          </a:p>
        </p:txBody>
      </p:sp>
    </p:spTree>
    <p:extLst>
      <p:ext uri="{BB962C8B-B14F-4D97-AF65-F5344CB8AC3E}">
        <p14:creationId xmlns:p14="http://schemas.microsoft.com/office/powerpoint/2010/main" val="3395305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0C8B4-8296-C029-098A-ABFB9F449557}"/>
              </a:ext>
            </a:extLst>
          </p:cNvPr>
          <p:cNvSpPr>
            <a:spLocks noGrp="1"/>
          </p:cNvSpPr>
          <p:nvPr>
            <p:ph type="title"/>
          </p:nvPr>
        </p:nvSpPr>
        <p:spPr/>
        <p:txBody>
          <a:bodyPr/>
          <a:lstStyle/>
          <a:p>
            <a:r>
              <a:rPr lang="en-US" altLang="ko-KR" dirty="0"/>
              <a:t>Crypto / Blockchain Example</a:t>
            </a:r>
            <a:endParaRPr lang="ko-KR" altLang="en-US" dirty="0"/>
          </a:p>
        </p:txBody>
      </p:sp>
      <p:sp>
        <p:nvSpPr>
          <p:cNvPr id="3" name="Content Placeholder 2">
            <a:extLst>
              <a:ext uri="{FF2B5EF4-FFF2-40B4-BE49-F238E27FC236}">
                <a16:creationId xmlns:a16="http://schemas.microsoft.com/office/drawing/2014/main" id="{0B8C529E-B9B4-65BC-E215-32058E9CF23B}"/>
              </a:ext>
            </a:extLst>
          </p:cNvPr>
          <p:cNvSpPr>
            <a:spLocks noGrp="1"/>
          </p:cNvSpPr>
          <p:nvPr>
            <p:ph idx="1"/>
          </p:nvPr>
        </p:nvSpPr>
        <p:spPr/>
        <p:txBody>
          <a:bodyPr>
            <a:normAutofit fontScale="77500" lnSpcReduction="20000"/>
          </a:bodyPr>
          <a:lstStyle/>
          <a:p>
            <a:pPr marL="0" indent="0">
              <a:buNone/>
            </a:pPr>
            <a:r>
              <a:rPr lang="en-US" altLang="ko-KR" b="1" dirty="0"/>
              <a:t>Peer-to-Peer Energy Trading</a:t>
            </a:r>
            <a:endParaRPr lang="en-US" altLang="ko-KR" dirty="0"/>
          </a:p>
          <a:p>
            <a:r>
              <a:rPr lang="en-US" altLang="ko-KR" dirty="0"/>
              <a:t>Houses with solar panels produce electricity</a:t>
            </a:r>
          </a:p>
          <a:p>
            <a:r>
              <a:rPr lang="en-US" altLang="ko-KR" dirty="0"/>
              <a:t>Energy units converted into digital tokens on blockchain</a:t>
            </a:r>
          </a:p>
          <a:p>
            <a:r>
              <a:rPr lang="en-US" altLang="ko-KR" dirty="0"/>
              <a:t>You sell extra energy tokens to another user</a:t>
            </a:r>
          </a:p>
          <a:p>
            <a:r>
              <a:rPr lang="en-US" altLang="ko-KR" dirty="0"/>
              <a:t>Smart contract automatically transfers:</a:t>
            </a:r>
          </a:p>
          <a:p>
            <a:pPr lvl="1"/>
            <a:r>
              <a:rPr lang="en-US" altLang="ko-KR" dirty="0"/>
              <a:t>Energy → to buyer ⚡</a:t>
            </a:r>
          </a:p>
          <a:p>
            <a:pPr lvl="1"/>
            <a:r>
              <a:rPr lang="en-US" altLang="ko-KR" dirty="0"/>
              <a:t>Crypto payment → to you </a:t>
            </a:r>
            <a:r>
              <a:rPr lang="ko-KR" altLang="en-US" dirty="0"/>
              <a:t>💰</a:t>
            </a:r>
          </a:p>
          <a:p>
            <a:pPr marL="0" indent="0">
              <a:buNone/>
            </a:pPr>
            <a:r>
              <a:rPr lang="en-US" altLang="ko-KR" dirty="0"/>
              <a:t>Blockchain also records:</a:t>
            </a:r>
          </a:p>
          <a:p>
            <a:r>
              <a:rPr lang="en-US" altLang="ko-KR" dirty="0"/>
              <a:t>Renewable energy proof</a:t>
            </a:r>
          </a:p>
          <a:p>
            <a:r>
              <a:rPr lang="en-US" altLang="ko-KR" dirty="0"/>
              <a:t>Carbon credits</a:t>
            </a:r>
          </a:p>
          <a:p>
            <a:r>
              <a:rPr lang="en-US" altLang="ko-KR" dirty="0"/>
              <a:t>Energy ownership</a:t>
            </a:r>
          </a:p>
          <a:p>
            <a:pPr marL="0" indent="0">
              <a:buNone/>
            </a:pPr>
            <a:r>
              <a:rPr lang="en-US" altLang="ko-KR" b="1" dirty="0"/>
              <a:t>Blockchain in energy = automatic billing + secure energy records + easy renewable energy trading.</a:t>
            </a:r>
          </a:p>
          <a:p>
            <a:endParaRPr lang="ko-KR" altLang="en-US" dirty="0"/>
          </a:p>
        </p:txBody>
      </p:sp>
    </p:spTree>
    <p:extLst>
      <p:ext uri="{BB962C8B-B14F-4D97-AF65-F5344CB8AC3E}">
        <p14:creationId xmlns:p14="http://schemas.microsoft.com/office/powerpoint/2010/main" val="2431541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3BFCC-4CD7-7776-EDFA-95C820E2B95C}"/>
              </a:ext>
            </a:extLst>
          </p:cNvPr>
          <p:cNvSpPr>
            <a:spLocks noGrp="1"/>
          </p:cNvSpPr>
          <p:nvPr>
            <p:ph type="title"/>
          </p:nvPr>
        </p:nvSpPr>
        <p:spPr/>
        <p:txBody>
          <a:bodyPr/>
          <a:lstStyle/>
          <a:p>
            <a:r>
              <a:rPr lang="en-US" altLang="ko-KR" dirty="0"/>
              <a:t>Application 6: Record Management</a:t>
            </a:r>
            <a:endParaRPr lang="ko-KR" altLang="en-US" dirty="0"/>
          </a:p>
        </p:txBody>
      </p:sp>
      <p:sp>
        <p:nvSpPr>
          <p:cNvPr id="3" name="Content Placeholder 2">
            <a:extLst>
              <a:ext uri="{FF2B5EF4-FFF2-40B4-BE49-F238E27FC236}">
                <a16:creationId xmlns:a16="http://schemas.microsoft.com/office/drawing/2014/main" id="{9AE9FDB2-72A5-07D4-F68A-F194C56E4CF8}"/>
              </a:ext>
            </a:extLst>
          </p:cNvPr>
          <p:cNvSpPr>
            <a:spLocks noGrp="1"/>
          </p:cNvSpPr>
          <p:nvPr>
            <p:ph idx="1"/>
          </p:nvPr>
        </p:nvSpPr>
        <p:spPr/>
        <p:txBody>
          <a:bodyPr/>
          <a:lstStyle/>
          <a:p>
            <a:r>
              <a:rPr lang="en-US" altLang="ko-KR" dirty="0"/>
              <a:t>National, state, and local governments are responsible for maintaining individuals’ records such as birth and death dates, marital status, or property transfers. </a:t>
            </a:r>
          </a:p>
          <a:p>
            <a:endParaRPr lang="en-US" altLang="ko-KR" dirty="0"/>
          </a:p>
          <a:p>
            <a:r>
              <a:rPr lang="en-US" altLang="ko-KR" dirty="0"/>
              <a:t>Yet managing this data can be difficult, and to this day some of these records only exist in paper form and sometimes, citizens have to physically go to their local government offices to make changes, which are time-consuming, unnecessary, and frustrating. Blockchain technol </a:t>
            </a:r>
            <a:r>
              <a:rPr lang="en-US" altLang="ko-KR" dirty="0" err="1"/>
              <a:t>ogy</a:t>
            </a:r>
            <a:r>
              <a:rPr lang="en-US" altLang="ko-KR" dirty="0"/>
              <a:t> can simplify this record-keeping.</a:t>
            </a:r>
            <a:endParaRPr lang="ko-KR" altLang="en-US" dirty="0"/>
          </a:p>
        </p:txBody>
      </p:sp>
    </p:spTree>
    <p:extLst>
      <p:ext uri="{BB962C8B-B14F-4D97-AF65-F5344CB8AC3E}">
        <p14:creationId xmlns:p14="http://schemas.microsoft.com/office/powerpoint/2010/main" val="13446004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0CED2-2D8F-CD69-8B79-6FF5948488EC}"/>
              </a:ext>
            </a:extLst>
          </p:cNvPr>
          <p:cNvSpPr>
            <a:spLocks noGrp="1"/>
          </p:cNvSpPr>
          <p:nvPr>
            <p:ph type="title"/>
          </p:nvPr>
        </p:nvSpPr>
        <p:spPr/>
        <p:txBody>
          <a:bodyPr/>
          <a:lstStyle/>
          <a:p>
            <a:r>
              <a:rPr lang="en-US" altLang="ko-KR" dirty="0"/>
              <a:t>Daily Life Example</a:t>
            </a:r>
            <a:endParaRPr lang="ko-KR" altLang="en-US" dirty="0"/>
          </a:p>
        </p:txBody>
      </p:sp>
      <p:sp>
        <p:nvSpPr>
          <p:cNvPr id="3" name="Content Placeholder 2">
            <a:extLst>
              <a:ext uri="{FF2B5EF4-FFF2-40B4-BE49-F238E27FC236}">
                <a16:creationId xmlns:a16="http://schemas.microsoft.com/office/drawing/2014/main" id="{D8B63084-10B0-379C-4FAF-7D97FAB2BD2C}"/>
              </a:ext>
            </a:extLst>
          </p:cNvPr>
          <p:cNvSpPr>
            <a:spLocks noGrp="1"/>
          </p:cNvSpPr>
          <p:nvPr>
            <p:ph idx="1"/>
          </p:nvPr>
        </p:nvSpPr>
        <p:spPr/>
        <p:txBody>
          <a:bodyPr>
            <a:normAutofit fontScale="92500"/>
          </a:bodyPr>
          <a:lstStyle/>
          <a:p>
            <a:pPr marL="0" indent="0">
              <a:buNone/>
            </a:pPr>
            <a:r>
              <a:rPr lang="en-US" altLang="ko-KR" b="1" dirty="0"/>
              <a:t>Birth Certificate on Blockchain</a:t>
            </a:r>
            <a:endParaRPr lang="en-US" altLang="ko-KR" dirty="0"/>
          </a:p>
          <a:p>
            <a:r>
              <a:rPr lang="en-US" altLang="ko-KR" dirty="0"/>
              <a:t>When a baby is born → hospital uploads record to blockchain</a:t>
            </a:r>
          </a:p>
          <a:p>
            <a:r>
              <a:rPr lang="en-US" altLang="ko-KR" dirty="0"/>
              <a:t>Record becomes permanent and secure</a:t>
            </a:r>
          </a:p>
          <a:p>
            <a:r>
              <a:rPr lang="en-US" altLang="ko-KR" dirty="0"/>
              <a:t>Parents don’t need to visit offices again and again</a:t>
            </a:r>
          </a:p>
          <a:p>
            <a:r>
              <a:rPr lang="en-US" altLang="ko-KR" dirty="0"/>
              <a:t>School, passport office, government can verify instantly</a:t>
            </a:r>
          </a:p>
          <a:p>
            <a:r>
              <a:rPr lang="en-US" altLang="ko-KR" dirty="0"/>
              <a:t>No risk of losing paper or fake certificate</a:t>
            </a:r>
          </a:p>
          <a:p>
            <a:pPr marL="0" indent="0">
              <a:buNone/>
            </a:pPr>
            <a:r>
              <a:rPr lang="en-US" altLang="ko-KR" dirty="0"/>
              <a:t>Everything is </a:t>
            </a:r>
            <a:r>
              <a:rPr lang="en-US" altLang="ko-KR" b="1" dirty="0"/>
              <a:t>safe + fast + always available</a:t>
            </a:r>
            <a:r>
              <a:rPr lang="en-US" altLang="ko-KR" dirty="0"/>
              <a:t>.</a:t>
            </a:r>
          </a:p>
          <a:p>
            <a:pPr marL="0" indent="0">
              <a:buNone/>
            </a:pPr>
            <a:r>
              <a:rPr lang="en-US" altLang="ko-KR" b="1" dirty="0"/>
              <a:t>Blockchain record management = permanent, secure, and fraud-proof digital record keeping.</a:t>
            </a:r>
          </a:p>
          <a:p>
            <a:endParaRPr lang="ko-KR" altLang="en-US" dirty="0"/>
          </a:p>
        </p:txBody>
      </p:sp>
    </p:spTree>
    <p:extLst>
      <p:ext uri="{BB962C8B-B14F-4D97-AF65-F5344CB8AC3E}">
        <p14:creationId xmlns:p14="http://schemas.microsoft.com/office/powerpoint/2010/main" val="10864096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53B91-787C-69B8-6F36-0783CACA480C}"/>
              </a:ext>
            </a:extLst>
          </p:cNvPr>
          <p:cNvSpPr>
            <a:spLocks noGrp="1"/>
          </p:cNvSpPr>
          <p:nvPr>
            <p:ph type="title"/>
          </p:nvPr>
        </p:nvSpPr>
        <p:spPr/>
        <p:txBody>
          <a:bodyPr/>
          <a:lstStyle/>
          <a:p>
            <a:r>
              <a:rPr lang="en-US" altLang="ko-KR" dirty="0"/>
              <a:t>Crowdfunding</a:t>
            </a:r>
            <a:endParaRPr lang="ko-KR" altLang="en-US" dirty="0"/>
          </a:p>
        </p:txBody>
      </p:sp>
      <p:sp>
        <p:nvSpPr>
          <p:cNvPr id="3" name="Content Placeholder 2">
            <a:extLst>
              <a:ext uri="{FF2B5EF4-FFF2-40B4-BE49-F238E27FC236}">
                <a16:creationId xmlns:a16="http://schemas.microsoft.com/office/drawing/2014/main" id="{E013110A-ADB1-275B-05E6-440FB9D4EB0A}"/>
              </a:ext>
            </a:extLst>
          </p:cNvPr>
          <p:cNvSpPr>
            <a:spLocks noGrp="1"/>
          </p:cNvSpPr>
          <p:nvPr>
            <p:ph idx="1"/>
          </p:nvPr>
        </p:nvSpPr>
        <p:spPr/>
        <p:txBody>
          <a:bodyPr>
            <a:normAutofit lnSpcReduction="10000"/>
          </a:bodyPr>
          <a:lstStyle/>
          <a:p>
            <a:r>
              <a:rPr lang="en-US" altLang="ko-KR" dirty="0"/>
              <a:t>Blockchain technology, among all its benefits, can be best put to use by providing provable milestones as contingencies for giving, with smart contracts releasing funds only once milestones establish that the money is being used the way that it is said to be. </a:t>
            </a:r>
          </a:p>
          <a:p>
            <a:r>
              <a:rPr lang="en-US" altLang="ko-KR" dirty="0"/>
              <a:t>By providing greater oversight into individual campaigns and reducing the amount of trust required to donate in good conscience, crowdfunding can become an even more legitimate means of funding a vast spectrum of projects and causes, Figure 3.1 shows How Blockchain Is Revolutionizing Crowd funding.</a:t>
            </a:r>
            <a:endParaRPr lang="ko-KR" altLang="en-US" dirty="0"/>
          </a:p>
        </p:txBody>
      </p:sp>
    </p:spTree>
    <p:extLst>
      <p:ext uri="{BB962C8B-B14F-4D97-AF65-F5344CB8AC3E}">
        <p14:creationId xmlns:p14="http://schemas.microsoft.com/office/powerpoint/2010/main" val="35207403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451D-A2E5-DA0C-542F-163165C98FEF}"/>
              </a:ext>
            </a:extLst>
          </p:cNvPr>
          <p:cNvSpPr>
            <a:spLocks noGrp="1"/>
          </p:cNvSpPr>
          <p:nvPr>
            <p:ph type="title"/>
          </p:nvPr>
        </p:nvSpPr>
        <p:spPr/>
        <p:txBody>
          <a:bodyPr/>
          <a:lstStyle/>
          <a:p>
            <a:r>
              <a:rPr lang="en-US" altLang="ko-KR" dirty="0"/>
              <a:t>Blockchain and Crowdfunding</a:t>
            </a:r>
            <a:endParaRPr lang="ko-KR" altLang="en-US" dirty="0"/>
          </a:p>
        </p:txBody>
      </p:sp>
      <p:pic>
        <p:nvPicPr>
          <p:cNvPr id="5" name="Content Placeholder 4">
            <a:extLst>
              <a:ext uri="{FF2B5EF4-FFF2-40B4-BE49-F238E27FC236}">
                <a16:creationId xmlns:a16="http://schemas.microsoft.com/office/drawing/2014/main" id="{83F1F221-72AC-05FE-98EF-CC3E445DA56E}"/>
              </a:ext>
            </a:extLst>
          </p:cNvPr>
          <p:cNvPicPr>
            <a:picLocks noGrp="1" noChangeAspect="1"/>
          </p:cNvPicPr>
          <p:nvPr>
            <p:ph idx="1"/>
          </p:nvPr>
        </p:nvPicPr>
        <p:blipFill>
          <a:blip r:embed="rId2"/>
          <a:stretch>
            <a:fillRect/>
          </a:stretch>
        </p:blipFill>
        <p:spPr>
          <a:xfrm>
            <a:off x="1328130" y="1825625"/>
            <a:ext cx="9535739" cy="4351338"/>
          </a:xfrm>
          <a:prstGeom prst="rect">
            <a:avLst/>
          </a:prstGeom>
        </p:spPr>
      </p:pic>
    </p:spTree>
    <p:extLst>
      <p:ext uri="{BB962C8B-B14F-4D97-AF65-F5344CB8AC3E}">
        <p14:creationId xmlns:p14="http://schemas.microsoft.com/office/powerpoint/2010/main" val="3942432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45504-F582-8632-B2D9-8D8F2E9B57C1}"/>
              </a:ext>
            </a:extLst>
          </p:cNvPr>
          <p:cNvSpPr>
            <a:spLocks noGrp="1"/>
          </p:cNvSpPr>
          <p:nvPr>
            <p:ph type="title"/>
          </p:nvPr>
        </p:nvSpPr>
        <p:spPr/>
        <p:txBody>
          <a:bodyPr/>
          <a:lstStyle/>
          <a:p>
            <a:endParaRPr lang="ko-KR" altLang="en-US" dirty="0"/>
          </a:p>
        </p:txBody>
      </p:sp>
      <p:sp>
        <p:nvSpPr>
          <p:cNvPr id="5" name="Rectangle 2">
            <a:extLst>
              <a:ext uri="{FF2B5EF4-FFF2-40B4-BE49-F238E27FC236}">
                <a16:creationId xmlns:a16="http://schemas.microsoft.com/office/drawing/2014/main" id="{96561EFA-C4A1-0BAD-5F5B-8DB426B6016E}"/>
              </a:ext>
            </a:extLst>
          </p:cNvPr>
          <p:cNvSpPr>
            <a:spLocks noGrp="1" noChangeArrowheads="1"/>
          </p:cNvSpPr>
          <p:nvPr>
            <p:ph idx="1"/>
          </p:nvPr>
        </p:nvSpPr>
        <p:spPr bwMode="auto">
          <a:xfrm>
            <a:off x="892791" y="3095754"/>
            <a:ext cx="1081016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2400" b="1" i="0" u="none" strike="noStrike" cap="none" normalizeH="0" baseline="0" dirty="0" err="1">
                <a:ln>
                  <a:noFill/>
                </a:ln>
                <a:solidFill>
                  <a:schemeClr val="tx1"/>
                </a:solidFill>
                <a:effectLst/>
                <a:latin typeface="Arial" panose="020B0604020202020204" pitchFamily="34" charset="0"/>
              </a:rPr>
              <a:t>Decentralization</a:t>
            </a:r>
            <a:r>
              <a:rPr kumimoji="0" lang="ko-KR" altLang="ko-KR" sz="2400" b="0" i="0" u="none" strike="noStrike" cap="none" normalizeH="0" baseline="0" dirty="0">
                <a:ln>
                  <a:noFill/>
                </a:ln>
                <a:solidFill>
                  <a:schemeClr val="tx1"/>
                </a:solidFill>
                <a:effectLst/>
                <a:latin typeface="Arial" panose="020B0604020202020204" pitchFamily="34" charset="0"/>
              </a:rPr>
              <a:t> → </a:t>
            </a:r>
            <a:r>
              <a:rPr kumimoji="0" lang="ko-KR" altLang="ko-KR" sz="2400" b="0" i="0" u="none" strike="noStrike" cap="none" normalizeH="0" baseline="0" dirty="0" err="1">
                <a:ln>
                  <a:noFill/>
                </a:ln>
                <a:solidFill>
                  <a:schemeClr val="tx1"/>
                </a:solidFill>
                <a:effectLst/>
                <a:latin typeface="Arial" panose="020B0604020202020204" pitchFamily="34" charset="0"/>
              </a:rPr>
              <a:t>No</a:t>
            </a:r>
            <a:r>
              <a:rPr kumimoji="0" lang="ko-KR" altLang="ko-KR" sz="2400" b="0" i="0" u="none" strike="noStrike" cap="none" normalizeH="0" baseline="0" dirty="0">
                <a:ln>
                  <a:noFill/>
                </a:ln>
                <a:solidFill>
                  <a:schemeClr val="tx1"/>
                </a:solidFill>
                <a:effectLst/>
                <a:latin typeface="Arial" panose="020B0604020202020204" pitchFamily="34" charset="0"/>
              </a:rPr>
              <a:t> </a:t>
            </a:r>
            <a:r>
              <a:rPr kumimoji="0" lang="ko-KR" altLang="ko-KR" sz="2400" b="0" i="0" u="none" strike="noStrike" cap="none" normalizeH="0" baseline="0" dirty="0" err="1">
                <a:ln>
                  <a:noFill/>
                </a:ln>
                <a:solidFill>
                  <a:schemeClr val="tx1"/>
                </a:solidFill>
                <a:effectLst/>
                <a:latin typeface="Arial" panose="020B0604020202020204" pitchFamily="34" charset="0"/>
              </a:rPr>
              <a:t>central</a:t>
            </a:r>
            <a:r>
              <a:rPr kumimoji="0" lang="ko-KR" altLang="ko-KR" sz="2400" b="0" i="0" u="none" strike="noStrike" cap="none" normalizeH="0" baseline="0" dirty="0">
                <a:ln>
                  <a:noFill/>
                </a:ln>
                <a:solidFill>
                  <a:schemeClr val="tx1"/>
                </a:solidFill>
                <a:effectLst/>
                <a:latin typeface="Arial" panose="020B0604020202020204" pitchFamily="34" charset="0"/>
              </a:rPr>
              <a:t> </a:t>
            </a:r>
            <a:r>
              <a:rPr kumimoji="0" lang="ko-KR" altLang="ko-KR" sz="2400" b="0" i="0" u="none" strike="noStrike" cap="none" normalizeH="0" baseline="0" dirty="0" err="1">
                <a:ln>
                  <a:noFill/>
                </a:ln>
                <a:solidFill>
                  <a:schemeClr val="tx1"/>
                </a:solidFill>
                <a:effectLst/>
                <a:latin typeface="Arial" panose="020B0604020202020204" pitchFamily="34" charset="0"/>
              </a:rPr>
              <a:t>authority</a:t>
            </a:r>
            <a:r>
              <a:rPr kumimoji="0" lang="ko-KR" altLang="ko-KR" sz="2400" b="0" i="0" u="none" strike="noStrike" cap="none" normalizeH="0" baseline="0" dirty="0">
                <a:ln>
                  <a:noFill/>
                </a:ln>
                <a:solidFill>
                  <a:schemeClr val="tx1"/>
                </a:solidFill>
                <a:effectLst/>
                <a:latin typeface="Arial" panose="020B0604020202020204" pitchFamily="34" charset="0"/>
              </a:rPr>
              <a:t> </a:t>
            </a:r>
            <a:r>
              <a:rPr kumimoji="0" lang="ko-KR" altLang="ko-KR" sz="2400" b="0" i="0" u="none" strike="noStrike" cap="none" normalizeH="0" baseline="0" dirty="0" err="1">
                <a:ln>
                  <a:noFill/>
                </a:ln>
                <a:solidFill>
                  <a:schemeClr val="tx1"/>
                </a:solidFill>
                <a:effectLst/>
                <a:latin typeface="Arial" panose="020B0604020202020204" pitchFamily="34" charset="0"/>
              </a:rPr>
              <a:t>controlling</a:t>
            </a:r>
            <a:r>
              <a:rPr kumimoji="0" lang="ko-KR" altLang="ko-KR" sz="2400" b="0" i="0" u="none" strike="noStrike" cap="none" normalizeH="0" baseline="0" dirty="0">
                <a:ln>
                  <a:noFill/>
                </a:ln>
                <a:solidFill>
                  <a:schemeClr val="tx1"/>
                </a:solidFill>
                <a:effectLst/>
                <a:latin typeface="Arial" panose="020B0604020202020204" pitchFamily="34" charset="0"/>
              </a:rPr>
              <a:t> </a:t>
            </a:r>
            <a:r>
              <a:rPr kumimoji="0" lang="ko-KR" altLang="ko-KR" sz="2400" b="0" i="0" u="none" strike="noStrike" cap="none" normalizeH="0" baseline="0" dirty="0" err="1">
                <a:ln>
                  <a:noFill/>
                </a:ln>
                <a:solidFill>
                  <a:schemeClr val="tx1"/>
                </a:solidFill>
                <a:effectLst/>
                <a:latin typeface="Arial" panose="020B0604020202020204" pitchFamily="34" charset="0"/>
              </a:rPr>
              <a:t>funds</a:t>
            </a:r>
            <a:endParaRPr kumimoji="0" lang="ko-KR" altLang="ko-KR"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2400" b="1" i="0" u="none" strike="noStrike" cap="none" normalizeH="0" baseline="0" dirty="0" err="1">
                <a:ln>
                  <a:noFill/>
                </a:ln>
                <a:solidFill>
                  <a:schemeClr val="tx1"/>
                </a:solidFill>
                <a:effectLst/>
                <a:latin typeface="Arial" panose="020B0604020202020204" pitchFamily="34" charset="0"/>
              </a:rPr>
              <a:t>Tokenization</a:t>
            </a:r>
            <a:r>
              <a:rPr kumimoji="0" lang="ko-KR" altLang="ko-KR" sz="2400" b="0" i="0" u="none" strike="noStrike" cap="none" normalizeH="0" baseline="0" dirty="0">
                <a:ln>
                  <a:noFill/>
                </a:ln>
                <a:solidFill>
                  <a:schemeClr val="tx1"/>
                </a:solidFill>
                <a:effectLst/>
                <a:latin typeface="Arial" panose="020B0604020202020204" pitchFamily="34" charset="0"/>
              </a:rPr>
              <a:t> → </a:t>
            </a:r>
            <a:r>
              <a:rPr kumimoji="0" lang="ko-KR" altLang="ko-KR" sz="2400" b="0" i="0" u="none" strike="noStrike" cap="none" normalizeH="0" baseline="0" dirty="0" err="1">
                <a:ln>
                  <a:noFill/>
                </a:ln>
                <a:solidFill>
                  <a:schemeClr val="tx1"/>
                </a:solidFill>
                <a:effectLst/>
                <a:latin typeface="Arial" panose="020B0604020202020204" pitchFamily="34" charset="0"/>
              </a:rPr>
              <a:t>Investors</a:t>
            </a:r>
            <a:r>
              <a:rPr kumimoji="0" lang="ko-KR" altLang="ko-KR" sz="2400" b="0" i="0" u="none" strike="noStrike" cap="none" normalizeH="0" baseline="0" dirty="0">
                <a:ln>
                  <a:noFill/>
                </a:ln>
                <a:solidFill>
                  <a:schemeClr val="tx1"/>
                </a:solidFill>
                <a:effectLst/>
                <a:latin typeface="Arial" panose="020B0604020202020204" pitchFamily="34" charset="0"/>
              </a:rPr>
              <a:t> </a:t>
            </a:r>
            <a:r>
              <a:rPr kumimoji="0" lang="ko-KR" altLang="ko-KR" sz="2400" b="0" i="0" u="none" strike="noStrike" cap="none" normalizeH="0" baseline="0" dirty="0" err="1">
                <a:ln>
                  <a:noFill/>
                </a:ln>
                <a:solidFill>
                  <a:schemeClr val="tx1"/>
                </a:solidFill>
                <a:effectLst/>
                <a:latin typeface="Arial" panose="020B0604020202020204" pitchFamily="34" charset="0"/>
              </a:rPr>
              <a:t>may</a:t>
            </a:r>
            <a:r>
              <a:rPr kumimoji="0" lang="ko-KR" altLang="ko-KR" sz="2400" b="0" i="0" u="none" strike="noStrike" cap="none" normalizeH="0" baseline="0" dirty="0">
                <a:ln>
                  <a:noFill/>
                </a:ln>
                <a:solidFill>
                  <a:schemeClr val="tx1"/>
                </a:solidFill>
                <a:effectLst/>
                <a:latin typeface="Arial" panose="020B0604020202020204" pitchFamily="34" charset="0"/>
              </a:rPr>
              <a:t> </a:t>
            </a:r>
            <a:r>
              <a:rPr kumimoji="0" lang="ko-KR" altLang="ko-KR" sz="2400" b="0" i="0" u="none" strike="noStrike" cap="none" normalizeH="0" baseline="0" dirty="0" err="1">
                <a:ln>
                  <a:noFill/>
                </a:ln>
                <a:solidFill>
                  <a:schemeClr val="tx1"/>
                </a:solidFill>
                <a:effectLst/>
                <a:latin typeface="Arial" panose="020B0604020202020204" pitchFamily="34" charset="0"/>
              </a:rPr>
              <a:t>receive</a:t>
            </a:r>
            <a:r>
              <a:rPr kumimoji="0" lang="ko-KR" altLang="ko-KR" sz="2400" b="0" i="0" u="none" strike="noStrike" cap="none" normalizeH="0" baseline="0" dirty="0">
                <a:ln>
                  <a:noFill/>
                </a:ln>
                <a:solidFill>
                  <a:schemeClr val="tx1"/>
                </a:solidFill>
                <a:effectLst/>
                <a:latin typeface="Arial" panose="020B0604020202020204" pitchFamily="34" charset="0"/>
              </a:rPr>
              <a:t> </a:t>
            </a:r>
            <a:r>
              <a:rPr kumimoji="0" lang="ko-KR" altLang="ko-KR" sz="2400" b="0" i="0" u="none" strike="noStrike" cap="none" normalizeH="0" baseline="0" dirty="0" err="1">
                <a:ln>
                  <a:noFill/>
                </a:ln>
                <a:solidFill>
                  <a:schemeClr val="tx1"/>
                </a:solidFill>
                <a:effectLst/>
                <a:latin typeface="Arial" panose="020B0604020202020204" pitchFamily="34" charset="0"/>
              </a:rPr>
              <a:t>project</a:t>
            </a:r>
            <a:r>
              <a:rPr kumimoji="0" lang="ko-KR" altLang="ko-KR" sz="2400" b="0" i="0" u="none" strike="noStrike" cap="none" normalizeH="0" baseline="0" dirty="0">
                <a:ln>
                  <a:noFill/>
                </a:ln>
                <a:solidFill>
                  <a:schemeClr val="tx1"/>
                </a:solidFill>
                <a:effectLst/>
                <a:latin typeface="Arial" panose="020B0604020202020204" pitchFamily="34" charset="0"/>
              </a:rPr>
              <a:t> </a:t>
            </a:r>
            <a:r>
              <a:rPr kumimoji="0" lang="ko-KR" altLang="ko-KR" sz="2400" b="0" i="0" u="none" strike="noStrike" cap="none" normalizeH="0" baseline="0" dirty="0" err="1">
                <a:ln>
                  <a:noFill/>
                </a:ln>
                <a:solidFill>
                  <a:schemeClr val="tx1"/>
                </a:solidFill>
                <a:effectLst/>
                <a:latin typeface="Arial" panose="020B0604020202020204" pitchFamily="34" charset="0"/>
              </a:rPr>
              <a:t>tokens</a:t>
            </a:r>
            <a:r>
              <a:rPr kumimoji="0" lang="ko-KR" altLang="ko-KR" sz="2400" b="0" i="0" u="none" strike="noStrike" cap="none" normalizeH="0" baseline="0" dirty="0">
                <a:ln>
                  <a:noFill/>
                </a:ln>
                <a:solidFill>
                  <a:schemeClr val="tx1"/>
                </a:solidFill>
                <a:effectLst/>
                <a:latin typeface="Arial" panose="020B0604020202020204" pitchFamily="34" charset="0"/>
              </a:rPr>
              <a:t>/</a:t>
            </a:r>
            <a:r>
              <a:rPr kumimoji="0" lang="ko-KR" altLang="ko-KR" sz="2400" b="0" i="0" u="none" strike="noStrike" cap="none" normalizeH="0" baseline="0" dirty="0" err="1">
                <a:ln>
                  <a:noFill/>
                </a:ln>
                <a:solidFill>
                  <a:schemeClr val="tx1"/>
                </a:solidFill>
                <a:effectLst/>
                <a:latin typeface="Arial" panose="020B0604020202020204" pitchFamily="34" charset="0"/>
              </a:rPr>
              <a:t>shares</a:t>
            </a:r>
            <a:endParaRPr kumimoji="0" lang="ko-KR" altLang="ko-KR"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2400" b="1" i="0" u="none" strike="noStrike" cap="none" normalizeH="0" baseline="0" dirty="0" err="1">
                <a:ln>
                  <a:noFill/>
                </a:ln>
                <a:solidFill>
                  <a:schemeClr val="tx1"/>
                </a:solidFill>
                <a:effectLst/>
                <a:latin typeface="Arial" panose="020B0604020202020204" pitchFamily="34" charset="0"/>
              </a:rPr>
              <a:t>High</a:t>
            </a:r>
            <a:r>
              <a:rPr kumimoji="0" lang="ko-KR" altLang="ko-KR" sz="2400" b="1" i="0" u="none" strike="noStrike" cap="none" normalizeH="0" baseline="0" dirty="0">
                <a:ln>
                  <a:noFill/>
                </a:ln>
                <a:solidFill>
                  <a:schemeClr val="tx1"/>
                </a:solidFill>
                <a:effectLst/>
                <a:latin typeface="Arial" panose="020B0604020202020204" pitchFamily="34" charset="0"/>
              </a:rPr>
              <a:t> </a:t>
            </a:r>
            <a:r>
              <a:rPr kumimoji="0" lang="ko-KR" altLang="ko-KR" sz="2400" b="1" i="0" u="none" strike="noStrike" cap="none" normalizeH="0" baseline="0" dirty="0" err="1">
                <a:ln>
                  <a:noFill/>
                </a:ln>
                <a:solidFill>
                  <a:schemeClr val="tx1"/>
                </a:solidFill>
                <a:effectLst/>
                <a:latin typeface="Arial" panose="020B0604020202020204" pitchFamily="34" charset="0"/>
              </a:rPr>
              <a:t>availability</a:t>
            </a:r>
            <a:r>
              <a:rPr kumimoji="0" lang="ko-KR" altLang="ko-KR" sz="2400" b="0" i="0" u="none" strike="noStrike" cap="none" normalizeH="0" baseline="0" dirty="0">
                <a:ln>
                  <a:noFill/>
                </a:ln>
                <a:solidFill>
                  <a:schemeClr val="tx1"/>
                </a:solidFill>
                <a:effectLst/>
                <a:latin typeface="Arial" panose="020B0604020202020204" pitchFamily="34" charset="0"/>
              </a:rPr>
              <a:t> → </a:t>
            </a:r>
            <a:r>
              <a:rPr kumimoji="0" lang="ko-KR" altLang="ko-KR" sz="2400" b="0" i="0" u="none" strike="noStrike" cap="none" normalizeH="0" baseline="0" dirty="0" err="1">
                <a:ln>
                  <a:noFill/>
                </a:ln>
                <a:solidFill>
                  <a:schemeClr val="tx1"/>
                </a:solidFill>
                <a:effectLst/>
                <a:latin typeface="Arial" panose="020B0604020202020204" pitchFamily="34" charset="0"/>
              </a:rPr>
              <a:t>Funding</a:t>
            </a:r>
            <a:r>
              <a:rPr kumimoji="0" lang="ko-KR" altLang="ko-KR" sz="2400" b="0" i="0" u="none" strike="noStrike" cap="none" normalizeH="0" baseline="0" dirty="0">
                <a:ln>
                  <a:noFill/>
                </a:ln>
                <a:solidFill>
                  <a:schemeClr val="tx1"/>
                </a:solidFill>
                <a:effectLst/>
                <a:latin typeface="Arial" panose="020B0604020202020204" pitchFamily="34" charset="0"/>
              </a:rPr>
              <a:t> </a:t>
            </a:r>
            <a:r>
              <a:rPr kumimoji="0" lang="ko-KR" altLang="ko-KR" sz="2400" b="0" i="0" u="none" strike="noStrike" cap="none" normalizeH="0" baseline="0" dirty="0" err="1">
                <a:ln>
                  <a:noFill/>
                </a:ln>
                <a:solidFill>
                  <a:schemeClr val="tx1"/>
                </a:solidFill>
                <a:effectLst/>
                <a:latin typeface="Arial" panose="020B0604020202020204" pitchFamily="34" charset="0"/>
              </a:rPr>
              <a:t>open</a:t>
            </a:r>
            <a:r>
              <a:rPr kumimoji="0" lang="ko-KR" altLang="ko-KR" sz="2400" b="0" i="0" u="none" strike="noStrike" cap="none" normalizeH="0" baseline="0" dirty="0">
                <a:ln>
                  <a:noFill/>
                </a:ln>
                <a:solidFill>
                  <a:schemeClr val="tx1"/>
                </a:solidFill>
                <a:effectLst/>
                <a:latin typeface="Arial" panose="020B0604020202020204" pitchFamily="34" charset="0"/>
              </a:rPr>
              <a:t> </a:t>
            </a:r>
            <a:r>
              <a:rPr kumimoji="0" lang="ko-KR" altLang="ko-KR" sz="2400" b="0" i="0" u="none" strike="noStrike" cap="none" normalizeH="0" baseline="0" dirty="0" err="1">
                <a:ln>
                  <a:noFill/>
                </a:ln>
                <a:solidFill>
                  <a:schemeClr val="tx1"/>
                </a:solidFill>
                <a:effectLst/>
                <a:latin typeface="Arial" panose="020B0604020202020204" pitchFamily="34" charset="0"/>
              </a:rPr>
              <a:t>to</a:t>
            </a:r>
            <a:r>
              <a:rPr kumimoji="0" lang="ko-KR" altLang="ko-KR" sz="2400" b="0" i="0" u="none" strike="noStrike" cap="none" normalizeH="0" baseline="0" dirty="0">
                <a:ln>
                  <a:noFill/>
                </a:ln>
                <a:solidFill>
                  <a:schemeClr val="tx1"/>
                </a:solidFill>
                <a:effectLst/>
                <a:latin typeface="Arial" panose="020B0604020202020204" pitchFamily="34" charset="0"/>
              </a:rPr>
              <a:t> </a:t>
            </a:r>
            <a:r>
              <a:rPr kumimoji="0" lang="ko-KR" altLang="ko-KR" sz="2400" b="0" i="0" u="none" strike="noStrike" cap="none" normalizeH="0" baseline="0" dirty="0" err="1">
                <a:ln>
                  <a:noFill/>
                </a:ln>
                <a:solidFill>
                  <a:schemeClr val="tx1"/>
                </a:solidFill>
                <a:effectLst/>
                <a:latin typeface="Arial" panose="020B0604020202020204" pitchFamily="34" charset="0"/>
              </a:rPr>
              <a:t>anyone</a:t>
            </a:r>
            <a:r>
              <a:rPr kumimoji="0" lang="ko-KR" altLang="ko-KR" sz="2400" b="0" i="0" u="none" strike="noStrike" cap="none" normalizeH="0" baseline="0" dirty="0">
                <a:ln>
                  <a:noFill/>
                </a:ln>
                <a:solidFill>
                  <a:schemeClr val="tx1"/>
                </a:solidFill>
                <a:effectLst/>
                <a:latin typeface="Arial" panose="020B0604020202020204" pitchFamily="34" charset="0"/>
              </a:rPr>
              <a:t>, </a:t>
            </a:r>
            <a:r>
              <a:rPr kumimoji="0" lang="ko-KR" altLang="ko-KR" sz="2400" b="0" i="0" u="none" strike="noStrike" cap="none" normalizeH="0" baseline="0" dirty="0" err="1">
                <a:ln>
                  <a:noFill/>
                </a:ln>
                <a:solidFill>
                  <a:schemeClr val="tx1"/>
                </a:solidFill>
                <a:effectLst/>
                <a:latin typeface="Arial" panose="020B0604020202020204" pitchFamily="34" charset="0"/>
              </a:rPr>
              <a:t>anytime</a:t>
            </a:r>
            <a:endParaRPr kumimoji="0" lang="ko-KR" altLang="ko-KR"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2400" b="1" i="0" u="none" strike="noStrike" cap="none" normalizeH="0" baseline="0" dirty="0" err="1">
                <a:ln>
                  <a:noFill/>
                </a:ln>
                <a:solidFill>
                  <a:schemeClr val="tx1"/>
                </a:solidFill>
                <a:effectLst/>
                <a:latin typeface="Arial" panose="020B0604020202020204" pitchFamily="34" charset="0"/>
              </a:rPr>
              <a:t>Smart</a:t>
            </a:r>
            <a:r>
              <a:rPr kumimoji="0" lang="ko-KR" altLang="ko-KR" sz="2400" b="1" i="0" u="none" strike="noStrike" cap="none" normalizeH="0" baseline="0" dirty="0">
                <a:ln>
                  <a:noFill/>
                </a:ln>
                <a:solidFill>
                  <a:schemeClr val="tx1"/>
                </a:solidFill>
                <a:effectLst/>
                <a:latin typeface="Arial" panose="020B0604020202020204" pitchFamily="34" charset="0"/>
              </a:rPr>
              <a:t> </a:t>
            </a:r>
            <a:r>
              <a:rPr kumimoji="0" lang="ko-KR" altLang="ko-KR" sz="2400" b="1" i="0" u="none" strike="noStrike" cap="none" normalizeH="0" baseline="0" dirty="0" err="1">
                <a:ln>
                  <a:noFill/>
                </a:ln>
                <a:solidFill>
                  <a:schemeClr val="tx1"/>
                </a:solidFill>
                <a:effectLst/>
                <a:latin typeface="Arial" panose="020B0604020202020204" pitchFamily="34" charset="0"/>
              </a:rPr>
              <a:t>contracts</a:t>
            </a:r>
            <a:r>
              <a:rPr kumimoji="0" lang="ko-KR" altLang="ko-KR" sz="2400" b="0" i="0" u="none" strike="noStrike" cap="none" normalizeH="0" baseline="0" dirty="0">
                <a:ln>
                  <a:noFill/>
                </a:ln>
                <a:solidFill>
                  <a:schemeClr val="tx1"/>
                </a:solidFill>
                <a:effectLst/>
                <a:latin typeface="Arial" panose="020B0604020202020204" pitchFamily="34" charset="0"/>
              </a:rPr>
              <a:t> → </a:t>
            </a:r>
            <a:r>
              <a:rPr kumimoji="0" lang="ko-KR" altLang="ko-KR" sz="2400" b="0" i="0" u="none" strike="noStrike" cap="none" normalizeH="0" baseline="0" dirty="0" err="1">
                <a:ln>
                  <a:noFill/>
                </a:ln>
                <a:solidFill>
                  <a:schemeClr val="tx1"/>
                </a:solidFill>
                <a:effectLst/>
                <a:latin typeface="Arial" panose="020B0604020202020204" pitchFamily="34" charset="0"/>
              </a:rPr>
              <a:t>Automatically</a:t>
            </a:r>
            <a:r>
              <a:rPr kumimoji="0" lang="ko-KR" altLang="ko-KR" sz="2400" b="0" i="0" u="none" strike="noStrike" cap="none" normalizeH="0" baseline="0" dirty="0">
                <a:ln>
                  <a:noFill/>
                </a:ln>
                <a:solidFill>
                  <a:schemeClr val="tx1"/>
                </a:solidFill>
                <a:effectLst/>
                <a:latin typeface="Arial" panose="020B0604020202020204" pitchFamily="34" charset="0"/>
              </a:rPr>
              <a:t> </a:t>
            </a:r>
            <a:r>
              <a:rPr kumimoji="0" lang="ko-KR" altLang="ko-KR" sz="2400" b="0" i="0" u="none" strike="noStrike" cap="none" normalizeH="0" baseline="0" dirty="0" err="1">
                <a:ln>
                  <a:noFill/>
                </a:ln>
                <a:solidFill>
                  <a:schemeClr val="tx1"/>
                </a:solidFill>
                <a:effectLst/>
                <a:latin typeface="Arial" panose="020B0604020202020204" pitchFamily="34" charset="0"/>
              </a:rPr>
              <a:t>enforce</a:t>
            </a:r>
            <a:r>
              <a:rPr kumimoji="0" lang="ko-KR" altLang="ko-KR" sz="2400" b="0" i="0" u="none" strike="noStrike" cap="none" normalizeH="0" baseline="0" dirty="0">
                <a:ln>
                  <a:noFill/>
                </a:ln>
                <a:solidFill>
                  <a:schemeClr val="tx1"/>
                </a:solidFill>
                <a:effectLst/>
                <a:latin typeface="Arial" panose="020B0604020202020204" pitchFamily="34" charset="0"/>
              </a:rPr>
              <a:t> </a:t>
            </a:r>
            <a:r>
              <a:rPr kumimoji="0" lang="ko-KR" altLang="ko-KR" sz="2400" b="0" i="0" u="none" strike="noStrike" cap="none" normalizeH="0" baseline="0" dirty="0" err="1">
                <a:ln>
                  <a:noFill/>
                </a:ln>
                <a:solidFill>
                  <a:schemeClr val="tx1"/>
                </a:solidFill>
                <a:effectLst/>
                <a:latin typeface="Arial" panose="020B0604020202020204" pitchFamily="34" charset="0"/>
              </a:rPr>
              <a:t>funding</a:t>
            </a:r>
            <a:r>
              <a:rPr kumimoji="0" lang="ko-KR" altLang="ko-KR" sz="2400" b="0" i="0" u="none" strike="noStrike" cap="none" normalizeH="0" baseline="0" dirty="0">
                <a:ln>
                  <a:noFill/>
                </a:ln>
                <a:solidFill>
                  <a:schemeClr val="tx1"/>
                </a:solidFill>
                <a:effectLst/>
                <a:latin typeface="Arial" panose="020B0604020202020204" pitchFamily="34" charset="0"/>
              </a:rPr>
              <a:t> </a:t>
            </a:r>
            <a:r>
              <a:rPr kumimoji="0" lang="ko-KR" altLang="ko-KR" sz="2400" b="0" i="0" u="none" strike="noStrike" cap="none" normalizeH="0" baseline="0" dirty="0" err="1">
                <a:ln>
                  <a:noFill/>
                </a:ln>
                <a:solidFill>
                  <a:schemeClr val="tx1"/>
                </a:solidFill>
                <a:effectLst/>
                <a:latin typeface="Arial" panose="020B0604020202020204" pitchFamily="34" charset="0"/>
              </a:rPr>
              <a:t>rules</a:t>
            </a:r>
            <a:endParaRPr kumimoji="0" lang="ko-KR" altLang="ko-KR"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116695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71504-EEF8-B15A-B6AD-D9E899CBD186}"/>
              </a:ext>
            </a:extLst>
          </p:cNvPr>
          <p:cNvSpPr>
            <a:spLocks noGrp="1"/>
          </p:cNvSpPr>
          <p:nvPr>
            <p:ph type="title"/>
          </p:nvPr>
        </p:nvSpPr>
        <p:spPr/>
        <p:txBody>
          <a:bodyPr/>
          <a:lstStyle/>
          <a:p>
            <a:r>
              <a:rPr lang="en-US" altLang="ko-KR" dirty="0"/>
              <a:t>Explanation</a:t>
            </a:r>
            <a:endParaRPr lang="ko-KR" altLang="en-US" dirty="0"/>
          </a:p>
        </p:txBody>
      </p:sp>
      <p:sp>
        <p:nvSpPr>
          <p:cNvPr id="3" name="Content Placeholder 2">
            <a:extLst>
              <a:ext uri="{FF2B5EF4-FFF2-40B4-BE49-F238E27FC236}">
                <a16:creationId xmlns:a16="http://schemas.microsoft.com/office/drawing/2014/main" id="{A3E7E996-8A0B-2935-3A41-1BF46C179587}"/>
              </a:ext>
            </a:extLst>
          </p:cNvPr>
          <p:cNvSpPr>
            <a:spLocks noGrp="1"/>
          </p:cNvSpPr>
          <p:nvPr>
            <p:ph idx="1"/>
          </p:nvPr>
        </p:nvSpPr>
        <p:spPr/>
        <p:txBody>
          <a:bodyPr/>
          <a:lstStyle/>
          <a:p>
            <a:pPr marL="0" indent="0">
              <a:buNone/>
            </a:pPr>
            <a:r>
              <a:rPr lang="en-US" altLang="ko-KR" b="1" dirty="0"/>
              <a:t>Crowdfunding = collecting small money from many people for a project.</a:t>
            </a:r>
            <a:endParaRPr lang="en-US" altLang="ko-KR" dirty="0"/>
          </a:p>
          <a:p>
            <a:pPr marL="0" indent="0">
              <a:buNone/>
            </a:pPr>
            <a:r>
              <a:rPr lang="en-US" altLang="ko-KR" dirty="0"/>
              <a:t>Blockchain improves crowdfunding by:</a:t>
            </a:r>
          </a:p>
          <a:p>
            <a:r>
              <a:rPr lang="en-US" altLang="ko-KR" dirty="0"/>
              <a:t>Releasing money </a:t>
            </a:r>
            <a:r>
              <a:rPr lang="en-US" altLang="ko-KR" b="1" dirty="0"/>
              <a:t>step-by-step (milestones)</a:t>
            </a:r>
            <a:r>
              <a:rPr lang="en-US" altLang="ko-KR" dirty="0"/>
              <a:t> </a:t>
            </a:r>
            <a:r>
              <a:rPr lang="ko-KR" altLang="en-US" dirty="0"/>
              <a:t>💡</a:t>
            </a:r>
          </a:p>
          <a:p>
            <a:r>
              <a:rPr lang="en-US" altLang="ko-KR" dirty="0"/>
              <a:t>Using </a:t>
            </a:r>
            <a:r>
              <a:rPr lang="en-US" altLang="ko-KR" b="1" dirty="0"/>
              <a:t>smart contracts</a:t>
            </a:r>
            <a:r>
              <a:rPr lang="en-US" altLang="ko-KR" dirty="0"/>
              <a:t> to control funds automatically </a:t>
            </a:r>
            <a:r>
              <a:rPr lang="ko-KR" altLang="en-US" dirty="0"/>
              <a:t>🤖</a:t>
            </a:r>
          </a:p>
          <a:p>
            <a:r>
              <a:rPr lang="en-US" altLang="ko-KR" dirty="0"/>
              <a:t>Showing where money is used (transparent) </a:t>
            </a:r>
            <a:r>
              <a:rPr lang="ko-KR" altLang="en-US" dirty="0"/>
              <a:t>👀</a:t>
            </a:r>
          </a:p>
          <a:p>
            <a:r>
              <a:rPr lang="en-US" altLang="ko-KR" dirty="0"/>
              <a:t>Reducing fraud and misuse ❌</a:t>
            </a:r>
          </a:p>
          <a:p>
            <a:pPr marL="0" indent="0">
              <a:buNone/>
            </a:pPr>
            <a:r>
              <a:rPr lang="en-US" altLang="ko-KR" dirty="0"/>
              <a:t>So donors trust more because money is only released when work is done.</a:t>
            </a:r>
          </a:p>
          <a:p>
            <a:endParaRPr lang="ko-KR" altLang="en-US" dirty="0"/>
          </a:p>
        </p:txBody>
      </p:sp>
    </p:spTree>
    <p:extLst>
      <p:ext uri="{BB962C8B-B14F-4D97-AF65-F5344CB8AC3E}">
        <p14:creationId xmlns:p14="http://schemas.microsoft.com/office/powerpoint/2010/main" val="5497366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F1DF8-B60C-3CE1-05C7-50F573F0D08D}"/>
              </a:ext>
            </a:extLst>
          </p:cNvPr>
          <p:cNvSpPr>
            <a:spLocks noGrp="1"/>
          </p:cNvSpPr>
          <p:nvPr>
            <p:ph type="title"/>
          </p:nvPr>
        </p:nvSpPr>
        <p:spPr/>
        <p:txBody>
          <a:bodyPr/>
          <a:lstStyle/>
          <a:p>
            <a:r>
              <a:rPr lang="en-US" altLang="ko-KR" dirty="0"/>
              <a:t>Daily Life Example</a:t>
            </a:r>
            <a:endParaRPr lang="ko-KR" altLang="en-US" dirty="0"/>
          </a:p>
        </p:txBody>
      </p:sp>
      <p:sp>
        <p:nvSpPr>
          <p:cNvPr id="3" name="Content Placeholder 2">
            <a:extLst>
              <a:ext uri="{FF2B5EF4-FFF2-40B4-BE49-F238E27FC236}">
                <a16:creationId xmlns:a16="http://schemas.microsoft.com/office/drawing/2014/main" id="{F6E8C0F2-BAE3-997F-856C-F097FA97A3C0}"/>
              </a:ext>
            </a:extLst>
          </p:cNvPr>
          <p:cNvSpPr>
            <a:spLocks noGrp="1"/>
          </p:cNvSpPr>
          <p:nvPr>
            <p:ph idx="1"/>
          </p:nvPr>
        </p:nvSpPr>
        <p:spPr/>
        <p:txBody>
          <a:bodyPr/>
          <a:lstStyle/>
          <a:p>
            <a:pPr marL="0" indent="0">
              <a:buNone/>
            </a:pPr>
            <a:r>
              <a:rPr lang="en-US" altLang="ko-KR" dirty="0"/>
              <a:t>Imagine people collect money to </a:t>
            </a:r>
            <a:r>
              <a:rPr lang="en-US" altLang="ko-KR" b="1" dirty="0"/>
              <a:t>build a school</a:t>
            </a:r>
            <a:r>
              <a:rPr lang="en-US" altLang="ko-KR" dirty="0"/>
              <a:t>:</a:t>
            </a:r>
          </a:p>
          <a:p>
            <a:r>
              <a:rPr lang="en-US" altLang="ko-KR" dirty="0"/>
              <a:t>Goal: $10,000</a:t>
            </a:r>
          </a:p>
          <a:p>
            <a:r>
              <a:rPr lang="en-US" altLang="ko-KR" dirty="0"/>
              <a:t>Smart contract rules:</a:t>
            </a:r>
          </a:p>
          <a:p>
            <a:pPr lvl="1"/>
            <a:r>
              <a:rPr lang="en-US" altLang="ko-KR" dirty="0"/>
              <a:t>After land bought → release $3,000</a:t>
            </a:r>
          </a:p>
          <a:p>
            <a:pPr lvl="1"/>
            <a:r>
              <a:rPr lang="en-US" altLang="ko-KR" dirty="0"/>
              <a:t>After building foundation → release $4,000</a:t>
            </a:r>
          </a:p>
          <a:p>
            <a:pPr lvl="1"/>
            <a:r>
              <a:rPr lang="en-US" altLang="ko-KR" dirty="0"/>
              <a:t>After school completed → release remaining $3,000</a:t>
            </a:r>
          </a:p>
          <a:p>
            <a:pPr marL="0" indent="0">
              <a:buNone/>
            </a:pPr>
            <a:r>
              <a:rPr lang="en-US" altLang="ko-KR" dirty="0"/>
              <a:t>If builder does not complete step ❌ → money </a:t>
            </a:r>
            <a:r>
              <a:rPr lang="en-US" altLang="ko-KR" b="1" dirty="0"/>
              <a:t>not released</a:t>
            </a:r>
            <a:r>
              <a:rPr lang="en-US" altLang="ko-KR" dirty="0"/>
              <a:t>.</a:t>
            </a:r>
          </a:p>
          <a:p>
            <a:pPr marL="0" indent="0">
              <a:buNone/>
            </a:pPr>
            <a:r>
              <a:rPr lang="en-US" altLang="ko-KR" dirty="0"/>
              <a:t>So funds are </a:t>
            </a:r>
            <a:r>
              <a:rPr lang="en-US" altLang="ko-KR" b="1" dirty="0"/>
              <a:t>safe + controlled + transparent</a:t>
            </a:r>
            <a:r>
              <a:rPr lang="en-US" altLang="ko-KR" dirty="0"/>
              <a:t>.</a:t>
            </a:r>
          </a:p>
          <a:p>
            <a:endParaRPr lang="ko-KR" altLang="en-US" dirty="0"/>
          </a:p>
        </p:txBody>
      </p:sp>
    </p:spTree>
    <p:extLst>
      <p:ext uri="{BB962C8B-B14F-4D97-AF65-F5344CB8AC3E}">
        <p14:creationId xmlns:p14="http://schemas.microsoft.com/office/powerpoint/2010/main" val="19540402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C589D-E211-A625-73B4-E27AE7F0F00D}"/>
              </a:ext>
            </a:extLst>
          </p:cNvPr>
          <p:cNvSpPr>
            <a:spLocks noGrp="1"/>
          </p:cNvSpPr>
          <p:nvPr>
            <p:ph type="title"/>
          </p:nvPr>
        </p:nvSpPr>
        <p:spPr/>
        <p:txBody>
          <a:bodyPr/>
          <a:lstStyle/>
          <a:p>
            <a:r>
              <a:rPr lang="en-US" altLang="ko-KR" dirty="0"/>
              <a:t>Crypto / Blockchain Example</a:t>
            </a:r>
            <a:endParaRPr lang="ko-KR" altLang="en-US" dirty="0"/>
          </a:p>
        </p:txBody>
      </p:sp>
      <p:sp>
        <p:nvSpPr>
          <p:cNvPr id="3" name="Content Placeholder 2">
            <a:extLst>
              <a:ext uri="{FF2B5EF4-FFF2-40B4-BE49-F238E27FC236}">
                <a16:creationId xmlns:a16="http://schemas.microsoft.com/office/drawing/2014/main" id="{4A77C10A-23B2-8ACE-5549-21E45F8D999F}"/>
              </a:ext>
            </a:extLst>
          </p:cNvPr>
          <p:cNvSpPr>
            <a:spLocks noGrp="1"/>
          </p:cNvSpPr>
          <p:nvPr>
            <p:ph idx="1"/>
          </p:nvPr>
        </p:nvSpPr>
        <p:spPr/>
        <p:txBody>
          <a:bodyPr>
            <a:normAutofit lnSpcReduction="10000"/>
          </a:bodyPr>
          <a:lstStyle/>
          <a:p>
            <a:pPr marL="0" indent="0">
              <a:buNone/>
            </a:pPr>
            <a:r>
              <a:rPr lang="en-US" altLang="ko-KR" b="1" dirty="0"/>
              <a:t>Blockchain Crowdfunding (like ICO / DAO funding)</a:t>
            </a:r>
            <a:endParaRPr lang="en-US" altLang="ko-KR" dirty="0"/>
          </a:p>
          <a:p>
            <a:r>
              <a:rPr lang="en-US" altLang="ko-KR" dirty="0"/>
              <a:t>A startup wants funding → creates smart contract</a:t>
            </a:r>
          </a:p>
          <a:p>
            <a:r>
              <a:rPr lang="en-US" altLang="ko-KR" dirty="0"/>
              <a:t>Investors send crypto to contract</a:t>
            </a:r>
          </a:p>
          <a:p>
            <a:r>
              <a:rPr lang="en-US" altLang="ko-KR" dirty="0"/>
              <a:t>Funds locked safely on blockchain</a:t>
            </a:r>
          </a:p>
          <a:p>
            <a:r>
              <a:rPr lang="en-US" altLang="ko-KR" dirty="0"/>
              <a:t>Money released only when milestones completed:</a:t>
            </a:r>
          </a:p>
          <a:p>
            <a:pPr lvl="1"/>
            <a:r>
              <a:rPr lang="en-US" altLang="ko-KR" dirty="0"/>
              <a:t>Product prototype ready ✔️ → release funds</a:t>
            </a:r>
          </a:p>
          <a:p>
            <a:pPr lvl="1"/>
            <a:r>
              <a:rPr lang="en-US" altLang="ko-KR" dirty="0"/>
              <a:t>App launched ✔️ → release next funds</a:t>
            </a:r>
          </a:p>
          <a:p>
            <a:pPr marL="0" indent="0">
              <a:buNone/>
            </a:pPr>
            <a:r>
              <a:rPr lang="en-US" altLang="ko-KR" dirty="0"/>
              <a:t>If project fails ❌ → remaining funds can return to investors (depending on contract).</a:t>
            </a:r>
          </a:p>
          <a:p>
            <a:pPr marL="0" indent="0">
              <a:buNone/>
            </a:pPr>
            <a:r>
              <a:rPr lang="en-US" altLang="ko-KR" dirty="0"/>
              <a:t>No middleman, no cheating, full transparency.</a:t>
            </a:r>
          </a:p>
          <a:p>
            <a:endParaRPr lang="ko-KR" altLang="en-US" dirty="0"/>
          </a:p>
        </p:txBody>
      </p:sp>
    </p:spTree>
    <p:extLst>
      <p:ext uri="{BB962C8B-B14F-4D97-AF65-F5344CB8AC3E}">
        <p14:creationId xmlns:p14="http://schemas.microsoft.com/office/powerpoint/2010/main" val="3687401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6A3E9-DA40-3F61-D8FA-8BEE9AC6B8A7}"/>
              </a:ext>
            </a:extLst>
          </p:cNvPr>
          <p:cNvSpPr>
            <a:spLocks noGrp="1"/>
          </p:cNvSpPr>
          <p:nvPr>
            <p:ph type="title"/>
          </p:nvPr>
        </p:nvSpPr>
        <p:spPr/>
        <p:txBody>
          <a:bodyPr/>
          <a:lstStyle/>
          <a:p>
            <a:r>
              <a:rPr lang="en-US" altLang="ko-KR" dirty="0"/>
              <a:t>Blockchain Technology and Supply Chain Management</a:t>
            </a:r>
            <a:endParaRPr lang="ko-KR" altLang="en-US" dirty="0"/>
          </a:p>
        </p:txBody>
      </p:sp>
      <p:sp>
        <p:nvSpPr>
          <p:cNvPr id="3" name="Content Placeholder 2">
            <a:extLst>
              <a:ext uri="{FF2B5EF4-FFF2-40B4-BE49-F238E27FC236}">
                <a16:creationId xmlns:a16="http://schemas.microsoft.com/office/drawing/2014/main" id="{7E3BAB70-B23C-0198-8193-7544E4B4EAD3}"/>
              </a:ext>
            </a:extLst>
          </p:cNvPr>
          <p:cNvSpPr>
            <a:spLocks noGrp="1"/>
          </p:cNvSpPr>
          <p:nvPr>
            <p:ph idx="1"/>
          </p:nvPr>
        </p:nvSpPr>
        <p:spPr/>
        <p:txBody>
          <a:bodyPr>
            <a:normAutofit fontScale="85000" lnSpcReduction="20000"/>
          </a:bodyPr>
          <a:lstStyle/>
          <a:p>
            <a:pPr marL="0" indent="0">
              <a:buNone/>
            </a:pPr>
            <a:r>
              <a:rPr lang="en-US" altLang="ko-KR" dirty="0"/>
              <a:t>Managing today’s supply chains is extremely complex. For many products, the supply chain can span over hundreds of stages, multiple geographical (international) locations, a multitude of invoices and payments, have several individuals and entities involved, and extend over months of time. Due to the complexity and lack of transparency of the current supply chains, there is high interest in how Blockchains might transform the supply chain and logistics industry. </a:t>
            </a:r>
          </a:p>
          <a:p>
            <a:pPr marL="0" indent="0">
              <a:buNone/>
            </a:pPr>
            <a:r>
              <a:rPr lang="en-US" altLang="ko-KR" dirty="0"/>
              <a:t>This interest rose from the long list of issues with current Supply Chain Management (SCM) including: </a:t>
            </a:r>
          </a:p>
          <a:p>
            <a:r>
              <a:rPr lang="en-US" altLang="ko-KR" dirty="0"/>
              <a:t>Difficulty of Tracking </a:t>
            </a:r>
          </a:p>
          <a:p>
            <a:pPr marL="0" indent="0">
              <a:buNone/>
            </a:pPr>
            <a:r>
              <a:rPr lang="en-US" altLang="ko-KR" dirty="0"/>
              <a:t>• Lack of Trust </a:t>
            </a:r>
          </a:p>
          <a:p>
            <a:pPr marL="0" indent="0">
              <a:buNone/>
            </a:pPr>
            <a:r>
              <a:rPr lang="en-US" altLang="ko-KR" dirty="0"/>
              <a:t>• High Costs: procurement costs, transportation costs, inventory costs and quality costs </a:t>
            </a:r>
          </a:p>
          <a:p>
            <a:pPr marL="0" indent="0">
              <a:buNone/>
            </a:pPr>
            <a:r>
              <a:rPr lang="en-US" altLang="ko-KR" dirty="0"/>
              <a:t>• Globalization Barriers </a:t>
            </a:r>
            <a:endParaRPr lang="ko-KR" altLang="en-US" dirty="0"/>
          </a:p>
        </p:txBody>
      </p:sp>
    </p:spTree>
    <p:extLst>
      <p:ext uri="{BB962C8B-B14F-4D97-AF65-F5344CB8AC3E}">
        <p14:creationId xmlns:p14="http://schemas.microsoft.com/office/powerpoint/2010/main" val="17873075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B585A-D59E-A169-58DC-004503BB8ADB}"/>
              </a:ext>
            </a:extLst>
          </p:cNvPr>
          <p:cNvSpPr>
            <a:spLocks noGrp="1"/>
          </p:cNvSpPr>
          <p:nvPr>
            <p:ph type="title"/>
          </p:nvPr>
        </p:nvSpPr>
        <p:spPr/>
        <p:txBody>
          <a:bodyPr/>
          <a:lstStyle/>
          <a:p>
            <a:r>
              <a:rPr lang="en-US" altLang="ko-KR" dirty="0"/>
              <a:t>Blockchain and SCM (continue)</a:t>
            </a:r>
            <a:endParaRPr lang="ko-KR" altLang="en-US" dirty="0"/>
          </a:p>
        </p:txBody>
      </p:sp>
      <p:sp>
        <p:nvSpPr>
          <p:cNvPr id="3" name="Content Placeholder 2">
            <a:extLst>
              <a:ext uri="{FF2B5EF4-FFF2-40B4-BE49-F238E27FC236}">
                <a16:creationId xmlns:a16="http://schemas.microsoft.com/office/drawing/2014/main" id="{11830E85-DDBF-6CED-37CD-1B73A9C6158F}"/>
              </a:ext>
            </a:extLst>
          </p:cNvPr>
          <p:cNvSpPr>
            <a:spLocks noGrp="1"/>
          </p:cNvSpPr>
          <p:nvPr>
            <p:ph idx="1"/>
          </p:nvPr>
        </p:nvSpPr>
        <p:spPr/>
        <p:txBody>
          <a:bodyPr/>
          <a:lstStyle/>
          <a:p>
            <a:r>
              <a:rPr lang="en-US" altLang="ko-KR" dirty="0"/>
              <a:t>Blockchain technology and supply chain management systems were built for each other in many ways. In fact, several of the flaws of the current supply chains can be easily relieved by using Blockchain technology. Supply Chain Management (SCM) is one of the fore most industries that Blockchain can disrupts and changes for the better. </a:t>
            </a:r>
            <a:endParaRPr lang="ko-KR" altLang="en-US" dirty="0"/>
          </a:p>
        </p:txBody>
      </p:sp>
    </p:spTree>
    <p:extLst>
      <p:ext uri="{BB962C8B-B14F-4D97-AF65-F5344CB8AC3E}">
        <p14:creationId xmlns:p14="http://schemas.microsoft.com/office/powerpoint/2010/main" val="37932238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81DFC-2158-B00D-D7C3-34E8D9DDC84A}"/>
              </a:ext>
            </a:extLst>
          </p:cNvPr>
          <p:cNvSpPr>
            <a:spLocks noGrp="1"/>
          </p:cNvSpPr>
          <p:nvPr>
            <p:ph type="title"/>
          </p:nvPr>
        </p:nvSpPr>
        <p:spPr/>
        <p:txBody>
          <a:bodyPr/>
          <a:lstStyle/>
          <a:p>
            <a:endParaRPr lang="ko-KR" altLang="en-US"/>
          </a:p>
        </p:txBody>
      </p:sp>
      <p:sp>
        <p:nvSpPr>
          <p:cNvPr id="3" name="Content Placeholder 2">
            <a:extLst>
              <a:ext uri="{FF2B5EF4-FFF2-40B4-BE49-F238E27FC236}">
                <a16:creationId xmlns:a16="http://schemas.microsoft.com/office/drawing/2014/main" id="{A41BEE24-6745-58F8-37D6-F7F39167BD54}"/>
              </a:ext>
            </a:extLst>
          </p:cNvPr>
          <p:cNvSpPr>
            <a:spLocks noGrp="1"/>
          </p:cNvSpPr>
          <p:nvPr>
            <p:ph idx="1"/>
          </p:nvPr>
        </p:nvSpPr>
        <p:spPr/>
        <p:txBody>
          <a:bodyPr/>
          <a:lstStyle/>
          <a:p>
            <a:r>
              <a:rPr lang="en-US" altLang="ko-KR" dirty="0"/>
              <a:t>With Blockchain technology properties of decentralization, trans </a:t>
            </a:r>
            <a:r>
              <a:rPr lang="en-US" altLang="ko-KR" dirty="0" err="1"/>
              <a:t>parency</a:t>
            </a:r>
            <a:r>
              <a:rPr lang="en-US" altLang="ko-KR" dirty="0"/>
              <a:t>, and immutability, it is the perfect tool to save the supply chain management industry. Subsequently, Blockchain can increases the </a:t>
            </a:r>
            <a:r>
              <a:rPr lang="en-US" altLang="ko-KR" dirty="0" err="1"/>
              <a:t>ef</a:t>
            </a:r>
            <a:r>
              <a:rPr lang="en-US" altLang="ko-KR" dirty="0"/>
              <a:t> f </a:t>
            </a:r>
            <a:r>
              <a:rPr lang="en-US" altLang="ko-KR" dirty="0" err="1"/>
              <a:t>iciency</a:t>
            </a:r>
            <a:r>
              <a:rPr lang="en-US" altLang="ko-KR" dirty="0"/>
              <a:t> and transparency of supply chains and positively impact </a:t>
            </a:r>
            <a:r>
              <a:rPr lang="en-US" altLang="ko-KR" dirty="0" err="1"/>
              <a:t>ev</a:t>
            </a:r>
            <a:r>
              <a:rPr lang="en-US" altLang="ko-KR" dirty="0"/>
              <a:t> </a:t>
            </a:r>
            <a:r>
              <a:rPr lang="en-US" altLang="ko-KR" dirty="0" err="1"/>
              <a:t>erything</a:t>
            </a:r>
            <a:r>
              <a:rPr lang="en-US" altLang="ko-KR" dirty="0"/>
              <a:t> from warehousing to delivery to payment. Most importantly, Blockchain provides consensus—there is no dispute in the chain re </a:t>
            </a:r>
            <a:r>
              <a:rPr lang="en-US" altLang="ko-KR" dirty="0" err="1"/>
              <a:t>garding</a:t>
            </a:r>
            <a:r>
              <a:rPr lang="en-US" altLang="ko-KR" dirty="0"/>
              <a:t> transactions because all entities on the chain have the same version of the ledger</a:t>
            </a:r>
            <a:endParaRPr lang="ko-KR" altLang="en-US" dirty="0"/>
          </a:p>
        </p:txBody>
      </p:sp>
    </p:spTree>
    <p:extLst>
      <p:ext uri="{BB962C8B-B14F-4D97-AF65-F5344CB8AC3E}">
        <p14:creationId xmlns:p14="http://schemas.microsoft.com/office/powerpoint/2010/main" val="32694189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6DDB9-DBBB-A68C-FB7F-A558ACFE49AB}"/>
              </a:ext>
            </a:extLst>
          </p:cNvPr>
          <p:cNvSpPr>
            <a:spLocks noGrp="1"/>
          </p:cNvSpPr>
          <p:nvPr>
            <p:ph type="title"/>
          </p:nvPr>
        </p:nvSpPr>
        <p:spPr/>
        <p:txBody>
          <a:bodyPr/>
          <a:lstStyle/>
          <a:p>
            <a:r>
              <a:rPr lang="en-US" altLang="ko-KR" dirty="0"/>
              <a:t>Traceability, and Transparency</a:t>
            </a:r>
            <a:endParaRPr lang="ko-KR" altLang="en-US" dirty="0"/>
          </a:p>
        </p:txBody>
      </p:sp>
      <p:sp>
        <p:nvSpPr>
          <p:cNvPr id="3" name="Content Placeholder 2">
            <a:extLst>
              <a:ext uri="{FF2B5EF4-FFF2-40B4-BE49-F238E27FC236}">
                <a16:creationId xmlns:a16="http://schemas.microsoft.com/office/drawing/2014/main" id="{0B749936-F887-19BC-CCEF-3EEFEACE0B2A}"/>
              </a:ext>
            </a:extLst>
          </p:cNvPr>
          <p:cNvSpPr>
            <a:spLocks noGrp="1"/>
          </p:cNvSpPr>
          <p:nvPr>
            <p:ph idx="1"/>
          </p:nvPr>
        </p:nvSpPr>
        <p:spPr/>
        <p:txBody>
          <a:bodyPr>
            <a:normAutofit/>
          </a:bodyPr>
          <a:lstStyle/>
          <a:p>
            <a:r>
              <a:rPr lang="en-US" altLang="ko-KR" dirty="0"/>
              <a:t>Blockchain can have a big impact on SCM in two dimensions Traceability, and Transparency.</a:t>
            </a:r>
          </a:p>
          <a:p>
            <a:r>
              <a:rPr lang="en-US" altLang="ko-KR" b="1" dirty="0"/>
              <a:t>Traceability</a:t>
            </a:r>
            <a:r>
              <a:rPr lang="en-US" altLang="ko-KR" dirty="0"/>
              <a:t> Blockchain improves operational efficiency by mapping and visualizing enterprise supply chains. A growing number of con </a:t>
            </a:r>
            <a:r>
              <a:rPr lang="en-US" altLang="ko-KR" dirty="0" err="1"/>
              <a:t>sumers</a:t>
            </a:r>
            <a:r>
              <a:rPr lang="en-US" altLang="ko-KR" dirty="0"/>
              <a:t> demand sourcing information about the products they buy. Blockchain helps organizations understand their supply chain and </a:t>
            </a:r>
            <a:r>
              <a:rPr lang="en-US" altLang="ko-KR" dirty="0" err="1"/>
              <a:t>en</a:t>
            </a:r>
            <a:r>
              <a:rPr lang="en-US" altLang="ko-KR" dirty="0"/>
              <a:t> gage consumers with real, verifiable, and immutable data.</a:t>
            </a:r>
            <a:endParaRPr lang="ko-KR" altLang="en-US" dirty="0"/>
          </a:p>
        </p:txBody>
      </p:sp>
    </p:spTree>
    <p:extLst>
      <p:ext uri="{BB962C8B-B14F-4D97-AF65-F5344CB8AC3E}">
        <p14:creationId xmlns:p14="http://schemas.microsoft.com/office/powerpoint/2010/main" val="6558678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DBEE1-8197-2233-CB03-DAE6C54BEEED}"/>
              </a:ext>
            </a:extLst>
          </p:cNvPr>
          <p:cNvSpPr>
            <a:spLocks noGrp="1"/>
          </p:cNvSpPr>
          <p:nvPr>
            <p:ph type="title"/>
          </p:nvPr>
        </p:nvSpPr>
        <p:spPr/>
        <p:txBody>
          <a:bodyPr/>
          <a:lstStyle/>
          <a:p>
            <a:endParaRPr lang="ko-KR" altLang="en-US"/>
          </a:p>
        </p:txBody>
      </p:sp>
      <p:sp>
        <p:nvSpPr>
          <p:cNvPr id="3" name="Content Placeholder 2">
            <a:extLst>
              <a:ext uri="{FF2B5EF4-FFF2-40B4-BE49-F238E27FC236}">
                <a16:creationId xmlns:a16="http://schemas.microsoft.com/office/drawing/2014/main" id="{85F3A1B3-6D96-ACA9-B7CB-A863B8CD35F4}"/>
              </a:ext>
            </a:extLst>
          </p:cNvPr>
          <p:cNvSpPr>
            <a:spLocks noGrp="1"/>
          </p:cNvSpPr>
          <p:nvPr>
            <p:ph idx="1"/>
          </p:nvPr>
        </p:nvSpPr>
        <p:spPr/>
        <p:txBody>
          <a:bodyPr/>
          <a:lstStyle/>
          <a:p>
            <a:r>
              <a:rPr lang="en-US" altLang="ko-KR" b="1" dirty="0"/>
              <a:t>Transparency</a:t>
            </a:r>
            <a:r>
              <a:rPr lang="en-US" altLang="ko-KR" dirty="0"/>
              <a:t> Blockchain builds trust by capturing key data points, such as certifications and claims, and then provides open access to this data publicly. Once registered on the Blockchain, its authenticity can be verified by a third-party. The information can be updated and vali dated in real-time. Plus, the strong security from its innate </a:t>
            </a:r>
            <a:r>
              <a:rPr lang="en-US" altLang="ko-KR" dirty="0" err="1"/>
              <a:t>cryptogra</a:t>
            </a:r>
            <a:r>
              <a:rPr lang="en-US" altLang="ko-KR" dirty="0"/>
              <a:t> </a:t>
            </a:r>
            <a:r>
              <a:rPr lang="en-US" altLang="ko-KR" dirty="0" err="1"/>
              <a:t>phy</a:t>
            </a:r>
            <a:r>
              <a:rPr lang="en-US" altLang="ko-KR" dirty="0"/>
              <a:t> will eliminate unnecessary audits, saving copious amounts of time and money</a:t>
            </a:r>
            <a:endParaRPr lang="ko-KR" altLang="en-US" dirty="0"/>
          </a:p>
        </p:txBody>
      </p:sp>
    </p:spTree>
    <p:extLst>
      <p:ext uri="{BB962C8B-B14F-4D97-AF65-F5344CB8AC3E}">
        <p14:creationId xmlns:p14="http://schemas.microsoft.com/office/powerpoint/2010/main" val="33186724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7BF3D-B4EB-2698-66FC-83E4D0A54CD8}"/>
              </a:ext>
            </a:extLst>
          </p:cNvPr>
          <p:cNvSpPr>
            <a:spLocks noGrp="1"/>
          </p:cNvSpPr>
          <p:nvPr>
            <p:ph type="title"/>
          </p:nvPr>
        </p:nvSpPr>
        <p:spPr/>
        <p:txBody>
          <a:bodyPr/>
          <a:lstStyle/>
          <a:p>
            <a:endParaRPr lang="ko-KR" altLang="en-US"/>
          </a:p>
        </p:txBody>
      </p:sp>
      <p:sp>
        <p:nvSpPr>
          <p:cNvPr id="3" name="Content Placeholder 2">
            <a:extLst>
              <a:ext uri="{FF2B5EF4-FFF2-40B4-BE49-F238E27FC236}">
                <a16:creationId xmlns:a16="http://schemas.microsoft.com/office/drawing/2014/main" id="{6E4C4831-273F-BA40-E867-DAABAC3FF651}"/>
              </a:ext>
            </a:extLst>
          </p:cNvPr>
          <p:cNvSpPr>
            <a:spLocks noGrp="1"/>
          </p:cNvSpPr>
          <p:nvPr>
            <p:ph idx="1"/>
          </p:nvPr>
        </p:nvSpPr>
        <p:spPr/>
        <p:txBody>
          <a:bodyPr/>
          <a:lstStyle/>
          <a:p>
            <a:r>
              <a:rPr lang="en-US" altLang="ko-KR" dirty="0"/>
              <a:t>Applying Blockchain technology to SCM can results in tremendous benefits, including</a:t>
            </a:r>
          </a:p>
          <a:p>
            <a:r>
              <a:rPr lang="en-US" altLang="ko-KR" dirty="0"/>
              <a:t>Less Time Delays </a:t>
            </a:r>
          </a:p>
          <a:p>
            <a:r>
              <a:rPr lang="en-US" altLang="ko-KR" dirty="0"/>
              <a:t>Less Human Error </a:t>
            </a:r>
          </a:p>
          <a:p>
            <a:r>
              <a:rPr lang="en-US" altLang="ko-KR" dirty="0"/>
              <a:t>Less Costs</a:t>
            </a:r>
            <a:endParaRPr lang="ko-KR" altLang="en-US" dirty="0"/>
          </a:p>
        </p:txBody>
      </p:sp>
    </p:spTree>
    <p:extLst>
      <p:ext uri="{BB962C8B-B14F-4D97-AF65-F5344CB8AC3E}">
        <p14:creationId xmlns:p14="http://schemas.microsoft.com/office/powerpoint/2010/main" val="739137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213</TotalTime>
  <Words>3200</Words>
  <Application>Microsoft Office PowerPoint</Application>
  <PresentationFormat>Widescreen</PresentationFormat>
  <Paragraphs>278</Paragraphs>
  <Slides>50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맑은 고딕</vt:lpstr>
      <vt:lpstr>Arial</vt:lpstr>
      <vt:lpstr>Office Theme</vt:lpstr>
      <vt:lpstr>Week 4</vt:lpstr>
      <vt:lpstr>Blockchain two fundamental categories</vt:lpstr>
      <vt:lpstr>Record keeping</vt:lpstr>
      <vt:lpstr>Crypto / Blockchain example</vt:lpstr>
      <vt:lpstr>Transactions</vt:lpstr>
      <vt:lpstr>Crypto / Blockchain examples</vt:lpstr>
      <vt:lpstr>Comparison </vt:lpstr>
      <vt:lpstr>How Record Keeping + Transactions work together in Blockchain </vt:lpstr>
      <vt:lpstr>Blockchain in Advertising</vt:lpstr>
      <vt:lpstr>Main idea</vt:lpstr>
      <vt:lpstr>What is Proof of View (PoV)? </vt:lpstr>
      <vt:lpstr>Daily life example</vt:lpstr>
      <vt:lpstr>Crypto / Blockchain example </vt:lpstr>
      <vt:lpstr>Applications 1: Verifying the Authenticity of Returned Drugs</vt:lpstr>
      <vt:lpstr>PowerPoint Presentation</vt:lpstr>
      <vt:lpstr>Applications 2: Transparency and traceability of consent in Clinical Trials</vt:lpstr>
      <vt:lpstr>PowerPoint Presentation</vt:lpstr>
      <vt:lpstr>Applications 3: Insurance </vt:lpstr>
      <vt:lpstr>PowerPoint Presentation</vt:lpstr>
      <vt:lpstr>Daily Life Example 1</vt:lpstr>
      <vt:lpstr>Daily Life Example 2</vt:lpstr>
      <vt:lpstr>Crypto / Blockchain Example </vt:lpstr>
      <vt:lpstr>Smart Contract — Easy 5 Steps</vt:lpstr>
      <vt:lpstr>Application 4: Real Estate</vt:lpstr>
      <vt:lpstr>EXPLAINATION</vt:lpstr>
      <vt:lpstr>Daily Life Example</vt:lpstr>
      <vt:lpstr>Crypto / Blockchain Example</vt:lpstr>
      <vt:lpstr>TOkenization??</vt:lpstr>
      <vt:lpstr>Daily Life Example</vt:lpstr>
      <vt:lpstr>Crypto / Blockchain Example</vt:lpstr>
      <vt:lpstr>Why Tokenization is Useful</vt:lpstr>
      <vt:lpstr>PowerPoint Presentation</vt:lpstr>
      <vt:lpstr>Daily Life Example</vt:lpstr>
      <vt:lpstr>Application 5: Energy</vt:lpstr>
      <vt:lpstr>Daily Life Example</vt:lpstr>
      <vt:lpstr>Crypto / Blockchain Example</vt:lpstr>
      <vt:lpstr>Application 6: Record Management</vt:lpstr>
      <vt:lpstr>Daily Life Example</vt:lpstr>
      <vt:lpstr>Crowdfunding</vt:lpstr>
      <vt:lpstr>Blockchain and Crowdfunding</vt:lpstr>
      <vt:lpstr>PowerPoint Presentation</vt:lpstr>
      <vt:lpstr>Explanation</vt:lpstr>
      <vt:lpstr>Daily Life Example</vt:lpstr>
      <vt:lpstr>Crypto / Blockchain Example</vt:lpstr>
      <vt:lpstr>Blockchain Technology and Supply Chain Management</vt:lpstr>
      <vt:lpstr>Blockchain and SCM (continue)</vt:lpstr>
      <vt:lpstr>PowerPoint Presentation</vt:lpstr>
      <vt:lpstr>Traceability, and Transparency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Faheem Khan</dc:creator>
  <cp:lastModifiedBy>KHAN FAHEEM</cp:lastModifiedBy>
  <cp:revision>3</cp:revision>
  <dcterms:created xsi:type="dcterms:W3CDTF">2026-02-16T07:32:15Z</dcterms:created>
  <dcterms:modified xsi:type="dcterms:W3CDTF">2026-03-26T03:20:17Z</dcterms:modified>
</cp:coreProperties>
</file>