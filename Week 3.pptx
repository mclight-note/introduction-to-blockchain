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2" r:id="rId6"/>
    <p:sldId id="273" r:id="rId7"/>
    <p:sldId id="285" r:id="rId8"/>
    <p:sldId id="274" r:id="rId9"/>
    <p:sldId id="275" r:id="rId10"/>
    <p:sldId id="276" r:id="rId11"/>
    <p:sldId id="286" r:id="rId12"/>
    <p:sldId id="287" r:id="rId13"/>
    <p:sldId id="288" r:id="rId14"/>
    <p:sldId id="260" r:id="rId15"/>
    <p:sldId id="261" r:id="rId16"/>
    <p:sldId id="277" r:id="rId17"/>
    <p:sldId id="262" r:id="rId18"/>
    <p:sldId id="263" r:id="rId19"/>
    <p:sldId id="264" r:id="rId20"/>
    <p:sldId id="265" r:id="rId21"/>
    <p:sldId id="266" r:id="rId22"/>
    <p:sldId id="267" r:id="rId23"/>
    <p:sldId id="268" r:id="rId24"/>
    <p:sldId id="269" r:id="rId25"/>
    <p:sldId id="270" r:id="rId26"/>
    <p:sldId id="271" r:id="rId27"/>
    <p:sldId id="280" r:id="rId28"/>
    <p:sldId id="281" r:id="rId29"/>
    <p:sldId id="282" r:id="rId30"/>
    <p:sldId id="283" r:id="rId31"/>
    <p:sldId id="284" r:id="rId3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106" d="100"/>
          <a:sy n="106" d="100"/>
        </p:scale>
        <p:origin x="7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855D-D0CF-FDA6-50CA-3726F47C0763}"/>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Subtitle 2">
            <a:extLst>
              <a:ext uri="{FF2B5EF4-FFF2-40B4-BE49-F238E27FC236}">
                <a16:creationId xmlns:a16="http://schemas.microsoft.com/office/drawing/2014/main" id="{EE4900D1-8BA0-8BC5-2F5F-56B258987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Date Placeholder 3">
            <a:extLst>
              <a:ext uri="{FF2B5EF4-FFF2-40B4-BE49-F238E27FC236}">
                <a16:creationId xmlns:a16="http://schemas.microsoft.com/office/drawing/2014/main" id="{CEF66943-6F2F-662A-EA13-C7959FFFB6DB}"/>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9FC2B512-D945-AEAA-D1D6-0737E417E4A6}"/>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C13258C2-BDCC-A6F9-3624-728E1D416CDD}"/>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3775730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B9E2-E5B1-E4B8-EF5F-37C54FE3300F}"/>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B861A88D-63D0-BCE9-FFAE-D5FF0EAFCC7D}"/>
              </a:ext>
            </a:extLst>
          </p:cNvPr>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D97E1B73-C68B-2CB8-6221-8E6906CBD6FD}"/>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5377E97A-6B44-88B1-1A95-DC9CC6A96367}"/>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DF7A6802-CDD0-4855-930B-385158D69562}"/>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635124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8927-CD1E-7823-55BF-2792B66B6B65}"/>
              </a:ext>
            </a:extLst>
          </p:cNvPr>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84808DEF-A146-0B63-B71B-B9D983702D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ko-KR"/>
              <a:t>Click to edit Master text styles</a:t>
            </a:r>
          </a:p>
        </p:txBody>
      </p:sp>
      <p:sp>
        <p:nvSpPr>
          <p:cNvPr id="4" name="Date Placeholder 3">
            <a:extLst>
              <a:ext uri="{FF2B5EF4-FFF2-40B4-BE49-F238E27FC236}">
                <a16:creationId xmlns:a16="http://schemas.microsoft.com/office/drawing/2014/main" id="{6AF05CD3-96C6-3119-B8D5-946E126F75BA}"/>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B64D633E-1ACA-67AD-BFE3-07B1318F4678}"/>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B0856371-B392-2FD7-28EC-BD7FA9FE632E}"/>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42253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14AB-F1F7-60EF-C03F-913DC3FEA6FC}"/>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72458FB4-9B0F-A556-0757-A6970596919F}"/>
              </a:ext>
            </a:extLst>
          </p:cNvPr>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Content Placeholder 3">
            <a:extLst>
              <a:ext uri="{FF2B5EF4-FFF2-40B4-BE49-F238E27FC236}">
                <a16:creationId xmlns:a16="http://schemas.microsoft.com/office/drawing/2014/main" id="{FDDA0920-1B7E-4177-8D88-F476932666E5}"/>
              </a:ext>
            </a:extLst>
          </p:cNvPr>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Date Placeholder 4">
            <a:extLst>
              <a:ext uri="{FF2B5EF4-FFF2-40B4-BE49-F238E27FC236}">
                <a16:creationId xmlns:a16="http://schemas.microsoft.com/office/drawing/2014/main" id="{C0686D84-3895-DC5B-6DDB-DF33D9D9496E}"/>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6" name="Footer Placeholder 5">
            <a:extLst>
              <a:ext uri="{FF2B5EF4-FFF2-40B4-BE49-F238E27FC236}">
                <a16:creationId xmlns:a16="http://schemas.microsoft.com/office/drawing/2014/main" id="{FB74E0A4-BC78-06FC-C166-28F700EBB0DB}"/>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066A0736-A94E-91AE-526B-2909898C39CB}"/>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167635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A9FC-392C-B1D6-0B14-46F551230B38}"/>
              </a:ext>
            </a:extLst>
          </p:cNvPr>
          <p:cNvSpPr>
            <a:spLocks noGrp="1"/>
          </p:cNvSpPr>
          <p:nvPr>
            <p:ph type="title"/>
          </p:nvPr>
        </p:nvSpPr>
        <p:spPr>
          <a:xfrm>
            <a:off x="839788" y="365125"/>
            <a:ext cx="10515600" cy="1325563"/>
          </a:xfrm>
        </p:spPr>
        <p:txBody>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EC08FA1E-3295-D7B0-63F5-3D77E1CCA0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a:extLst>
              <a:ext uri="{FF2B5EF4-FFF2-40B4-BE49-F238E27FC236}">
                <a16:creationId xmlns:a16="http://schemas.microsoft.com/office/drawing/2014/main" id="{AEDBAE89-E4B5-613C-89EF-40AE79540479}"/>
              </a:ext>
            </a:extLst>
          </p:cNvPr>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Text Placeholder 4">
            <a:extLst>
              <a:ext uri="{FF2B5EF4-FFF2-40B4-BE49-F238E27FC236}">
                <a16:creationId xmlns:a16="http://schemas.microsoft.com/office/drawing/2014/main" id="{742F4801-299F-FEAF-7DD1-3630A2E5C1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a:extLst>
              <a:ext uri="{FF2B5EF4-FFF2-40B4-BE49-F238E27FC236}">
                <a16:creationId xmlns:a16="http://schemas.microsoft.com/office/drawing/2014/main" id="{EE99C934-BE72-6FA0-819D-4EB31A07A004}"/>
              </a:ext>
            </a:extLst>
          </p:cNvPr>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7" name="Date Placeholder 6">
            <a:extLst>
              <a:ext uri="{FF2B5EF4-FFF2-40B4-BE49-F238E27FC236}">
                <a16:creationId xmlns:a16="http://schemas.microsoft.com/office/drawing/2014/main" id="{51115760-471C-5F84-A6B1-84DE320535C7}"/>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8" name="Footer Placeholder 7">
            <a:extLst>
              <a:ext uri="{FF2B5EF4-FFF2-40B4-BE49-F238E27FC236}">
                <a16:creationId xmlns:a16="http://schemas.microsoft.com/office/drawing/2014/main" id="{DCE62F80-B0BD-FD65-B155-1994EC42943F}"/>
              </a:ext>
            </a:extLst>
          </p:cNvPr>
          <p:cNvSpPr>
            <a:spLocks noGrp="1"/>
          </p:cNvSpPr>
          <p:nvPr>
            <p:ph type="ftr" sz="quarter" idx="11"/>
          </p:nvPr>
        </p:nvSpPr>
        <p:spPr/>
        <p:txBody>
          <a:bodyPr/>
          <a:lstStyle/>
          <a:p>
            <a:endParaRPr lang="ko-KR" altLang="en-US"/>
          </a:p>
        </p:txBody>
      </p:sp>
      <p:sp>
        <p:nvSpPr>
          <p:cNvPr id="9" name="Slide Number Placeholder 8">
            <a:extLst>
              <a:ext uri="{FF2B5EF4-FFF2-40B4-BE49-F238E27FC236}">
                <a16:creationId xmlns:a16="http://schemas.microsoft.com/office/drawing/2014/main" id="{C273C837-61CF-114D-8E7C-E5446AB41582}"/>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200572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C2275-B897-D9A1-3C44-0D392FB4C91F}"/>
              </a:ext>
            </a:extLst>
          </p:cNvPr>
          <p:cNvSpPr>
            <a:spLocks noGrp="1"/>
          </p:cNvSpPr>
          <p:nvPr>
            <p:ph type="title"/>
          </p:nvPr>
        </p:nvSpPr>
        <p:spPr/>
        <p:txBody>
          <a:bodyPr/>
          <a:lstStyle/>
          <a:p>
            <a:r>
              <a:rPr lang="en-US" altLang="ko-KR"/>
              <a:t>Click to edit Master title style</a:t>
            </a:r>
            <a:endParaRPr lang="ko-KR" altLang="en-US"/>
          </a:p>
        </p:txBody>
      </p:sp>
      <p:sp>
        <p:nvSpPr>
          <p:cNvPr id="3" name="Date Placeholder 2">
            <a:extLst>
              <a:ext uri="{FF2B5EF4-FFF2-40B4-BE49-F238E27FC236}">
                <a16:creationId xmlns:a16="http://schemas.microsoft.com/office/drawing/2014/main" id="{78FB9554-AC07-453A-1FBF-B2F4610C2DCF}"/>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4" name="Footer Placeholder 3">
            <a:extLst>
              <a:ext uri="{FF2B5EF4-FFF2-40B4-BE49-F238E27FC236}">
                <a16:creationId xmlns:a16="http://schemas.microsoft.com/office/drawing/2014/main" id="{755DF175-FC36-93CD-F5B0-8B87D2FB333A}"/>
              </a:ext>
            </a:extLst>
          </p:cNvPr>
          <p:cNvSpPr>
            <a:spLocks noGrp="1"/>
          </p:cNvSpPr>
          <p:nvPr>
            <p:ph type="ftr" sz="quarter" idx="11"/>
          </p:nvPr>
        </p:nvSpPr>
        <p:spPr/>
        <p:txBody>
          <a:bodyPr/>
          <a:lstStyle/>
          <a:p>
            <a:endParaRPr lang="ko-KR" altLang="en-US"/>
          </a:p>
        </p:txBody>
      </p:sp>
      <p:sp>
        <p:nvSpPr>
          <p:cNvPr id="5" name="Slide Number Placeholder 4">
            <a:extLst>
              <a:ext uri="{FF2B5EF4-FFF2-40B4-BE49-F238E27FC236}">
                <a16:creationId xmlns:a16="http://schemas.microsoft.com/office/drawing/2014/main" id="{845E9BCD-1690-D330-CCBE-360FF3C18F8A}"/>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3674125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47CC49-3CD7-77B7-A9F8-AA0687C87BD0}"/>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3" name="Footer Placeholder 2">
            <a:extLst>
              <a:ext uri="{FF2B5EF4-FFF2-40B4-BE49-F238E27FC236}">
                <a16:creationId xmlns:a16="http://schemas.microsoft.com/office/drawing/2014/main" id="{D2D3DF6A-BFE7-1C32-96B6-298F5FD31D98}"/>
              </a:ext>
            </a:extLst>
          </p:cNvPr>
          <p:cNvSpPr>
            <a:spLocks noGrp="1"/>
          </p:cNvSpPr>
          <p:nvPr>
            <p:ph type="ftr" sz="quarter" idx="11"/>
          </p:nvPr>
        </p:nvSpPr>
        <p:spPr/>
        <p:txBody>
          <a:bodyPr/>
          <a:lstStyle/>
          <a:p>
            <a:endParaRPr lang="ko-KR" altLang="en-US"/>
          </a:p>
        </p:txBody>
      </p:sp>
      <p:sp>
        <p:nvSpPr>
          <p:cNvPr id="4" name="Slide Number Placeholder 3">
            <a:extLst>
              <a:ext uri="{FF2B5EF4-FFF2-40B4-BE49-F238E27FC236}">
                <a16:creationId xmlns:a16="http://schemas.microsoft.com/office/drawing/2014/main" id="{19D1C579-5BA0-8420-0308-7E6384E666CB}"/>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60948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DC6E-B4E2-2FD9-0A80-AECBB6934323}"/>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8C423358-11AB-BB54-8F38-0B29B9E345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Text Placeholder 3">
            <a:extLst>
              <a:ext uri="{FF2B5EF4-FFF2-40B4-BE49-F238E27FC236}">
                <a16:creationId xmlns:a16="http://schemas.microsoft.com/office/drawing/2014/main" id="{2B5508A8-0DAC-C51E-B75C-D1C3CC286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86E7C082-2DF9-5356-E97D-CCA0168EB227}"/>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6" name="Footer Placeholder 5">
            <a:extLst>
              <a:ext uri="{FF2B5EF4-FFF2-40B4-BE49-F238E27FC236}">
                <a16:creationId xmlns:a16="http://schemas.microsoft.com/office/drawing/2014/main" id="{CC8D9B98-E3CC-F1E9-129F-FF89845D6E35}"/>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FC83E7C7-4EDE-6786-A61F-F9C3D3EBB9E4}"/>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387072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2459-63BA-FC1D-4E29-A7091FCEB743}"/>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Picture Placeholder 2">
            <a:extLst>
              <a:ext uri="{FF2B5EF4-FFF2-40B4-BE49-F238E27FC236}">
                <a16:creationId xmlns:a16="http://schemas.microsoft.com/office/drawing/2014/main" id="{3E706389-03EC-F8C6-6856-0C7155C6E1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Text Placeholder 3">
            <a:extLst>
              <a:ext uri="{FF2B5EF4-FFF2-40B4-BE49-F238E27FC236}">
                <a16:creationId xmlns:a16="http://schemas.microsoft.com/office/drawing/2014/main" id="{7A508705-6E2D-286D-464A-FF6A151645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1E0B6BD8-206F-5170-9ECE-B34C3464A10D}"/>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6" name="Footer Placeholder 5">
            <a:extLst>
              <a:ext uri="{FF2B5EF4-FFF2-40B4-BE49-F238E27FC236}">
                <a16:creationId xmlns:a16="http://schemas.microsoft.com/office/drawing/2014/main" id="{4E58F648-3556-9931-FD8E-B735758A5FEE}"/>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57565532-1193-1581-59C9-3B541874854F}"/>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3836802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2821-17EF-E5B9-6D2B-48EC4DCC8956}"/>
              </a:ext>
            </a:extLst>
          </p:cNvPr>
          <p:cNvSpPr>
            <a:spLocks noGrp="1"/>
          </p:cNvSpPr>
          <p:nvPr>
            <p:ph type="title"/>
          </p:nvPr>
        </p:nvSpPr>
        <p:spPr/>
        <p:txBody>
          <a:bodyPr/>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E84A313E-3364-D853-FB43-EFA8C54206F3}"/>
              </a:ext>
            </a:extLst>
          </p:cNvPr>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36721157-C5E7-042C-C1CB-A54734223224}"/>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543DF6AC-D57B-0751-3095-560317B4FC1E}"/>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0C658DE0-72FA-0F9E-D6B9-AD31AB5269B6}"/>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380012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B2165E-EA39-38BD-5CDC-C7546A786ED2}"/>
              </a:ext>
            </a:extLst>
          </p:cNvPr>
          <p:cNvSpPr>
            <a:spLocks noGrp="1"/>
          </p:cNvSpPr>
          <p:nvPr>
            <p:ph type="title" orient="vert"/>
          </p:nvPr>
        </p:nvSpPr>
        <p:spPr>
          <a:xfrm>
            <a:off x="8724900" y="365125"/>
            <a:ext cx="2628900" cy="5811838"/>
          </a:xfrm>
        </p:spPr>
        <p:txBody>
          <a:bodyPr vert="eaVert"/>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2DD09923-D6BC-49F0-51C0-4C573FD46937}"/>
              </a:ext>
            </a:extLst>
          </p:cNvPr>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BF3A7424-917D-6252-E362-246FA2CCC699}"/>
              </a:ext>
            </a:extLst>
          </p:cNvPr>
          <p:cNvSpPr>
            <a:spLocks noGrp="1"/>
          </p:cNvSpPr>
          <p:nvPr>
            <p:ph type="dt" sz="half" idx="10"/>
          </p:nvPr>
        </p:nvSpPr>
        <p:spPr/>
        <p:txBody>
          <a:body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109D7AE7-81FC-63B0-5F2F-09E871B304CD}"/>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FD3E549F-0B81-C626-5F3B-CD3180CB89DA}"/>
              </a:ext>
            </a:extLst>
          </p:cNvPr>
          <p:cNvSpPr>
            <a:spLocks noGrp="1"/>
          </p:cNvSpPr>
          <p:nvPr>
            <p:ph type="sldNum" sz="quarter" idx="12"/>
          </p:nvPr>
        </p:nvSpPr>
        <p:spPr/>
        <p:txBody>
          <a:body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3924882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FBA92-D159-0310-3AB9-B482275E3B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96044B2D-55D7-B7BE-53DE-4BFE9E82F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7561E395-E37A-F193-030A-BE0E077C4B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0624BC-D021-4285-A6B7-043EA28578DC}" type="datetimeFigureOut">
              <a:rPr lang="ko-KR" altLang="en-US" smtClean="0"/>
              <a:t>2026-03-19</a:t>
            </a:fld>
            <a:endParaRPr lang="ko-KR" altLang="en-US"/>
          </a:p>
        </p:txBody>
      </p:sp>
      <p:sp>
        <p:nvSpPr>
          <p:cNvPr id="5" name="Footer Placeholder 4">
            <a:extLst>
              <a:ext uri="{FF2B5EF4-FFF2-40B4-BE49-F238E27FC236}">
                <a16:creationId xmlns:a16="http://schemas.microsoft.com/office/drawing/2014/main" id="{6DAFD6BC-380F-D22C-107A-FB0ABE19B0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a:extLst>
              <a:ext uri="{FF2B5EF4-FFF2-40B4-BE49-F238E27FC236}">
                <a16:creationId xmlns:a16="http://schemas.microsoft.com/office/drawing/2014/main" id="{2DDE0EAF-5BF7-BBF1-A203-CE4ACE5E15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084C5E-6967-4ED2-A740-C513B7F21163}" type="slidenum">
              <a:rPr lang="ko-KR" altLang="en-US" smtClean="0"/>
              <a:t>‹#›</a:t>
            </a:fld>
            <a:endParaRPr lang="ko-KR" altLang="en-US"/>
          </a:p>
        </p:txBody>
      </p:sp>
    </p:spTree>
    <p:extLst>
      <p:ext uri="{BB962C8B-B14F-4D97-AF65-F5344CB8AC3E}">
        <p14:creationId xmlns:p14="http://schemas.microsoft.com/office/powerpoint/2010/main" val="2966521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mrtSAgcpack" TargetMode="External"/><Relationship Id="rId2" Type="http://schemas.openxmlformats.org/officeDocument/2006/relationships/hyperlink" Target="https://www.youtube.com/watch?v=lHipE05v4j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E9D8-0258-4145-F8EB-F65BDC9A6E18}"/>
              </a:ext>
            </a:extLst>
          </p:cNvPr>
          <p:cNvSpPr>
            <a:spLocks noGrp="1"/>
          </p:cNvSpPr>
          <p:nvPr>
            <p:ph type="ctrTitle"/>
          </p:nvPr>
        </p:nvSpPr>
        <p:spPr/>
        <p:txBody>
          <a:bodyPr/>
          <a:lstStyle/>
          <a:p>
            <a:r>
              <a:rPr lang="en-US" altLang="ko-KR"/>
              <a:t>Week 3</a:t>
            </a:r>
            <a:endParaRPr lang="ko-KR" altLang="en-US"/>
          </a:p>
        </p:txBody>
      </p:sp>
      <p:sp>
        <p:nvSpPr>
          <p:cNvPr id="3" name="Subtitle 2">
            <a:extLst>
              <a:ext uri="{FF2B5EF4-FFF2-40B4-BE49-F238E27FC236}">
                <a16:creationId xmlns:a16="http://schemas.microsoft.com/office/drawing/2014/main" id="{8270BA99-F4B4-1A7C-555E-4C7CB9803B0F}"/>
              </a:ext>
            </a:extLst>
          </p:cNvPr>
          <p:cNvSpPr>
            <a:spLocks noGrp="1"/>
          </p:cNvSpPr>
          <p:nvPr>
            <p:ph type="subTitle" idx="1"/>
          </p:nvPr>
        </p:nvSpPr>
        <p:spPr>
          <a:xfrm>
            <a:off x="1524000" y="4448200"/>
            <a:ext cx="9144000" cy="1655762"/>
          </a:xfrm>
        </p:spPr>
        <p:txBody>
          <a:bodyPr/>
          <a:lstStyle/>
          <a:p>
            <a:r>
              <a:rPr lang="en-US" altLang="ko-KR" b="1" dirty="0"/>
              <a:t>Consensus Protocol</a:t>
            </a:r>
          </a:p>
          <a:p>
            <a:r>
              <a:rPr lang="en-US" altLang="ko-KR" b="1" dirty="0"/>
              <a:t>By </a:t>
            </a:r>
          </a:p>
          <a:p>
            <a:r>
              <a:rPr lang="en-US" altLang="ko-KR" b="1" dirty="0"/>
              <a:t>Dr. Faheem Khan</a:t>
            </a:r>
            <a:endParaRPr lang="ko-KR" altLang="en-US" b="1" dirty="0"/>
          </a:p>
          <a:p>
            <a:endParaRPr lang="ko-KR" altLang="en-US" dirty="0"/>
          </a:p>
        </p:txBody>
      </p:sp>
    </p:spTree>
    <p:extLst>
      <p:ext uri="{BB962C8B-B14F-4D97-AF65-F5344CB8AC3E}">
        <p14:creationId xmlns:p14="http://schemas.microsoft.com/office/powerpoint/2010/main" val="2922474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B320D-9219-6205-755B-7E2A07C1FD65}"/>
              </a:ext>
            </a:extLst>
          </p:cNvPr>
          <p:cNvSpPr>
            <a:spLocks noGrp="1"/>
          </p:cNvSpPr>
          <p:nvPr>
            <p:ph type="title"/>
          </p:nvPr>
        </p:nvSpPr>
        <p:spPr/>
        <p:txBody>
          <a:bodyPr/>
          <a:lstStyle/>
          <a:p>
            <a:r>
              <a:rPr lang="en-US" altLang="ko-KR" b="1" dirty="0"/>
              <a:t>Consensus Protocol</a:t>
            </a:r>
            <a:endParaRPr lang="ko-KR" altLang="en-US" dirty="0"/>
          </a:p>
        </p:txBody>
      </p:sp>
      <p:sp>
        <p:nvSpPr>
          <p:cNvPr id="3" name="Content Placeholder 2">
            <a:extLst>
              <a:ext uri="{FF2B5EF4-FFF2-40B4-BE49-F238E27FC236}">
                <a16:creationId xmlns:a16="http://schemas.microsoft.com/office/drawing/2014/main" id="{227CB83A-0A9D-399C-D610-58D40572956E}"/>
              </a:ext>
            </a:extLst>
          </p:cNvPr>
          <p:cNvSpPr>
            <a:spLocks noGrp="1"/>
          </p:cNvSpPr>
          <p:nvPr>
            <p:ph idx="1"/>
          </p:nvPr>
        </p:nvSpPr>
        <p:spPr/>
        <p:txBody>
          <a:bodyPr/>
          <a:lstStyle/>
          <a:p>
            <a:r>
              <a:rPr lang="en-US" altLang="ko-KR" dirty="0"/>
              <a:t>A consensus protocol may be defined as the mechanism through which a Blockchain network reaches consensus. Blockchains are built as distributed systems and, since they do not rely on a central authority, the distributed nodes need to agree on the validity of transactions. </a:t>
            </a:r>
          </a:p>
          <a:p>
            <a:r>
              <a:rPr lang="en-US" altLang="ko-KR" dirty="0"/>
              <a:t>This is where consensus protocols come into play. They assure that the protocol rules are being followed and guarantee that all transactions occur in a trustless way.</a:t>
            </a:r>
            <a:endParaRPr lang="ko-KR" altLang="en-US" dirty="0"/>
          </a:p>
        </p:txBody>
      </p:sp>
    </p:spTree>
    <p:extLst>
      <p:ext uri="{BB962C8B-B14F-4D97-AF65-F5344CB8AC3E}">
        <p14:creationId xmlns:p14="http://schemas.microsoft.com/office/powerpoint/2010/main" val="2687859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2669F-3C6B-AD21-2124-9FF08B5210B0}"/>
              </a:ext>
            </a:extLst>
          </p:cNvPr>
          <p:cNvSpPr>
            <a:spLocks noGrp="1"/>
          </p:cNvSpPr>
          <p:nvPr>
            <p:ph type="title"/>
          </p:nvPr>
        </p:nvSpPr>
        <p:spPr/>
        <p:txBody>
          <a:bodyPr/>
          <a:lstStyle/>
          <a:p>
            <a:r>
              <a:rPr lang="en-US" altLang="ko-KR" dirty="0"/>
              <a:t>Types of Consensus Algorithms </a:t>
            </a:r>
            <a:endParaRPr lang="ko-KR" altLang="en-US" dirty="0"/>
          </a:p>
        </p:txBody>
      </p:sp>
      <p:sp>
        <p:nvSpPr>
          <p:cNvPr id="3" name="Content Placeholder 2">
            <a:extLst>
              <a:ext uri="{FF2B5EF4-FFF2-40B4-BE49-F238E27FC236}">
                <a16:creationId xmlns:a16="http://schemas.microsoft.com/office/drawing/2014/main" id="{7064BC23-CC0F-BC09-DD61-EA68B588D572}"/>
              </a:ext>
            </a:extLst>
          </p:cNvPr>
          <p:cNvSpPr>
            <a:spLocks noGrp="1"/>
          </p:cNvSpPr>
          <p:nvPr>
            <p:ph idx="1"/>
          </p:nvPr>
        </p:nvSpPr>
        <p:spPr/>
        <p:txBody>
          <a:bodyPr/>
          <a:lstStyle/>
          <a:p>
            <a:r>
              <a:rPr lang="en-US" altLang="ko-KR" dirty="0"/>
              <a:t>Below is a list of consensus algorithms, there are many other algorithms or protocols beside the ones listed here depending on the specific application and use case of Blockchain. Proof of X, where “X” can be any requirements, is the most exciting field of research for students and researches where creativity plays a major part in creating new consensus algorithms. </a:t>
            </a:r>
            <a:endParaRPr lang="ko-KR" altLang="en-US" dirty="0"/>
          </a:p>
        </p:txBody>
      </p:sp>
    </p:spTree>
    <p:extLst>
      <p:ext uri="{BB962C8B-B14F-4D97-AF65-F5344CB8AC3E}">
        <p14:creationId xmlns:p14="http://schemas.microsoft.com/office/powerpoint/2010/main" val="1975368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7B59-9438-7E2D-5976-9624B18D3DB9}"/>
              </a:ext>
            </a:extLst>
          </p:cNvPr>
          <p:cNvSpPr>
            <a:spLocks noGrp="1"/>
          </p:cNvSpPr>
          <p:nvPr>
            <p:ph type="title"/>
          </p:nvPr>
        </p:nvSpPr>
        <p:spPr/>
        <p:txBody>
          <a:bodyPr/>
          <a:lstStyle/>
          <a:p>
            <a:r>
              <a:rPr lang="en-US" altLang="ko-KR" dirty="0"/>
              <a:t>Types of Consensus Algorithms </a:t>
            </a:r>
            <a:endParaRPr lang="ko-KR" altLang="en-US" dirty="0"/>
          </a:p>
        </p:txBody>
      </p:sp>
      <p:sp>
        <p:nvSpPr>
          <p:cNvPr id="3" name="Content Placeholder 2">
            <a:extLst>
              <a:ext uri="{FF2B5EF4-FFF2-40B4-BE49-F238E27FC236}">
                <a16:creationId xmlns:a16="http://schemas.microsoft.com/office/drawing/2014/main" id="{7DC3B55F-806B-0ED0-98D5-3A03A780F617}"/>
              </a:ext>
            </a:extLst>
          </p:cNvPr>
          <p:cNvSpPr>
            <a:spLocks noGrp="1"/>
          </p:cNvSpPr>
          <p:nvPr>
            <p:ph idx="1"/>
          </p:nvPr>
        </p:nvSpPr>
        <p:spPr/>
        <p:txBody>
          <a:bodyPr>
            <a:normAutofit fontScale="77500" lnSpcReduction="20000"/>
          </a:bodyPr>
          <a:lstStyle/>
          <a:p>
            <a:pPr marL="514350" indent="-514350">
              <a:buAutoNum type="arabicPeriod"/>
            </a:pPr>
            <a:r>
              <a:rPr lang="en-US" altLang="ko-KR" dirty="0"/>
              <a:t>Proof of Work (POW)</a:t>
            </a:r>
          </a:p>
          <a:p>
            <a:pPr marL="514350" indent="-514350">
              <a:buAutoNum type="arabicPeriod"/>
            </a:pPr>
            <a:r>
              <a:rPr lang="en-US" altLang="ko-KR" dirty="0"/>
              <a:t>Proof of Stake (POS)</a:t>
            </a:r>
          </a:p>
          <a:p>
            <a:pPr marL="514350" indent="-514350">
              <a:buAutoNum type="arabicPeriod"/>
            </a:pPr>
            <a:r>
              <a:rPr lang="en-US" altLang="ko-KR" dirty="0"/>
              <a:t>Delegated Proof of Stake (</a:t>
            </a:r>
            <a:r>
              <a:rPr lang="en-US" altLang="ko-KR" dirty="0" err="1"/>
              <a:t>DPoS</a:t>
            </a:r>
            <a:r>
              <a:rPr lang="en-US" altLang="ko-KR" dirty="0"/>
              <a:t>)</a:t>
            </a:r>
          </a:p>
          <a:p>
            <a:pPr marL="514350" indent="-514350">
              <a:buAutoNum type="arabicPeriod"/>
            </a:pPr>
            <a:r>
              <a:rPr lang="en-US" altLang="ko-KR" dirty="0"/>
              <a:t>Proof of Authority (</a:t>
            </a:r>
            <a:r>
              <a:rPr lang="en-US" altLang="ko-KR" dirty="0" err="1"/>
              <a:t>PoA</a:t>
            </a:r>
            <a:r>
              <a:rPr lang="en-US" altLang="ko-KR" dirty="0"/>
              <a:t>)</a:t>
            </a:r>
          </a:p>
          <a:p>
            <a:pPr marL="514350" indent="-514350">
              <a:buAutoNum type="arabicPeriod"/>
            </a:pPr>
            <a:r>
              <a:rPr lang="en-US" altLang="ko-KR" dirty="0"/>
              <a:t>Proof of Assignment (</a:t>
            </a:r>
            <a:r>
              <a:rPr lang="en-US" altLang="ko-KR" dirty="0" err="1"/>
              <a:t>PoA</a:t>
            </a:r>
            <a:r>
              <a:rPr lang="en-US" altLang="ko-KR" dirty="0"/>
              <a:t>)</a:t>
            </a:r>
          </a:p>
          <a:p>
            <a:pPr marL="514350" indent="-514350">
              <a:buAutoNum type="arabicPeriod"/>
            </a:pPr>
            <a:r>
              <a:rPr lang="en-US" altLang="ko-KR" dirty="0"/>
              <a:t>Byzantine Fault Tolerance (BFT)</a:t>
            </a:r>
          </a:p>
          <a:p>
            <a:pPr marL="514350" indent="-514350">
              <a:buAutoNum type="arabicPeriod"/>
            </a:pPr>
            <a:r>
              <a:rPr lang="en-US" altLang="ko-KR" dirty="0"/>
              <a:t>Leased Proof of Stake (</a:t>
            </a:r>
            <a:r>
              <a:rPr lang="en-US" altLang="ko-KR" dirty="0" err="1"/>
              <a:t>LPoS</a:t>
            </a:r>
            <a:r>
              <a:rPr lang="en-US" altLang="ko-KR" dirty="0"/>
              <a:t>)</a:t>
            </a:r>
          </a:p>
          <a:p>
            <a:pPr marL="514350" indent="-514350">
              <a:buAutoNum type="arabicPeriod"/>
            </a:pPr>
            <a:r>
              <a:rPr lang="en-US" altLang="ko-KR" dirty="0"/>
              <a:t>Proof of Elapsed Time (</a:t>
            </a:r>
            <a:r>
              <a:rPr lang="en-US" altLang="ko-KR" dirty="0" err="1"/>
              <a:t>PoET</a:t>
            </a:r>
            <a:r>
              <a:rPr lang="en-US" altLang="ko-KR" dirty="0"/>
              <a:t>)</a:t>
            </a:r>
          </a:p>
          <a:p>
            <a:pPr marL="514350" indent="-514350">
              <a:buAutoNum type="arabicPeriod"/>
            </a:pPr>
            <a:r>
              <a:rPr lang="en-US" altLang="ko-KR" dirty="0"/>
              <a:t>Proof of Activity (</a:t>
            </a:r>
            <a:r>
              <a:rPr lang="en-US" altLang="ko-KR" dirty="0" err="1"/>
              <a:t>PoA</a:t>
            </a:r>
            <a:r>
              <a:rPr lang="en-US" altLang="ko-KR" dirty="0"/>
              <a:t>)</a:t>
            </a:r>
          </a:p>
          <a:p>
            <a:pPr marL="514350" indent="-514350">
              <a:buAutoNum type="arabicPeriod"/>
            </a:pPr>
            <a:r>
              <a:rPr lang="en-US" altLang="ko-KR" dirty="0"/>
              <a:t>Proof of Importance (</a:t>
            </a:r>
            <a:r>
              <a:rPr lang="en-US" altLang="ko-KR" dirty="0" err="1"/>
              <a:t>PoI</a:t>
            </a:r>
            <a:r>
              <a:rPr lang="en-US" altLang="ko-KR" dirty="0"/>
              <a:t>)</a:t>
            </a:r>
          </a:p>
          <a:p>
            <a:pPr marL="514350" indent="-514350">
              <a:buAutoNum type="arabicPeriod"/>
            </a:pPr>
            <a:r>
              <a:rPr lang="en-US" altLang="ko-KR" dirty="0"/>
              <a:t>Proof of Capacity (PoC)</a:t>
            </a:r>
          </a:p>
          <a:p>
            <a:pPr marL="514350" indent="-514350">
              <a:buAutoNum type="arabicPeriod"/>
            </a:pPr>
            <a:r>
              <a:rPr lang="en-US" altLang="ko-KR" dirty="0"/>
              <a:t>Proof of Burn (</a:t>
            </a:r>
            <a:r>
              <a:rPr lang="en-US" altLang="ko-KR" dirty="0" err="1"/>
              <a:t>PoB</a:t>
            </a:r>
            <a:r>
              <a:rPr lang="en-US" altLang="ko-KR" dirty="0"/>
              <a:t>)</a:t>
            </a:r>
            <a:endParaRPr lang="ko-KR" altLang="en-US" dirty="0"/>
          </a:p>
        </p:txBody>
      </p:sp>
    </p:spTree>
    <p:extLst>
      <p:ext uri="{BB962C8B-B14F-4D97-AF65-F5344CB8AC3E}">
        <p14:creationId xmlns:p14="http://schemas.microsoft.com/office/powerpoint/2010/main" val="445583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DA120-EE34-463E-0889-39764B42ED07}"/>
              </a:ext>
            </a:extLst>
          </p:cNvPr>
          <p:cNvSpPr>
            <a:spLocks noGrp="1"/>
          </p:cNvSpPr>
          <p:nvPr>
            <p:ph type="title"/>
          </p:nvPr>
        </p:nvSpPr>
        <p:spPr/>
        <p:txBody>
          <a:bodyPr/>
          <a:lstStyle/>
          <a:p>
            <a:r>
              <a:rPr lang="en-US" altLang="ko-KR" dirty="0"/>
              <a:t>1. Proof of Work </a:t>
            </a:r>
            <a:endParaRPr lang="ko-KR" altLang="en-US" dirty="0"/>
          </a:p>
        </p:txBody>
      </p:sp>
      <p:sp>
        <p:nvSpPr>
          <p:cNvPr id="3" name="Content Placeholder 2">
            <a:extLst>
              <a:ext uri="{FF2B5EF4-FFF2-40B4-BE49-F238E27FC236}">
                <a16:creationId xmlns:a16="http://schemas.microsoft.com/office/drawing/2014/main" id="{6869B06E-4EA1-7232-A3E4-035BE05F77C5}"/>
              </a:ext>
            </a:extLst>
          </p:cNvPr>
          <p:cNvSpPr>
            <a:spLocks noGrp="1"/>
          </p:cNvSpPr>
          <p:nvPr>
            <p:ph idx="1"/>
          </p:nvPr>
        </p:nvSpPr>
        <p:spPr/>
        <p:txBody>
          <a:bodyPr>
            <a:normAutofit lnSpcReduction="10000"/>
          </a:bodyPr>
          <a:lstStyle/>
          <a:p>
            <a:pPr marL="0" indent="0">
              <a:buNone/>
            </a:pPr>
            <a:r>
              <a:rPr lang="en-US" altLang="ko-KR" dirty="0"/>
              <a:t>Most cryptocurrencies including Bitcoin run on “proof of work”. Proof of work as a process has the following steps to it: </a:t>
            </a:r>
          </a:p>
          <a:p>
            <a:pPr marL="0" indent="0">
              <a:buNone/>
            </a:pPr>
            <a:r>
              <a:rPr lang="en-US" altLang="ko-KR" dirty="0"/>
              <a:t>• The miners solve cryptographic puzzles to “mine” a block to add to the Blockchain. </a:t>
            </a:r>
          </a:p>
          <a:p>
            <a:pPr marL="0" indent="0">
              <a:buNone/>
            </a:pPr>
            <a:r>
              <a:rPr lang="en-US" altLang="ko-KR" dirty="0"/>
              <a:t>• This process requires an immense amount of energy and computational usage. </a:t>
            </a:r>
          </a:p>
          <a:p>
            <a:pPr marL="0" indent="0">
              <a:buNone/>
            </a:pPr>
            <a:r>
              <a:rPr lang="en-US" altLang="ko-KR" dirty="0"/>
              <a:t>• The puzzles have been designed in a way that makes it hard and taxing on the system. </a:t>
            </a:r>
          </a:p>
          <a:p>
            <a:pPr marL="0" indent="0">
              <a:buNone/>
            </a:pPr>
            <a:r>
              <a:rPr lang="en-US" altLang="ko-KR" dirty="0"/>
              <a:t>• When a miner solves the puzzle, they present their block to the network for verification</a:t>
            </a:r>
            <a:endParaRPr lang="ko-KR" altLang="en-US" dirty="0"/>
          </a:p>
        </p:txBody>
      </p:sp>
    </p:spTree>
    <p:extLst>
      <p:ext uri="{BB962C8B-B14F-4D97-AF65-F5344CB8AC3E}">
        <p14:creationId xmlns:p14="http://schemas.microsoft.com/office/powerpoint/2010/main" val="3317243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649F-EB7F-6F8E-53CA-C35DE5641B20}"/>
              </a:ext>
            </a:extLst>
          </p:cNvPr>
          <p:cNvSpPr>
            <a:spLocks noGrp="1"/>
          </p:cNvSpPr>
          <p:nvPr>
            <p:ph type="title"/>
          </p:nvPr>
        </p:nvSpPr>
        <p:spPr/>
        <p:txBody>
          <a:bodyPr/>
          <a:lstStyle/>
          <a:p>
            <a:r>
              <a:rPr lang="en-US" altLang="ko-KR" dirty="0"/>
              <a:t>Continue</a:t>
            </a:r>
            <a:endParaRPr lang="ko-KR" altLang="en-US" dirty="0"/>
          </a:p>
        </p:txBody>
      </p:sp>
      <p:sp>
        <p:nvSpPr>
          <p:cNvPr id="3" name="Content Placeholder 2">
            <a:extLst>
              <a:ext uri="{FF2B5EF4-FFF2-40B4-BE49-F238E27FC236}">
                <a16:creationId xmlns:a16="http://schemas.microsoft.com/office/drawing/2014/main" id="{E6090DA0-D055-54E5-536B-AFDB4E7C3EB7}"/>
              </a:ext>
            </a:extLst>
          </p:cNvPr>
          <p:cNvSpPr>
            <a:spLocks noGrp="1"/>
          </p:cNvSpPr>
          <p:nvPr>
            <p:ph idx="1"/>
          </p:nvPr>
        </p:nvSpPr>
        <p:spPr/>
        <p:txBody>
          <a:bodyPr>
            <a:normAutofit fontScale="92500" lnSpcReduction="20000"/>
          </a:bodyPr>
          <a:lstStyle/>
          <a:p>
            <a:r>
              <a:rPr lang="en-US" altLang="ko-KR" dirty="0"/>
              <a:t>Mining serves as two purposes: </a:t>
            </a:r>
          </a:p>
          <a:p>
            <a:pPr marL="514350" indent="-514350">
              <a:buAutoNum type="arabicPeriod"/>
            </a:pPr>
            <a:r>
              <a:rPr lang="en-US" altLang="ko-KR" dirty="0"/>
              <a:t>To verify the legitimacy of a transaction, or avoiding the so called double-spending; </a:t>
            </a:r>
          </a:p>
          <a:p>
            <a:pPr marL="514350" indent="-514350">
              <a:buAutoNum type="arabicPeriod"/>
            </a:pPr>
            <a:r>
              <a:rPr lang="en-US" altLang="ko-KR" dirty="0"/>
              <a:t>To create new digital currencies by rewarding miners for per forming the previous task. </a:t>
            </a:r>
          </a:p>
          <a:p>
            <a:r>
              <a:rPr lang="en-US" dirty="0"/>
              <a:t>Transactions are collected</a:t>
            </a:r>
          </a:p>
          <a:p>
            <a:r>
              <a:rPr lang="en-US" dirty="0"/>
              <a:t>Miners compete to solve a puzzle</a:t>
            </a:r>
          </a:p>
          <a:p>
            <a:r>
              <a:rPr lang="en-US" dirty="0"/>
              <a:t>First miner to solve it → adds block</a:t>
            </a:r>
          </a:p>
          <a:p>
            <a:r>
              <a:rPr lang="en-US" dirty="0"/>
              <a:t>Other nodes verify</a:t>
            </a:r>
          </a:p>
          <a:p>
            <a:r>
              <a:rPr lang="en-US" dirty="0"/>
              <a:t>Miner gets reward (crypto coins)</a:t>
            </a:r>
          </a:p>
          <a:p>
            <a:r>
              <a:rPr lang="en-US" dirty="0"/>
              <a:t>This process is called </a:t>
            </a:r>
            <a:r>
              <a:rPr lang="en-US" b="1" dirty="0"/>
              <a:t>mining</a:t>
            </a:r>
            <a:endParaRPr lang="en-US" dirty="0"/>
          </a:p>
          <a:p>
            <a:pPr marL="514350" indent="-514350">
              <a:buAutoNum type="arabicPeriod"/>
            </a:pPr>
            <a:endParaRPr lang="ko-KR" altLang="en-US" dirty="0"/>
          </a:p>
        </p:txBody>
      </p:sp>
    </p:spTree>
    <p:extLst>
      <p:ext uri="{BB962C8B-B14F-4D97-AF65-F5344CB8AC3E}">
        <p14:creationId xmlns:p14="http://schemas.microsoft.com/office/powerpoint/2010/main" val="190444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D4D7-D343-BC94-30F1-BF3B036817CA}"/>
              </a:ext>
            </a:extLst>
          </p:cNvPr>
          <p:cNvSpPr>
            <a:spLocks noGrp="1"/>
          </p:cNvSpPr>
          <p:nvPr>
            <p:ph type="title"/>
          </p:nvPr>
        </p:nvSpPr>
        <p:spPr/>
        <p:txBody>
          <a:bodyPr/>
          <a:lstStyle/>
          <a:p>
            <a:r>
              <a:rPr lang="en-US" b="1" dirty="0"/>
              <a:t>Daily Life Example (Simple)</a:t>
            </a:r>
            <a:endParaRPr lang="en-US" dirty="0"/>
          </a:p>
        </p:txBody>
      </p:sp>
      <p:sp>
        <p:nvSpPr>
          <p:cNvPr id="3" name="Content Placeholder 2">
            <a:extLst>
              <a:ext uri="{FF2B5EF4-FFF2-40B4-BE49-F238E27FC236}">
                <a16:creationId xmlns:a16="http://schemas.microsoft.com/office/drawing/2014/main" id="{42C741B7-38AD-0ECB-4F5C-216D650BEEE4}"/>
              </a:ext>
            </a:extLst>
          </p:cNvPr>
          <p:cNvSpPr>
            <a:spLocks noGrp="1"/>
          </p:cNvSpPr>
          <p:nvPr>
            <p:ph idx="1"/>
          </p:nvPr>
        </p:nvSpPr>
        <p:spPr/>
        <p:txBody>
          <a:bodyPr/>
          <a:lstStyle/>
          <a:p>
            <a:r>
              <a:rPr lang="en-US" b="1" dirty="0"/>
              <a:t>🧠 Puzzle Competition</a:t>
            </a:r>
          </a:p>
          <a:p>
            <a:r>
              <a:rPr lang="en-US" dirty="0"/>
              <a:t>Imagine:</a:t>
            </a:r>
          </a:p>
          <a:p>
            <a:r>
              <a:rPr lang="en-US" dirty="0"/>
              <a:t>100 students solving a very hard math problem</a:t>
            </a:r>
          </a:p>
          <a:p>
            <a:r>
              <a:rPr lang="en-US" dirty="0"/>
              <a:t>Only the first one who solves it gets a prize</a:t>
            </a:r>
          </a:p>
          <a:p>
            <a:r>
              <a:rPr lang="en-US" dirty="0"/>
              <a:t>👉 Others verify the answer</a:t>
            </a:r>
            <a:br>
              <a:rPr lang="en-US" dirty="0"/>
            </a:br>
            <a:r>
              <a:rPr lang="en-US" dirty="0"/>
              <a:t>👉 Winner gets reward</a:t>
            </a:r>
          </a:p>
          <a:p>
            <a:r>
              <a:rPr lang="en-US" dirty="0"/>
              <a:t>This is exactly how PoW works in blockchain</a:t>
            </a:r>
          </a:p>
          <a:p>
            <a:endParaRPr lang="en-US" dirty="0"/>
          </a:p>
        </p:txBody>
      </p:sp>
    </p:spTree>
    <p:extLst>
      <p:ext uri="{BB962C8B-B14F-4D97-AF65-F5344CB8AC3E}">
        <p14:creationId xmlns:p14="http://schemas.microsoft.com/office/powerpoint/2010/main" val="3955806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3009B-395C-178E-4DB4-671FE23AD1CE}"/>
              </a:ext>
            </a:extLst>
          </p:cNvPr>
          <p:cNvSpPr>
            <a:spLocks noGrp="1"/>
          </p:cNvSpPr>
          <p:nvPr>
            <p:ph type="title"/>
          </p:nvPr>
        </p:nvSpPr>
        <p:spPr/>
        <p:txBody>
          <a:bodyPr/>
          <a:lstStyle/>
          <a:p>
            <a:r>
              <a:rPr lang="en-US" altLang="ko-KR" dirty="0"/>
              <a:t>Continue</a:t>
            </a:r>
            <a:endParaRPr lang="ko-KR" altLang="en-US" dirty="0"/>
          </a:p>
        </p:txBody>
      </p:sp>
      <p:sp>
        <p:nvSpPr>
          <p:cNvPr id="3" name="Content Placeholder 2">
            <a:extLst>
              <a:ext uri="{FF2B5EF4-FFF2-40B4-BE49-F238E27FC236}">
                <a16:creationId xmlns:a16="http://schemas.microsoft.com/office/drawing/2014/main" id="{C05CD11D-A8D7-AAA8-570D-30B63CD368F9}"/>
              </a:ext>
            </a:extLst>
          </p:cNvPr>
          <p:cNvSpPr>
            <a:spLocks noGrp="1"/>
          </p:cNvSpPr>
          <p:nvPr>
            <p:ph idx="1"/>
          </p:nvPr>
        </p:nvSpPr>
        <p:spPr/>
        <p:txBody>
          <a:bodyPr/>
          <a:lstStyle/>
          <a:p>
            <a:r>
              <a:rPr lang="en-US" altLang="ko-KR" dirty="0"/>
              <a:t>The miner must find a result starting with a number of zeroes. The greater the number of zeroes, the more difficult it is for the miner to find the result and the more it will have to try his luck before finding it.</a:t>
            </a:r>
          </a:p>
          <a:p>
            <a:r>
              <a:rPr lang="en-US" altLang="ko-KR" dirty="0"/>
              <a:t>Yet the number of zeroes (and therefore the difficulty) is adjusted to the number of miners on the network (and their computer capacity or hashing power) to be sure that it will take an average of 10 minutes to find the solution. Once it has found this figure, the other members of the network can instantly check the solution.</a:t>
            </a:r>
            <a:endParaRPr lang="ko-KR" altLang="en-US" dirty="0"/>
          </a:p>
        </p:txBody>
      </p:sp>
    </p:spTree>
    <p:extLst>
      <p:ext uri="{BB962C8B-B14F-4D97-AF65-F5344CB8AC3E}">
        <p14:creationId xmlns:p14="http://schemas.microsoft.com/office/powerpoint/2010/main" val="2442535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215A-394D-131D-026F-F0DFA682803F}"/>
              </a:ext>
            </a:extLst>
          </p:cNvPr>
          <p:cNvSpPr>
            <a:spLocks noGrp="1"/>
          </p:cNvSpPr>
          <p:nvPr>
            <p:ph type="title"/>
          </p:nvPr>
        </p:nvSpPr>
        <p:spPr/>
        <p:txBody>
          <a:bodyPr/>
          <a:lstStyle/>
          <a:p>
            <a:r>
              <a:rPr lang="en-US" altLang="ko-KR" dirty="0"/>
              <a:t>Continue</a:t>
            </a:r>
            <a:endParaRPr lang="ko-KR" altLang="en-US" dirty="0"/>
          </a:p>
        </p:txBody>
      </p:sp>
      <p:sp>
        <p:nvSpPr>
          <p:cNvPr id="3" name="Content Placeholder 2">
            <a:extLst>
              <a:ext uri="{FF2B5EF4-FFF2-40B4-BE49-F238E27FC236}">
                <a16:creationId xmlns:a16="http://schemas.microsoft.com/office/drawing/2014/main" id="{A36BC8B8-7352-2B3B-A001-EE2904A9FB5B}"/>
              </a:ext>
            </a:extLst>
          </p:cNvPr>
          <p:cNvSpPr>
            <a:spLocks noGrp="1"/>
          </p:cNvSpPr>
          <p:nvPr>
            <p:ph idx="1"/>
          </p:nvPr>
        </p:nvSpPr>
        <p:spPr/>
        <p:txBody>
          <a:bodyPr/>
          <a:lstStyle/>
          <a:p>
            <a:r>
              <a:rPr lang="en-US" altLang="ko-KR" dirty="0"/>
              <a:t>Since the miner may not find the Input data (“input”) from the result (“output”), he/she is going to try his/her luck until he located the Input data enabling him/her to obtain the output data corresponding to the objective of difficulty required, which is the number starting with a number of zeroes sufficient to be validated by the Protocol Bitcoin and thus be added to the Blockchain. </a:t>
            </a:r>
          </a:p>
          <a:p>
            <a:r>
              <a:rPr lang="en-US" altLang="ko-KR" dirty="0"/>
              <a:t>Figure 2.1 is an example of the mathematical puzzle, the goal is to have 3 leading zeroes:</a:t>
            </a:r>
            <a:endParaRPr lang="ko-KR" altLang="en-US" dirty="0"/>
          </a:p>
        </p:txBody>
      </p:sp>
    </p:spTree>
    <p:extLst>
      <p:ext uri="{BB962C8B-B14F-4D97-AF65-F5344CB8AC3E}">
        <p14:creationId xmlns:p14="http://schemas.microsoft.com/office/powerpoint/2010/main" val="1495759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AB49-541D-9859-062D-D872762A208C}"/>
              </a:ext>
            </a:extLst>
          </p:cNvPr>
          <p:cNvSpPr>
            <a:spLocks noGrp="1"/>
          </p:cNvSpPr>
          <p:nvPr>
            <p:ph type="title"/>
          </p:nvPr>
        </p:nvSpPr>
        <p:spPr/>
        <p:txBody>
          <a:bodyPr/>
          <a:lstStyle/>
          <a:p>
            <a:r>
              <a:rPr lang="en-US" altLang="ko-KR" dirty="0"/>
              <a:t>Continue</a:t>
            </a:r>
            <a:endParaRPr lang="ko-KR" altLang="en-US" dirty="0"/>
          </a:p>
        </p:txBody>
      </p:sp>
      <p:pic>
        <p:nvPicPr>
          <p:cNvPr id="5" name="Content Placeholder 4">
            <a:extLst>
              <a:ext uri="{FF2B5EF4-FFF2-40B4-BE49-F238E27FC236}">
                <a16:creationId xmlns:a16="http://schemas.microsoft.com/office/drawing/2014/main" id="{7624815C-9D89-34E8-5A19-E130AECCA408}"/>
              </a:ext>
            </a:extLst>
          </p:cNvPr>
          <p:cNvPicPr>
            <a:picLocks noGrp="1" noChangeAspect="1"/>
          </p:cNvPicPr>
          <p:nvPr>
            <p:ph idx="1"/>
          </p:nvPr>
        </p:nvPicPr>
        <p:blipFill>
          <a:blip r:embed="rId2"/>
          <a:stretch>
            <a:fillRect/>
          </a:stretch>
        </p:blipFill>
        <p:spPr>
          <a:xfrm>
            <a:off x="1426192" y="2291544"/>
            <a:ext cx="4757326" cy="3029606"/>
          </a:xfrm>
          <a:prstGeom prst="rect">
            <a:avLst/>
          </a:prstGeom>
        </p:spPr>
      </p:pic>
      <p:sp>
        <p:nvSpPr>
          <p:cNvPr id="4" name="TextBox 3">
            <a:extLst>
              <a:ext uri="{FF2B5EF4-FFF2-40B4-BE49-F238E27FC236}">
                <a16:creationId xmlns:a16="http://schemas.microsoft.com/office/drawing/2014/main" id="{3AF1A51F-8C44-2B8A-3840-406C3511A2D2}"/>
              </a:ext>
            </a:extLst>
          </p:cNvPr>
          <p:cNvSpPr txBox="1"/>
          <p:nvPr/>
        </p:nvSpPr>
        <p:spPr>
          <a:xfrm>
            <a:off x="6183518" y="2291544"/>
            <a:ext cx="4582290" cy="1754326"/>
          </a:xfrm>
          <a:prstGeom prst="rect">
            <a:avLst/>
          </a:prstGeom>
          <a:noFill/>
        </p:spPr>
        <p:txBody>
          <a:bodyPr wrap="square">
            <a:spAutoFit/>
          </a:bodyPr>
          <a:lstStyle/>
          <a:p>
            <a:pPr>
              <a:buFont typeface="Arial" panose="020B0604020202020204" pitchFamily="34" charset="0"/>
              <a:buChar char="•"/>
            </a:pPr>
            <a:r>
              <a:rPr lang="en-US" dirty="0"/>
              <a:t>It took </a:t>
            </a:r>
            <a:r>
              <a:rPr lang="en-US" b="1" dirty="0"/>
              <a:t>billions of attempts (409876345921)</a:t>
            </a:r>
            <a:endParaRPr lang="en-US" dirty="0"/>
          </a:p>
          <a:p>
            <a:pPr>
              <a:buNone/>
            </a:pPr>
            <a:r>
              <a:rPr lang="en-US" dirty="0"/>
              <a:t>👉 Because:</a:t>
            </a:r>
          </a:p>
          <a:p>
            <a:pPr>
              <a:buFont typeface="Arial" panose="020B0604020202020204" pitchFamily="34" charset="0"/>
              <a:buChar char="•"/>
            </a:pPr>
            <a:r>
              <a:rPr lang="en-US" dirty="0"/>
              <a:t>Hash output is random</a:t>
            </a:r>
          </a:p>
          <a:p>
            <a:pPr>
              <a:buFont typeface="Arial" panose="020B0604020202020204" pitchFamily="34" charset="0"/>
              <a:buChar char="•"/>
            </a:pPr>
            <a:r>
              <a:rPr lang="en-US" dirty="0"/>
              <a:t>No shortcut exists</a:t>
            </a:r>
          </a:p>
          <a:p>
            <a:pPr>
              <a:buFont typeface="Arial" panose="020B0604020202020204" pitchFamily="34" charset="0"/>
              <a:buChar char="•"/>
            </a:pPr>
            <a:r>
              <a:rPr lang="en-US" dirty="0"/>
              <a:t>Only way = </a:t>
            </a:r>
            <a:r>
              <a:rPr lang="en-US" b="1" dirty="0"/>
              <a:t>trial and error (brute force)</a:t>
            </a:r>
            <a:endParaRPr lang="en-US" dirty="0"/>
          </a:p>
        </p:txBody>
      </p:sp>
    </p:spTree>
    <p:extLst>
      <p:ext uri="{BB962C8B-B14F-4D97-AF65-F5344CB8AC3E}">
        <p14:creationId xmlns:p14="http://schemas.microsoft.com/office/powerpoint/2010/main" val="412902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20027-A154-7CE9-0576-490B3E95AA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AD8C8B-C9C2-54BB-3C6D-CAA94E1969E0}"/>
              </a:ext>
            </a:extLst>
          </p:cNvPr>
          <p:cNvSpPr>
            <a:spLocks noGrp="1"/>
          </p:cNvSpPr>
          <p:nvPr>
            <p:ph idx="1"/>
          </p:nvPr>
        </p:nvSpPr>
        <p:spPr/>
        <p:txBody>
          <a:bodyPr>
            <a:normAutofit fontScale="92500" lnSpcReduction="10000"/>
          </a:bodyPr>
          <a:lstStyle/>
          <a:p>
            <a:r>
              <a:rPr lang="en-US" dirty="0"/>
              <a:t>This city is amazing1 → random hash</a:t>
            </a:r>
            <a:br>
              <a:rPr lang="en-US" dirty="0"/>
            </a:br>
            <a:r>
              <a:rPr lang="en-US" dirty="0"/>
              <a:t>This city is amazing2 → random hash</a:t>
            </a:r>
            <a:br>
              <a:rPr lang="en-US" dirty="0"/>
            </a:br>
            <a:r>
              <a:rPr lang="en-US" dirty="0"/>
              <a:t>...</a:t>
            </a:r>
            <a:br>
              <a:rPr lang="en-US" dirty="0"/>
            </a:br>
            <a:r>
              <a:rPr lang="en-US" dirty="0"/>
              <a:t>This city is amazing409876345921 → valid hash ✅</a:t>
            </a:r>
          </a:p>
          <a:p>
            <a:r>
              <a:rPr lang="en-US" dirty="0"/>
              <a:t>This is exactly how </a:t>
            </a:r>
            <a:r>
              <a:rPr lang="en-US" b="1" dirty="0"/>
              <a:t>mining works in Bitcoin</a:t>
            </a:r>
            <a:endParaRPr lang="en-US" dirty="0"/>
          </a:p>
          <a:p>
            <a:endParaRPr lang="en-US" dirty="0"/>
          </a:p>
          <a:p>
            <a:r>
              <a:rPr lang="en-US" dirty="0"/>
              <a:t>The phrase </a:t>
            </a:r>
            <a:r>
              <a:rPr lang="en-US" b="1" dirty="0"/>
              <a:t>"This city is amazing"</a:t>
            </a:r>
            <a:r>
              <a:rPr lang="en-US" dirty="0"/>
              <a:t> = input data</a:t>
            </a:r>
          </a:p>
          <a:p>
            <a:r>
              <a:rPr lang="en-US" dirty="0"/>
              <a:t>The number (1, 2, 3, …) = </a:t>
            </a:r>
            <a:r>
              <a:rPr lang="en-US" b="1" dirty="0"/>
              <a:t>nonce</a:t>
            </a:r>
            <a:r>
              <a:rPr lang="en-US" dirty="0"/>
              <a:t> (a changing value)</a:t>
            </a:r>
          </a:p>
          <a:p>
            <a:r>
              <a:rPr lang="en-US" dirty="0"/>
              <a:t>Output = </a:t>
            </a:r>
            <a:r>
              <a:rPr lang="en-US" b="1" dirty="0"/>
              <a:t>hash (random-looking string)</a:t>
            </a:r>
            <a:endParaRPr lang="en-US" dirty="0"/>
          </a:p>
          <a:p>
            <a:r>
              <a:rPr lang="en-US" dirty="0"/>
              <a:t>Miners keep changing the number until they get a </a:t>
            </a:r>
            <a:r>
              <a:rPr lang="en-US" b="1" dirty="0"/>
              <a:t>valid hash</a:t>
            </a:r>
            <a:endParaRPr lang="en-US" dirty="0"/>
          </a:p>
          <a:p>
            <a:endParaRPr lang="en-US" dirty="0"/>
          </a:p>
        </p:txBody>
      </p:sp>
    </p:spTree>
    <p:extLst>
      <p:ext uri="{BB962C8B-B14F-4D97-AF65-F5344CB8AC3E}">
        <p14:creationId xmlns:p14="http://schemas.microsoft.com/office/powerpoint/2010/main" val="2370947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A7255-EFEA-904B-8615-60600CE20A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E0DF71-1FE9-AD80-796E-96499F02D037}"/>
              </a:ext>
            </a:extLst>
          </p:cNvPr>
          <p:cNvSpPr>
            <a:spLocks noGrp="1"/>
          </p:cNvSpPr>
          <p:nvPr>
            <p:ph idx="1"/>
          </p:nvPr>
        </p:nvSpPr>
        <p:spPr/>
        <p:txBody>
          <a:bodyPr/>
          <a:lstStyle/>
          <a:p>
            <a:r>
              <a:rPr lang="en-US" dirty="0"/>
              <a:t>A valid hash must satisfy a condition like:</a:t>
            </a:r>
          </a:p>
          <a:p>
            <a:r>
              <a:rPr lang="en-US" dirty="0"/>
              <a:t>0000abc9238f...</a:t>
            </a:r>
          </a:p>
          <a:p>
            <a:pPr marL="0" indent="0">
              <a:buNone/>
            </a:pPr>
            <a:r>
              <a:rPr lang="en-US" dirty="0"/>
              <a:t>Means:</a:t>
            </a:r>
          </a:p>
          <a:p>
            <a:r>
              <a:rPr lang="en-US" dirty="0"/>
              <a:t>It must start with </a:t>
            </a:r>
            <a:r>
              <a:rPr lang="en-US" b="1" dirty="0"/>
              <a:t>a certain number of zeros</a:t>
            </a:r>
            <a:endParaRPr lang="en-US" dirty="0"/>
          </a:p>
          <a:p>
            <a:r>
              <a:rPr lang="en-US" dirty="0"/>
              <a:t>This condition is set by the network (difficulty level)</a:t>
            </a:r>
          </a:p>
          <a:p>
            <a:endParaRPr lang="en-US" dirty="0"/>
          </a:p>
        </p:txBody>
      </p:sp>
    </p:spTree>
    <p:extLst>
      <p:ext uri="{BB962C8B-B14F-4D97-AF65-F5344CB8AC3E}">
        <p14:creationId xmlns:p14="http://schemas.microsoft.com/office/powerpoint/2010/main" val="425870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5BE2-EBAE-0B57-5428-511BF141EF35}"/>
              </a:ext>
            </a:extLst>
          </p:cNvPr>
          <p:cNvSpPr>
            <a:spLocks noGrp="1"/>
          </p:cNvSpPr>
          <p:nvPr>
            <p:ph type="title"/>
          </p:nvPr>
        </p:nvSpPr>
        <p:spPr/>
        <p:txBody>
          <a:bodyPr>
            <a:normAutofit/>
          </a:bodyPr>
          <a:lstStyle/>
          <a:p>
            <a:r>
              <a:rPr lang="en-US" b="1" dirty="0"/>
              <a:t>Daily Life Example (Clear Understanding)</a:t>
            </a:r>
            <a:endParaRPr lang="en-US" dirty="0"/>
          </a:p>
        </p:txBody>
      </p:sp>
      <p:sp>
        <p:nvSpPr>
          <p:cNvPr id="3" name="Content Placeholder 2">
            <a:extLst>
              <a:ext uri="{FF2B5EF4-FFF2-40B4-BE49-F238E27FC236}">
                <a16:creationId xmlns:a16="http://schemas.microsoft.com/office/drawing/2014/main" id="{AFF88E9A-D172-81C3-9F5C-51ED26EE1E1F}"/>
              </a:ext>
            </a:extLst>
          </p:cNvPr>
          <p:cNvSpPr>
            <a:spLocks noGrp="1"/>
          </p:cNvSpPr>
          <p:nvPr>
            <p:ph idx="1"/>
          </p:nvPr>
        </p:nvSpPr>
        <p:spPr/>
        <p:txBody>
          <a:bodyPr>
            <a:normAutofit lnSpcReduction="10000"/>
          </a:bodyPr>
          <a:lstStyle/>
          <a:p>
            <a:r>
              <a:rPr lang="en-US" b="1" dirty="0"/>
              <a:t>Password Guessing Game</a:t>
            </a:r>
          </a:p>
          <a:p>
            <a:r>
              <a:rPr lang="en-US" dirty="0"/>
              <a:t>Imagine:</a:t>
            </a:r>
          </a:p>
          <a:p>
            <a:r>
              <a:rPr lang="en-US" dirty="0"/>
              <a:t>You must guess a password starting with “0000”</a:t>
            </a:r>
          </a:p>
          <a:p>
            <a:r>
              <a:rPr lang="en-US" dirty="0"/>
              <a:t>You try:</a:t>
            </a:r>
          </a:p>
          <a:p>
            <a:pPr lvl="1"/>
            <a:r>
              <a:rPr lang="en-US" dirty="0"/>
              <a:t>12345 ❌</a:t>
            </a:r>
          </a:p>
          <a:p>
            <a:pPr lvl="1"/>
            <a:r>
              <a:rPr lang="en-US" dirty="0"/>
              <a:t>99999 ❌</a:t>
            </a:r>
          </a:p>
          <a:p>
            <a:pPr lvl="1"/>
            <a:r>
              <a:rPr lang="en-US" dirty="0"/>
              <a:t>00001 ❌</a:t>
            </a:r>
          </a:p>
          <a:p>
            <a:pPr lvl="1"/>
            <a:r>
              <a:rPr lang="en-US" dirty="0"/>
              <a:t>0000X ✅</a:t>
            </a:r>
          </a:p>
          <a:p>
            <a:r>
              <a:rPr lang="en-US" dirty="0"/>
              <a:t>You keep trying until condition matches, Same as PoW mining</a:t>
            </a:r>
          </a:p>
          <a:p>
            <a:endParaRPr lang="en-US" dirty="0"/>
          </a:p>
        </p:txBody>
      </p:sp>
    </p:spTree>
    <p:extLst>
      <p:ext uri="{BB962C8B-B14F-4D97-AF65-F5344CB8AC3E}">
        <p14:creationId xmlns:p14="http://schemas.microsoft.com/office/powerpoint/2010/main" val="2795536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A741B-A835-50B0-FB15-15A65B3E5C19}"/>
              </a:ext>
            </a:extLst>
          </p:cNvPr>
          <p:cNvSpPr>
            <a:spLocks noGrp="1"/>
          </p:cNvSpPr>
          <p:nvPr>
            <p:ph type="title"/>
          </p:nvPr>
        </p:nvSpPr>
        <p:spPr/>
        <p:txBody>
          <a:bodyPr/>
          <a:lstStyle/>
          <a:p>
            <a:r>
              <a:rPr lang="en-US" altLang="ko-KR" dirty="0"/>
              <a:t>Continue</a:t>
            </a:r>
            <a:endParaRPr lang="ko-KR" altLang="en-US" dirty="0"/>
          </a:p>
        </p:txBody>
      </p:sp>
      <p:sp>
        <p:nvSpPr>
          <p:cNvPr id="3" name="Content Placeholder 2">
            <a:extLst>
              <a:ext uri="{FF2B5EF4-FFF2-40B4-BE49-F238E27FC236}">
                <a16:creationId xmlns:a16="http://schemas.microsoft.com/office/drawing/2014/main" id="{28B256F3-58AB-0E37-79DA-BA0FC3908B92}"/>
              </a:ext>
            </a:extLst>
          </p:cNvPr>
          <p:cNvSpPr>
            <a:spLocks noGrp="1"/>
          </p:cNvSpPr>
          <p:nvPr>
            <p:ph idx="1"/>
          </p:nvPr>
        </p:nvSpPr>
        <p:spPr/>
        <p:txBody>
          <a:bodyPr/>
          <a:lstStyle/>
          <a:p>
            <a:r>
              <a:rPr lang="en-US" altLang="ko-KR" dirty="0">
                <a:hlinkClick r:id="rId2"/>
              </a:rPr>
              <a:t>How Bitcoin Mining Works: A Complete Beginner's Guide</a:t>
            </a:r>
            <a:endParaRPr lang="en-US" altLang="ko-KR" dirty="0"/>
          </a:p>
          <a:p>
            <a:r>
              <a:rPr lang="en-US" altLang="ko-KR" dirty="0">
                <a:hlinkClick r:id="rId3"/>
              </a:rPr>
              <a:t>What is Bitcoin Mining for Beginners - Short and Simple</a:t>
            </a:r>
            <a:endParaRPr lang="en-US" altLang="ko-KR" dirty="0"/>
          </a:p>
          <a:p>
            <a:endParaRPr lang="ko-KR" altLang="en-US" dirty="0"/>
          </a:p>
        </p:txBody>
      </p:sp>
    </p:spTree>
    <p:extLst>
      <p:ext uri="{BB962C8B-B14F-4D97-AF65-F5344CB8AC3E}">
        <p14:creationId xmlns:p14="http://schemas.microsoft.com/office/powerpoint/2010/main" val="584416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05AA-A86D-7105-F726-CBE0D67956D1}"/>
              </a:ext>
            </a:extLst>
          </p:cNvPr>
          <p:cNvSpPr>
            <a:spLocks noGrp="1"/>
          </p:cNvSpPr>
          <p:nvPr>
            <p:ph type="title"/>
          </p:nvPr>
        </p:nvSpPr>
        <p:spPr/>
        <p:txBody>
          <a:bodyPr/>
          <a:lstStyle/>
          <a:p>
            <a:r>
              <a:rPr lang="en-US" altLang="ko-KR" dirty="0"/>
              <a:t>Proof of Stake (</a:t>
            </a:r>
            <a:r>
              <a:rPr lang="en-US" altLang="ko-KR" dirty="0" err="1"/>
              <a:t>PoS</a:t>
            </a:r>
            <a:r>
              <a:rPr lang="en-US" altLang="ko-KR" dirty="0"/>
              <a:t>)</a:t>
            </a:r>
            <a:endParaRPr lang="ko-KR" altLang="en-US" dirty="0"/>
          </a:p>
        </p:txBody>
      </p:sp>
      <p:sp>
        <p:nvSpPr>
          <p:cNvPr id="3" name="Content Placeholder 2">
            <a:extLst>
              <a:ext uri="{FF2B5EF4-FFF2-40B4-BE49-F238E27FC236}">
                <a16:creationId xmlns:a16="http://schemas.microsoft.com/office/drawing/2014/main" id="{378BF6AC-9043-45C3-FD9C-1B5DEA77C4E3}"/>
              </a:ext>
            </a:extLst>
          </p:cNvPr>
          <p:cNvSpPr>
            <a:spLocks noGrp="1"/>
          </p:cNvSpPr>
          <p:nvPr>
            <p:ph idx="1"/>
          </p:nvPr>
        </p:nvSpPr>
        <p:spPr/>
        <p:txBody>
          <a:bodyPr>
            <a:normAutofit fontScale="85000" lnSpcReduction="20000"/>
          </a:bodyPr>
          <a:lstStyle/>
          <a:p>
            <a:r>
              <a:rPr lang="en-US" altLang="ko-KR" b="1" dirty="0"/>
              <a:t>Proof of Stake</a:t>
            </a:r>
            <a:r>
              <a:rPr lang="en-US" altLang="ko-KR" dirty="0"/>
              <a:t> is a way a blockchain network agrees on who can add the next block </a:t>
            </a:r>
            <a:r>
              <a:rPr lang="en-US" altLang="ko-KR" b="1" dirty="0"/>
              <a:t>without mining machines</a:t>
            </a:r>
            <a:r>
              <a:rPr lang="en-US" altLang="ko-KR" dirty="0"/>
              <a:t>.</a:t>
            </a:r>
          </a:p>
          <a:p>
            <a:r>
              <a:rPr lang="en-US" altLang="ko-KR" dirty="0"/>
              <a:t>Instead of using </a:t>
            </a:r>
            <a:r>
              <a:rPr lang="en-US" altLang="ko-KR" b="1" dirty="0"/>
              <a:t>electricity + powerful computers (like Proof of Work)</a:t>
            </a:r>
            <a:r>
              <a:rPr lang="en-US" altLang="ko-KR" dirty="0"/>
              <a:t>, </a:t>
            </a:r>
            <a:r>
              <a:rPr lang="en-US" altLang="ko-KR" dirty="0" err="1"/>
              <a:t>PoS</a:t>
            </a:r>
            <a:r>
              <a:rPr lang="en-US" altLang="ko-KR" dirty="0"/>
              <a:t> uses </a:t>
            </a:r>
            <a:r>
              <a:rPr lang="en-US" altLang="ko-KR" b="1" dirty="0"/>
              <a:t>coins as a stake (deposit).</a:t>
            </a:r>
            <a:endParaRPr lang="en-US" altLang="ko-KR" dirty="0"/>
          </a:p>
          <a:p>
            <a:pPr marL="0" indent="0">
              <a:buNone/>
            </a:pPr>
            <a:r>
              <a:rPr lang="en-US" altLang="ko-KR" b="1" dirty="0"/>
              <a:t>How it works </a:t>
            </a:r>
          </a:p>
          <a:p>
            <a:pPr marL="0" indent="0">
              <a:buNone/>
            </a:pPr>
            <a:r>
              <a:rPr lang="en-US" altLang="ko-KR" dirty="0"/>
              <a:t>You </a:t>
            </a:r>
            <a:r>
              <a:rPr lang="en-US" altLang="ko-KR" b="1" dirty="0"/>
              <a:t>lock (stake) your coins</a:t>
            </a:r>
            <a:r>
              <a:rPr lang="en-US" altLang="ko-KR" dirty="0"/>
              <a:t> in the network.</a:t>
            </a:r>
          </a:p>
          <a:p>
            <a:r>
              <a:rPr lang="en-US" altLang="ko-KR" dirty="0"/>
              <a:t>The network </a:t>
            </a:r>
            <a:r>
              <a:rPr lang="en-US" altLang="ko-KR" b="1" dirty="0"/>
              <a:t>randomly chooses a validator</a:t>
            </a:r>
            <a:r>
              <a:rPr lang="en-US" altLang="ko-KR" dirty="0"/>
              <a:t> (person who staked coins).</a:t>
            </a:r>
          </a:p>
          <a:p>
            <a:r>
              <a:rPr lang="en-US" altLang="ko-KR" dirty="0"/>
              <a:t>The chosen validator </a:t>
            </a:r>
            <a:r>
              <a:rPr lang="en-US" altLang="ko-KR" b="1" dirty="0"/>
              <a:t>checks transactions and adds a block.</a:t>
            </a:r>
            <a:endParaRPr lang="en-US" altLang="ko-KR" dirty="0"/>
          </a:p>
          <a:p>
            <a:r>
              <a:rPr lang="en-US" altLang="ko-KR" dirty="0"/>
              <a:t>Validator </a:t>
            </a:r>
            <a:r>
              <a:rPr lang="en-US" altLang="ko-KR" b="1" dirty="0"/>
              <a:t>earns reward (more coins).</a:t>
            </a:r>
            <a:endParaRPr lang="en-US" altLang="ko-KR" dirty="0"/>
          </a:p>
          <a:p>
            <a:r>
              <a:rPr lang="en-US" altLang="ko-KR" dirty="0"/>
              <a:t>If validator cheats → </a:t>
            </a:r>
            <a:r>
              <a:rPr lang="en-US" altLang="ko-KR" b="1" dirty="0"/>
              <a:t>they lose their staked coins (penalty).</a:t>
            </a:r>
            <a:endParaRPr lang="en-US" altLang="ko-KR" dirty="0"/>
          </a:p>
          <a:p>
            <a:pPr marL="0" indent="0">
              <a:buNone/>
            </a:pPr>
            <a:r>
              <a:rPr lang="en-US" altLang="ko-KR" dirty="0"/>
              <a:t>So:</a:t>
            </a:r>
            <a:br>
              <a:rPr lang="en-US" altLang="ko-KR" dirty="0"/>
            </a:br>
            <a:r>
              <a:rPr lang="en-US" altLang="ko-KR" b="1" dirty="0"/>
              <a:t>More coins staked = higher chance to validate = more rewards.</a:t>
            </a:r>
            <a:endParaRPr lang="en-US" altLang="ko-KR" dirty="0"/>
          </a:p>
          <a:p>
            <a:endParaRPr lang="ko-KR" altLang="en-US" dirty="0"/>
          </a:p>
        </p:txBody>
      </p:sp>
    </p:spTree>
    <p:extLst>
      <p:ext uri="{BB962C8B-B14F-4D97-AF65-F5344CB8AC3E}">
        <p14:creationId xmlns:p14="http://schemas.microsoft.com/office/powerpoint/2010/main" val="374991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D71E-B260-ECA5-4E91-BAD8FF7840C1}"/>
              </a:ext>
            </a:extLst>
          </p:cNvPr>
          <p:cNvSpPr>
            <a:spLocks noGrp="1"/>
          </p:cNvSpPr>
          <p:nvPr>
            <p:ph type="title"/>
          </p:nvPr>
        </p:nvSpPr>
        <p:spPr/>
        <p:txBody>
          <a:bodyPr/>
          <a:lstStyle/>
          <a:p>
            <a:r>
              <a:rPr lang="en-US" altLang="ko-KR" b="1" dirty="0"/>
              <a:t>Daily Life Example</a:t>
            </a:r>
            <a:endParaRPr lang="ko-KR" altLang="en-US" dirty="0"/>
          </a:p>
        </p:txBody>
      </p:sp>
      <p:sp>
        <p:nvSpPr>
          <p:cNvPr id="3" name="Content Placeholder 2">
            <a:extLst>
              <a:ext uri="{FF2B5EF4-FFF2-40B4-BE49-F238E27FC236}">
                <a16:creationId xmlns:a16="http://schemas.microsoft.com/office/drawing/2014/main" id="{C7D31880-A4B5-DF5A-B341-943E5E05C567}"/>
              </a:ext>
            </a:extLst>
          </p:cNvPr>
          <p:cNvSpPr>
            <a:spLocks noGrp="1"/>
          </p:cNvSpPr>
          <p:nvPr>
            <p:ph idx="1"/>
          </p:nvPr>
        </p:nvSpPr>
        <p:spPr/>
        <p:txBody>
          <a:bodyPr/>
          <a:lstStyle/>
          <a:p>
            <a:pPr marL="0" indent="0">
              <a:buNone/>
            </a:pPr>
            <a:r>
              <a:rPr lang="en-US" altLang="ko-KR" dirty="0"/>
              <a:t>Imagine </a:t>
            </a:r>
            <a:r>
              <a:rPr lang="en-US" altLang="ko-KR" b="1" dirty="0"/>
              <a:t>a lottery with deposit</a:t>
            </a:r>
            <a:r>
              <a:rPr lang="en-US" altLang="ko-KR" dirty="0"/>
              <a:t>:</a:t>
            </a:r>
          </a:p>
          <a:p>
            <a:r>
              <a:rPr lang="en-US" altLang="ko-KR" dirty="0"/>
              <a:t>10 people join a security club.</a:t>
            </a:r>
          </a:p>
          <a:p>
            <a:r>
              <a:rPr lang="en-US" altLang="ko-KR" dirty="0"/>
              <a:t>Each person deposits money as </a:t>
            </a:r>
            <a:r>
              <a:rPr lang="en-US" altLang="ko-KR" b="1" dirty="0"/>
              <a:t>trust/security</a:t>
            </a:r>
            <a:r>
              <a:rPr lang="en-US" altLang="ko-KR" dirty="0"/>
              <a:t>.</a:t>
            </a:r>
          </a:p>
          <a:p>
            <a:r>
              <a:rPr lang="en-US" altLang="ko-KR" dirty="0"/>
              <a:t>The person who deposited </a:t>
            </a:r>
            <a:r>
              <a:rPr lang="en-US" altLang="ko-KR" b="1" dirty="0"/>
              <a:t>more money has higher chance</a:t>
            </a:r>
            <a:r>
              <a:rPr lang="en-US" altLang="ko-KR" dirty="0"/>
              <a:t> to be chosen as the guard for the day.</a:t>
            </a:r>
          </a:p>
          <a:p>
            <a:r>
              <a:rPr lang="en-US" altLang="ko-KR" dirty="0"/>
              <a:t>If the guard works honestly → </a:t>
            </a:r>
            <a:r>
              <a:rPr lang="en-US" altLang="ko-KR" b="1" dirty="0"/>
              <a:t>gets reward</a:t>
            </a:r>
            <a:r>
              <a:rPr lang="en-US" altLang="ko-KR" dirty="0"/>
              <a:t>.</a:t>
            </a:r>
          </a:p>
          <a:p>
            <a:r>
              <a:rPr lang="en-US" altLang="ko-KR" dirty="0"/>
              <a:t>If the guard cheats → </a:t>
            </a:r>
            <a:r>
              <a:rPr lang="en-US" altLang="ko-KR" b="1" dirty="0"/>
              <a:t>loses deposit</a:t>
            </a:r>
            <a:r>
              <a:rPr lang="en-US" altLang="ko-KR" dirty="0"/>
              <a:t>.</a:t>
            </a:r>
          </a:p>
          <a:p>
            <a:pPr marL="0" indent="0">
              <a:buNone/>
            </a:pPr>
            <a:r>
              <a:rPr lang="en-US" altLang="ko-KR" dirty="0"/>
              <a:t>This is exactly how </a:t>
            </a:r>
            <a:r>
              <a:rPr lang="en-US" altLang="ko-KR" b="1" dirty="0"/>
              <a:t>Proof of Stake works</a:t>
            </a:r>
            <a:r>
              <a:rPr lang="en-US" altLang="ko-KR" dirty="0"/>
              <a:t> (but with crypto coins).</a:t>
            </a:r>
          </a:p>
          <a:p>
            <a:endParaRPr lang="ko-KR" altLang="en-US" dirty="0"/>
          </a:p>
        </p:txBody>
      </p:sp>
    </p:spTree>
    <p:extLst>
      <p:ext uri="{BB962C8B-B14F-4D97-AF65-F5344CB8AC3E}">
        <p14:creationId xmlns:p14="http://schemas.microsoft.com/office/powerpoint/2010/main" val="961131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60E8-365A-B44E-CC40-6F5AD4B5D8C8}"/>
              </a:ext>
            </a:extLst>
          </p:cNvPr>
          <p:cNvSpPr>
            <a:spLocks noGrp="1"/>
          </p:cNvSpPr>
          <p:nvPr>
            <p:ph type="title"/>
          </p:nvPr>
        </p:nvSpPr>
        <p:spPr/>
        <p:txBody>
          <a:bodyPr/>
          <a:lstStyle/>
          <a:p>
            <a:r>
              <a:rPr lang="en-US" altLang="ko-KR" dirty="0"/>
              <a:t>Crypto Example</a:t>
            </a:r>
            <a:endParaRPr lang="ko-KR" altLang="en-US" dirty="0"/>
          </a:p>
        </p:txBody>
      </p:sp>
      <p:sp>
        <p:nvSpPr>
          <p:cNvPr id="3" name="Content Placeholder 2">
            <a:extLst>
              <a:ext uri="{FF2B5EF4-FFF2-40B4-BE49-F238E27FC236}">
                <a16:creationId xmlns:a16="http://schemas.microsoft.com/office/drawing/2014/main" id="{147BCA8C-9053-1DED-9E4F-0F236E35A50C}"/>
              </a:ext>
            </a:extLst>
          </p:cNvPr>
          <p:cNvSpPr>
            <a:spLocks noGrp="1"/>
          </p:cNvSpPr>
          <p:nvPr>
            <p:ph idx="1"/>
          </p:nvPr>
        </p:nvSpPr>
        <p:spPr/>
        <p:txBody>
          <a:bodyPr>
            <a:normAutofit fontScale="92500" lnSpcReduction="20000"/>
          </a:bodyPr>
          <a:lstStyle/>
          <a:p>
            <a:pPr marL="0" indent="0">
              <a:buNone/>
            </a:pPr>
            <a:r>
              <a:rPr lang="en-US" altLang="ko-KR" dirty="0"/>
              <a:t>Some blockchains use </a:t>
            </a:r>
            <a:r>
              <a:rPr lang="en-US" altLang="ko-KR" dirty="0" err="1"/>
              <a:t>PoS</a:t>
            </a:r>
            <a:r>
              <a:rPr lang="en-US" altLang="ko-KR" dirty="0"/>
              <a:t>:</a:t>
            </a:r>
          </a:p>
          <a:p>
            <a:r>
              <a:rPr lang="en-US" altLang="ko-KR" dirty="0"/>
              <a:t>Ethereum</a:t>
            </a:r>
          </a:p>
          <a:p>
            <a:r>
              <a:rPr lang="en-US" altLang="ko-KR" dirty="0"/>
              <a:t>Cardano</a:t>
            </a:r>
          </a:p>
          <a:p>
            <a:r>
              <a:rPr lang="en-US" altLang="ko-KR" dirty="0" err="1"/>
              <a:t>Polkadot</a:t>
            </a:r>
            <a:endParaRPr lang="en-US" altLang="ko-KR" dirty="0"/>
          </a:p>
          <a:p>
            <a:pPr marL="0" indent="0">
              <a:buNone/>
            </a:pPr>
            <a:r>
              <a:rPr lang="en-US" altLang="ko-KR" b="1" dirty="0"/>
              <a:t>Example with Ethereum</a:t>
            </a:r>
          </a:p>
          <a:p>
            <a:r>
              <a:rPr lang="en-US" altLang="ko-KR" dirty="0"/>
              <a:t>You stake </a:t>
            </a:r>
            <a:r>
              <a:rPr lang="en-US" altLang="ko-KR" b="1" dirty="0"/>
              <a:t>32 ETH</a:t>
            </a:r>
            <a:r>
              <a:rPr lang="en-US" altLang="ko-KR" dirty="0"/>
              <a:t> in Ethereum.</a:t>
            </a:r>
          </a:p>
          <a:p>
            <a:r>
              <a:rPr lang="en-US" altLang="ko-KR" dirty="0"/>
              <a:t>You become a </a:t>
            </a:r>
            <a:r>
              <a:rPr lang="en-US" altLang="ko-KR" b="1" dirty="0"/>
              <a:t>validator</a:t>
            </a:r>
            <a:r>
              <a:rPr lang="en-US" altLang="ko-KR" dirty="0"/>
              <a:t>.</a:t>
            </a:r>
          </a:p>
          <a:p>
            <a:r>
              <a:rPr lang="en-US" altLang="ko-KR" dirty="0"/>
              <a:t>Network selects you sometimes to </a:t>
            </a:r>
            <a:r>
              <a:rPr lang="en-US" altLang="ko-KR" b="1" dirty="0"/>
              <a:t>confirm transactions</a:t>
            </a:r>
            <a:r>
              <a:rPr lang="en-US" altLang="ko-KR" dirty="0"/>
              <a:t>.</a:t>
            </a:r>
          </a:p>
          <a:p>
            <a:r>
              <a:rPr lang="en-US" altLang="ko-KR" dirty="0"/>
              <a:t>You earn </a:t>
            </a:r>
            <a:r>
              <a:rPr lang="en-US" altLang="ko-KR" b="1" dirty="0"/>
              <a:t>ETH rewards (around 3–5% yearly, changes).</a:t>
            </a:r>
            <a:endParaRPr lang="en-US" altLang="ko-KR" dirty="0"/>
          </a:p>
          <a:p>
            <a:r>
              <a:rPr lang="en-US" altLang="ko-KR" dirty="0"/>
              <a:t>If you cheat → Ethereum </a:t>
            </a:r>
            <a:r>
              <a:rPr lang="en-US" altLang="ko-KR" b="1" dirty="0"/>
              <a:t>cuts your stake (slashing).</a:t>
            </a:r>
            <a:endParaRPr lang="en-US" altLang="ko-KR" dirty="0"/>
          </a:p>
          <a:p>
            <a:endParaRPr lang="ko-KR" altLang="en-US" dirty="0"/>
          </a:p>
        </p:txBody>
      </p:sp>
    </p:spTree>
    <p:extLst>
      <p:ext uri="{BB962C8B-B14F-4D97-AF65-F5344CB8AC3E}">
        <p14:creationId xmlns:p14="http://schemas.microsoft.com/office/powerpoint/2010/main" val="1546433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4763-ED5F-925B-5A67-FAB5B5B8CC3B}"/>
              </a:ext>
            </a:extLst>
          </p:cNvPr>
          <p:cNvSpPr>
            <a:spLocks noGrp="1"/>
          </p:cNvSpPr>
          <p:nvPr>
            <p:ph type="title"/>
          </p:nvPr>
        </p:nvSpPr>
        <p:spPr/>
        <p:txBody>
          <a:bodyPr/>
          <a:lstStyle/>
          <a:p>
            <a:r>
              <a:rPr lang="en-US" altLang="ko-KR" dirty="0"/>
              <a:t>Comparison</a:t>
            </a:r>
            <a:endParaRPr lang="ko-KR" altLang="en-US" dirty="0"/>
          </a:p>
        </p:txBody>
      </p:sp>
      <p:pic>
        <p:nvPicPr>
          <p:cNvPr id="5" name="Content Placeholder 4">
            <a:extLst>
              <a:ext uri="{FF2B5EF4-FFF2-40B4-BE49-F238E27FC236}">
                <a16:creationId xmlns:a16="http://schemas.microsoft.com/office/drawing/2014/main" id="{F7F79E94-0A8F-EA5C-B133-3EE5466E62FB}"/>
              </a:ext>
            </a:extLst>
          </p:cNvPr>
          <p:cNvPicPr>
            <a:picLocks noGrp="1" noChangeAspect="1"/>
          </p:cNvPicPr>
          <p:nvPr>
            <p:ph idx="1"/>
          </p:nvPr>
        </p:nvPicPr>
        <p:blipFill>
          <a:blip r:embed="rId2"/>
          <a:stretch>
            <a:fillRect/>
          </a:stretch>
        </p:blipFill>
        <p:spPr>
          <a:xfrm>
            <a:off x="1404335" y="2863736"/>
            <a:ext cx="9001191" cy="2924196"/>
          </a:xfrm>
          <a:prstGeom prst="rect">
            <a:avLst/>
          </a:prstGeom>
        </p:spPr>
      </p:pic>
      <p:sp>
        <p:nvSpPr>
          <p:cNvPr id="7" name="TextBox 6">
            <a:extLst>
              <a:ext uri="{FF2B5EF4-FFF2-40B4-BE49-F238E27FC236}">
                <a16:creationId xmlns:a16="http://schemas.microsoft.com/office/drawing/2014/main" id="{D85368BD-F479-2096-57CB-2D12652A0579}"/>
              </a:ext>
            </a:extLst>
          </p:cNvPr>
          <p:cNvSpPr txBox="1"/>
          <p:nvPr/>
        </p:nvSpPr>
        <p:spPr>
          <a:xfrm>
            <a:off x="3047432" y="1885836"/>
            <a:ext cx="6097136" cy="646331"/>
          </a:xfrm>
          <a:prstGeom prst="rect">
            <a:avLst/>
          </a:prstGeom>
          <a:noFill/>
        </p:spPr>
        <p:txBody>
          <a:bodyPr wrap="square">
            <a:spAutoFit/>
          </a:bodyPr>
          <a:lstStyle/>
          <a:p>
            <a:r>
              <a:rPr lang="en-US" altLang="ko-KR" dirty="0"/>
              <a:t>PoW = Work (machines work hard)</a:t>
            </a:r>
          </a:p>
          <a:p>
            <a:r>
              <a:rPr lang="en-US" altLang="ko-KR" dirty="0" err="1"/>
              <a:t>PoS</a:t>
            </a:r>
            <a:r>
              <a:rPr lang="en-US" altLang="ko-KR" dirty="0"/>
              <a:t> = Stake (money locked as trust)</a:t>
            </a:r>
          </a:p>
        </p:txBody>
      </p:sp>
    </p:spTree>
    <p:extLst>
      <p:ext uri="{BB962C8B-B14F-4D97-AF65-F5344CB8AC3E}">
        <p14:creationId xmlns:p14="http://schemas.microsoft.com/office/powerpoint/2010/main" val="1813080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257E-94A0-2674-0A3D-AA5D7F1055E1}"/>
              </a:ext>
            </a:extLst>
          </p:cNvPr>
          <p:cNvSpPr>
            <a:spLocks noGrp="1"/>
          </p:cNvSpPr>
          <p:nvPr>
            <p:ph type="title"/>
          </p:nvPr>
        </p:nvSpPr>
        <p:spPr/>
        <p:txBody>
          <a:bodyPr/>
          <a:lstStyle/>
          <a:p>
            <a:r>
              <a:rPr lang="en-US" altLang="ko-KR" dirty="0"/>
              <a:t>Delegated Proof of Stake (</a:t>
            </a:r>
            <a:r>
              <a:rPr lang="en-US" altLang="ko-KR" dirty="0" err="1"/>
              <a:t>DPoS</a:t>
            </a:r>
            <a:r>
              <a:rPr lang="en-US" altLang="ko-KR" dirty="0"/>
              <a:t>)</a:t>
            </a:r>
            <a:endParaRPr lang="ko-KR" altLang="en-US" dirty="0"/>
          </a:p>
        </p:txBody>
      </p:sp>
      <p:sp>
        <p:nvSpPr>
          <p:cNvPr id="3" name="Content Placeholder 2">
            <a:extLst>
              <a:ext uri="{FF2B5EF4-FFF2-40B4-BE49-F238E27FC236}">
                <a16:creationId xmlns:a16="http://schemas.microsoft.com/office/drawing/2014/main" id="{A78F4866-0489-23F0-B0E5-1942F2FC2A49}"/>
              </a:ext>
            </a:extLst>
          </p:cNvPr>
          <p:cNvSpPr>
            <a:spLocks noGrp="1"/>
          </p:cNvSpPr>
          <p:nvPr>
            <p:ph idx="1"/>
          </p:nvPr>
        </p:nvSpPr>
        <p:spPr/>
        <p:txBody>
          <a:bodyPr>
            <a:normAutofit fontScale="92500" lnSpcReduction="10000"/>
          </a:bodyPr>
          <a:lstStyle/>
          <a:p>
            <a:pPr marL="0" indent="0">
              <a:buNone/>
            </a:pPr>
            <a:r>
              <a:rPr lang="en-US" altLang="ko-KR" dirty="0" err="1"/>
              <a:t>DPoS</a:t>
            </a:r>
            <a:r>
              <a:rPr lang="en-US" altLang="ko-KR" dirty="0"/>
              <a:t> is </a:t>
            </a:r>
            <a:r>
              <a:rPr lang="en-US" altLang="ko-KR" b="1" dirty="0"/>
              <a:t>voting system staking.</a:t>
            </a:r>
            <a:endParaRPr lang="en-US" altLang="ko-KR" dirty="0"/>
          </a:p>
          <a:p>
            <a:r>
              <a:rPr lang="en-US" altLang="ko-KR" dirty="0"/>
              <a:t>Coin holders </a:t>
            </a:r>
            <a:r>
              <a:rPr lang="en-US" altLang="ko-KR" b="1" dirty="0"/>
              <a:t>vote</a:t>
            </a:r>
            <a:r>
              <a:rPr lang="en-US" altLang="ko-KR" dirty="0"/>
              <a:t> for validators (called delegates / witnesses).</a:t>
            </a:r>
          </a:p>
          <a:p>
            <a:r>
              <a:rPr lang="en-US" altLang="ko-KR" dirty="0"/>
              <a:t>Top voted delegates </a:t>
            </a:r>
            <a:r>
              <a:rPr lang="en-US" altLang="ko-KR" b="1" dirty="0"/>
              <a:t>run the blockchain</a:t>
            </a:r>
            <a:r>
              <a:rPr lang="en-US" altLang="ko-KR" dirty="0"/>
              <a:t> and confirm transactions.</a:t>
            </a:r>
          </a:p>
          <a:p>
            <a:r>
              <a:rPr lang="en-US" altLang="ko-KR" dirty="0"/>
              <a:t>Delegates earn rewards.</a:t>
            </a:r>
          </a:p>
          <a:p>
            <a:r>
              <a:rPr lang="en-US" altLang="ko-KR" dirty="0"/>
              <a:t>Delegates </a:t>
            </a:r>
            <a:r>
              <a:rPr lang="en-US" altLang="ko-KR" b="1" dirty="0"/>
              <a:t>share rewards with voters.</a:t>
            </a:r>
            <a:endParaRPr lang="en-US" altLang="ko-KR" dirty="0"/>
          </a:p>
          <a:p>
            <a:r>
              <a:rPr lang="en-US" altLang="ko-KR" dirty="0"/>
              <a:t>If a delegate works badly → people </a:t>
            </a:r>
            <a:r>
              <a:rPr lang="en-US" altLang="ko-KR" b="1" dirty="0"/>
              <a:t>remove vote and replace them.</a:t>
            </a:r>
            <a:endParaRPr lang="en-US" altLang="ko-KR" dirty="0"/>
          </a:p>
          <a:p>
            <a:pPr marL="0" indent="0">
              <a:buNone/>
            </a:pPr>
            <a:r>
              <a:rPr lang="en-US" altLang="ko-KR" dirty="0"/>
              <a:t>So:</a:t>
            </a:r>
            <a:br>
              <a:rPr lang="en-US" altLang="ko-KR" dirty="0"/>
            </a:br>
            <a:r>
              <a:rPr lang="en-US" altLang="ko-KR" b="1" dirty="0"/>
              <a:t>Vote → Delegates validate → Rewards shared → Bad validator removed</a:t>
            </a:r>
            <a:endParaRPr lang="en-US" altLang="ko-KR" dirty="0"/>
          </a:p>
          <a:p>
            <a:endParaRPr lang="ko-KR" altLang="en-US" dirty="0"/>
          </a:p>
        </p:txBody>
      </p:sp>
    </p:spTree>
    <p:extLst>
      <p:ext uri="{BB962C8B-B14F-4D97-AF65-F5344CB8AC3E}">
        <p14:creationId xmlns:p14="http://schemas.microsoft.com/office/powerpoint/2010/main" val="3040053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39B56-321A-AC1A-807E-E167CD1651F5}"/>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555BA68F-48F5-230B-9757-9FFF3B563AEF}"/>
              </a:ext>
            </a:extLst>
          </p:cNvPr>
          <p:cNvSpPr>
            <a:spLocks noGrp="1"/>
          </p:cNvSpPr>
          <p:nvPr>
            <p:ph idx="1"/>
          </p:nvPr>
        </p:nvSpPr>
        <p:spPr/>
        <p:txBody>
          <a:bodyPr/>
          <a:lstStyle/>
          <a:p>
            <a:pPr marL="0" indent="0">
              <a:buNone/>
            </a:pPr>
            <a:r>
              <a:rPr lang="en-US" altLang="ko-KR" dirty="0"/>
              <a:t>Imagine a </a:t>
            </a:r>
            <a:r>
              <a:rPr lang="en-US" altLang="ko-KR" b="1" dirty="0"/>
              <a:t>school election</a:t>
            </a:r>
            <a:r>
              <a:rPr lang="en-US" altLang="ko-KR" dirty="0"/>
              <a:t>:</a:t>
            </a:r>
          </a:p>
          <a:p>
            <a:r>
              <a:rPr lang="en-US" altLang="ko-KR" dirty="0"/>
              <a:t>100 students (coin holders).</a:t>
            </a:r>
          </a:p>
          <a:p>
            <a:r>
              <a:rPr lang="en-US" altLang="ko-KR" dirty="0"/>
              <a:t>Students vote for </a:t>
            </a:r>
            <a:r>
              <a:rPr lang="en-US" altLang="ko-KR" b="1" dirty="0"/>
              <a:t>class monitor (delegate).</a:t>
            </a:r>
            <a:endParaRPr lang="en-US" altLang="ko-KR" dirty="0"/>
          </a:p>
          <a:p>
            <a:r>
              <a:rPr lang="en-US" altLang="ko-KR" dirty="0"/>
              <a:t>Top 5 monitors manage class (validate transactions).</a:t>
            </a:r>
          </a:p>
          <a:p>
            <a:r>
              <a:rPr lang="en-US" altLang="ko-KR" dirty="0"/>
              <a:t>Monitors get </a:t>
            </a:r>
            <a:r>
              <a:rPr lang="en-US" altLang="ko-KR" b="1" dirty="0"/>
              <a:t>monthly reward (salary).</a:t>
            </a:r>
            <a:endParaRPr lang="en-US" altLang="ko-KR" dirty="0"/>
          </a:p>
          <a:p>
            <a:r>
              <a:rPr lang="en-US" altLang="ko-KR" dirty="0"/>
              <a:t>If a monitor is lazy or unfair → students </a:t>
            </a:r>
            <a:r>
              <a:rPr lang="en-US" altLang="ko-KR" b="1" dirty="0"/>
              <a:t>vote them out</a:t>
            </a:r>
            <a:r>
              <a:rPr lang="en-US" altLang="ko-KR" dirty="0"/>
              <a:t> and choose new one.</a:t>
            </a:r>
          </a:p>
          <a:p>
            <a:pPr marL="0" indent="0">
              <a:buNone/>
            </a:pPr>
            <a:r>
              <a:rPr lang="en-US" altLang="ko-KR" dirty="0"/>
              <a:t>This is exactly how </a:t>
            </a:r>
            <a:r>
              <a:rPr lang="en-US" altLang="ko-KR" b="1" dirty="0" err="1"/>
              <a:t>DPoS</a:t>
            </a:r>
            <a:r>
              <a:rPr lang="en-US" altLang="ko-KR" b="1" dirty="0"/>
              <a:t> works in blockchain.</a:t>
            </a:r>
            <a:endParaRPr lang="en-US" altLang="ko-KR" dirty="0"/>
          </a:p>
          <a:p>
            <a:endParaRPr lang="ko-KR" altLang="en-US" dirty="0"/>
          </a:p>
        </p:txBody>
      </p:sp>
    </p:spTree>
    <p:extLst>
      <p:ext uri="{BB962C8B-B14F-4D97-AF65-F5344CB8AC3E}">
        <p14:creationId xmlns:p14="http://schemas.microsoft.com/office/powerpoint/2010/main" val="115699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3B9E6-B45D-EA86-7CDE-C20497AC9256}"/>
              </a:ext>
            </a:extLst>
          </p:cNvPr>
          <p:cNvSpPr>
            <a:spLocks noGrp="1"/>
          </p:cNvSpPr>
          <p:nvPr>
            <p:ph type="title"/>
          </p:nvPr>
        </p:nvSpPr>
        <p:spPr/>
        <p:txBody>
          <a:bodyPr/>
          <a:lstStyle/>
          <a:p>
            <a:pPr algn="ctr"/>
            <a:r>
              <a:rPr lang="en-US" altLang="ko-KR" b="1" dirty="0"/>
              <a:t>Crypto Example</a:t>
            </a:r>
            <a:endParaRPr lang="ko-KR" altLang="en-US" dirty="0"/>
          </a:p>
        </p:txBody>
      </p:sp>
      <p:sp>
        <p:nvSpPr>
          <p:cNvPr id="3" name="Content Placeholder 2">
            <a:extLst>
              <a:ext uri="{FF2B5EF4-FFF2-40B4-BE49-F238E27FC236}">
                <a16:creationId xmlns:a16="http://schemas.microsoft.com/office/drawing/2014/main" id="{96F57C2C-68AB-1F0B-ADD3-4518D90323F0}"/>
              </a:ext>
            </a:extLst>
          </p:cNvPr>
          <p:cNvSpPr>
            <a:spLocks noGrp="1"/>
          </p:cNvSpPr>
          <p:nvPr>
            <p:ph idx="1"/>
          </p:nvPr>
        </p:nvSpPr>
        <p:spPr>
          <a:xfrm>
            <a:off x="838200" y="1859744"/>
            <a:ext cx="10515600" cy="4351338"/>
          </a:xfrm>
        </p:spPr>
        <p:txBody>
          <a:bodyPr>
            <a:normAutofit/>
          </a:bodyPr>
          <a:lstStyle/>
          <a:p>
            <a:r>
              <a:rPr lang="en-US" altLang="ko-KR" dirty="0"/>
              <a:t>Some blockchains use </a:t>
            </a:r>
            <a:r>
              <a:rPr lang="en-US" altLang="ko-KR" dirty="0" err="1"/>
              <a:t>DPoS</a:t>
            </a:r>
            <a:r>
              <a:rPr lang="en-US" altLang="ko-KR" dirty="0"/>
              <a:t>:</a:t>
            </a:r>
          </a:p>
          <a:p>
            <a:r>
              <a:rPr lang="en-US" altLang="ko-KR" dirty="0"/>
              <a:t>EOS Network</a:t>
            </a:r>
          </a:p>
          <a:p>
            <a:r>
              <a:rPr lang="en-US" altLang="ko-KR" dirty="0"/>
              <a:t>TRON</a:t>
            </a:r>
          </a:p>
          <a:p>
            <a:r>
              <a:rPr lang="en-US" altLang="ko-KR" dirty="0" err="1"/>
              <a:t>BitShares</a:t>
            </a:r>
            <a:endParaRPr lang="en-US" altLang="ko-KR" dirty="0"/>
          </a:p>
          <a:p>
            <a:endParaRPr lang="en-US" altLang="ko-KR" dirty="0"/>
          </a:p>
          <a:p>
            <a:pPr marL="0" indent="0">
              <a:buNone/>
            </a:pPr>
            <a:r>
              <a:rPr lang="en-US" altLang="ko-KR" dirty="0"/>
              <a:t>Hold coins → Vote delegate → Delegate validates → You earn reward → Bad delegate removed by voting</a:t>
            </a:r>
          </a:p>
          <a:p>
            <a:pPr marL="0" indent="0" algn="ctr">
              <a:buNone/>
            </a:pPr>
            <a:endParaRPr lang="ko-KR" altLang="en-US" sz="5400" b="1" dirty="0"/>
          </a:p>
        </p:txBody>
      </p:sp>
    </p:spTree>
    <p:extLst>
      <p:ext uri="{BB962C8B-B14F-4D97-AF65-F5344CB8AC3E}">
        <p14:creationId xmlns:p14="http://schemas.microsoft.com/office/powerpoint/2010/main" val="2798471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C22C-AFF5-A3C4-22C7-614293CDB60F}"/>
              </a:ext>
            </a:extLst>
          </p:cNvPr>
          <p:cNvSpPr>
            <a:spLocks noGrp="1"/>
          </p:cNvSpPr>
          <p:nvPr>
            <p:ph type="title"/>
          </p:nvPr>
        </p:nvSpPr>
        <p:spPr/>
        <p:txBody>
          <a:bodyPr/>
          <a:lstStyle/>
          <a:p>
            <a:r>
              <a:rPr lang="en-US" altLang="ko-KR" dirty="0"/>
              <a:t>Proof of Authority (</a:t>
            </a:r>
            <a:r>
              <a:rPr lang="en-US" altLang="ko-KR" dirty="0" err="1"/>
              <a:t>PoA</a:t>
            </a:r>
            <a:r>
              <a:rPr lang="en-US" altLang="ko-KR" dirty="0"/>
              <a:t>)</a:t>
            </a:r>
            <a:endParaRPr lang="ko-KR" altLang="en-US" dirty="0"/>
          </a:p>
        </p:txBody>
      </p:sp>
      <p:sp>
        <p:nvSpPr>
          <p:cNvPr id="3" name="Content Placeholder 2">
            <a:extLst>
              <a:ext uri="{FF2B5EF4-FFF2-40B4-BE49-F238E27FC236}">
                <a16:creationId xmlns:a16="http://schemas.microsoft.com/office/drawing/2014/main" id="{F4BC8093-79E9-5206-8F37-FC27857B68FE}"/>
              </a:ext>
            </a:extLst>
          </p:cNvPr>
          <p:cNvSpPr>
            <a:spLocks noGrp="1"/>
          </p:cNvSpPr>
          <p:nvPr>
            <p:ph idx="1"/>
          </p:nvPr>
        </p:nvSpPr>
        <p:spPr/>
        <p:txBody>
          <a:bodyPr>
            <a:normAutofit/>
          </a:bodyPr>
          <a:lstStyle/>
          <a:p>
            <a:r>
              <a:rPr lang="en-US" altLang="ko-KR" b="1" dirty="0"/>
              <a:t>Proof of Authority (</a:t>
            </a:r>
            <a:r>
              <a:rPr lang="en-US" altLang="ko-KR" b="1" dirty="0" err="1"/>
              <a:t>PoA</a:t>
            </a:r>
            <a:r>
              <a:rPr lang="en-US" altLang="ko-KR" b="1" dirty="0"/>
              <a:t>)</a:t>
            </a:r>
            <a:r>
              <a:rPr lang="en-US" altLang="ko-KR" dirty="0"/>
              <a:t> is a blockchain system where </a:t>
            </a:r>
            <a:r>
              <a:rPr lang="en-US" altLang="ko-KR" b="1" dirty="0"/>
              <a:t>trusted and approved validators</a:t>
            </a:r>
            <a:r>
              <a:rPr lang="en-US" altLang="ko-KR" dirty="0"/>
              <a:t> create blocks.</a:t>
            </a:r>
          </a:p>
          <a:p>
            <a:r>
              <a:rPr lang="en-US" altLang="ko-KR" dirty="0"/>
              <a:t>Instead of staking coins or mining, </a:t>
            </a:r>
            <a:r>
              <a:rPr lang="en-US" altLang="ko-KR" dirty="0" err="1"/>
              <a:t>PoA</a:t>
            </a:r>
            <a:r>
              <a:rPr lang="en-US" altLang="ko-KR" dirty="0"/>
              <a:t> uses </a:t>
            </a:r>
            <a:r>
              <a:rPr lang="en-US" altLang="ko-KR" b="1" dirty="0"/>
              <a:t>identity + trust</a:t>
            </a:r>
            <a:r>
              <a:rPr lang="en-US" altLang="ko-KR" dirty="0"/>
              <a:t>.</a:t>
            </a:r>
          </a:p>
          <a:p>
            <a:r>
              <a:rPr lang="en-US" altLang="ko-KR" dirty="0"/>
              <a:t>Only </a:t>
            </a:r>
            <a:r>
              <a:rPr lang="en-US" altLang="ko-KR" b="1" dirty="0"/>
              <a:t>pre-approved authorities</a:t>
            </a:r>
            <a:r>
              <a:rPr lang="en-US" altLang="ko-KR" dirty="0"/>
              <a:t> can validate transactions.</a:t>
            </a:r>
          </a:p>
          <a:p>
            <a:endParaRPr lang="ko-KR" altLang="en-US" dirty="0"/>
          </a:p>
        </p:txBody>
      </p:sp>
    </p:spTree>
    <p:extLst>
      <p:ext uri="{BB962C8B-B14F-4D97-AF65-F5344CB8AC3E}">
        <p14:creationId xmlns:p14="http://schemas.microsoft.com/office/powerpoint/2010/main" val="1691253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ED53-F6C2-3A6C-40FF-5EE35F9AF0C7}"/>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9D9D25E4-978A-27EE-1B1A-1CECC3DF1EFB}"/>
              </a:ext>
            </a:extLst>
          </p:cNvPr>
          <p:cNvSpPr>
            <a:spLocks noGrp="1"/>
          </p:cNvSpPr>
          <p:nvPr>
            <p:ph idx="1"/>
          </p:nvPr>
        </p:nvSpPr>
        <p:spPr/>
        <p:txBody>
          <a:bodyPr>
            <a:normAutofit lnSpcReduction="10000"/>
          </a:bodyPr>
          <a:lstStyle/>
          <a:p>
            <a:pPr marL="0" indent="0">
              <a:buNone/>
            </a:pPr>
            <a:r>
              <a:rPr lang="en-US" altLang="ko-KR" b="1" dirty="0"/>
              <a:t>How </a:t>
            </a:r>
            <a:r>
              <a:rPr lang="en-US" altLang="ko-KR" b="1" dirty="0" err="1"/>
              <a:t>PoA</a:t>
            </a:r>
            <a:r>
              <a:rPr lang="en-US" altLang="ko-KR" b="1" dirty="0"/>
              <a:t> Works (Very Simple)</a:t>
            </a:r>
          </a:p>
          <a:p>
            <a:r>
              <a:rPr lang="en-US" altLang="ko-KR" dirty="0"/>
              <a:t>A few </a:t>
            </a:r>
            <a:r>
              <a:rPr lang="en-US" altLang="ko-KR" b="1" dirty="0"/>
              <a:t>trusted validators (known people/organizations)</a:t>
            </a:r>
            <a:r>
              <a:rPr lang="en-US" altLang="ko-KR" dirty="0"/>
              <a:t> are selected.</a:t>
            </a:r>
          </a:p>
          <a:p>
            <a:r>
              <a:rPr lang="en-US" altLang="ko-KR" dirty="0"/>
              <a:t>These validators </a:t>
            </a:r>
            <a:r>
              <a:rPr lang="en-US" altLang="ko-KR" b="1" dirty="0"/>
              <a:t>confirm transactions and create blocks.</a:t>
            </a:r>
            <a:endParaRPr lang="en-US" altLang="ko-KR" dirty="0"/>
          </a:p>
          <a:p>
            <a:r>
              <a:rPr lang="en-US" altLang="ko-KR" dirty="0"/>
              <a:t>They earn rewards or reputation.</a:t>
            </a:r>
          </a:p>
          <a:p>
            <a:r>
              <a:rPr lang="en-US" altLang="ko-KR" dirty="0"/>
              <a:t>If a validator cheats → </a:t>
            </a:r>
            <a:r>
              <a:rPr lang="en-US" altLang="ko-KR" b="1" dirty="0"/>
              <a:t>they are removed and lose reputation.</a:t>
            </a:r>
            <a:endParaRPr lang="en-US" altLang="ko-KR" dirty="0"/>
          </a:p>
          <a:p>
            <a:pPr marL="0" indent="0">
              <a:buNone/>
            </a:pPr>
            <a:r>
              <a:rPr lang="en-US" altLang="ko-KR" dirty="0"/>
              <a:t>So:</a:t>
            </a:r>
            <a:br>
              <a:rPr lang="en-US" altLang="ko-KR" dirty="0"/>
            </a:br>
            <a:r>
              <a:rPr lang="en-US" altLang="ko-KR" b="1" dirty="0"/>
              <a:t>Trusted identity → Validate → Honest = Stay → Cheat = Removed</a:t>
            </a:r>
            <a:endParaRPr lang="en-US" altLang="ko-KR" dirty="0"/>
          </a:p>
          <a:p>
            <a:endParaRPr lang="ko-KR" altLang="en-US" dirty="0"/>
          </a:p>
        </p:txBody>
      </p:sp>
    </p:spTree>
    <p:extLst>
      <p:ext uri="{BB962C8B-B14F-4D97-AF65-F5344CB8AC3E}">
        <p14:creationId xmlns:p14="http://schemas.microsoft.com/office/powerpoint/2010/main" val="3002198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2D7BC-A1BE-C9D3-4E2E-0588C047C033}"/>
              </a:ext>
            </a:extLst>
          </p:cNvPr>
          <p:cNvSpPr>
            <a:spLocks noGrp="1"/>
          </p:cNvSpPr>
          <p:nvPr>
            <p:ph type="title"/>
          </p:nvPr>
        </p:nvSpPr>
        <p:spPr/>
        <p:txBody>
          <a:bodyPr/>
          <a:lstStyle/>
          <a:p>
            <a:r>
              <a:rPr lang="en-US" altLang="ko-KR" b="1" dirty="0"/>
              <a:t>Daily Life Example</a:t>
            </a:r>
            <a:endParaRPr lang="ko-KR" altLang="en-US" dirty="0"/>
          </a:p>
        </p:txBody>
      </p:sp>
      <p:sp>
        <p:nvSpPr>
          <p:cNvPr id="3" name="Content Placeholder 2">
            <a:extLst>
              <a:ext uri="{FF2B5EF4-FFF2-40B4-BE49-F238E27FC236}">
                <a16:creationId xmlns:a16="http://schemas.microsoft.com/office/drawing/2014/main" id="{954CF498-66B9-4C17-8BE3-258C2A0FBB3F}"/>
              </a:ext>
            </a:extLst>
          </p:cNvPr>
          <p:cNvSpPr>
            <a:spLocks noGrp="1"/>
          </p:cNvSpPr>
          <p:nvPr>
            <p:ph idx="1"/>
          </p:nvPr>
        </p:nvSpPr>
        <p:spPr/>
        <p:txBody>
          <a:bodyPr/>
          <a:lstStyle/>
          <a:p>
            <a:r>
              <a:rPr lang="en-US" altLang="ko-KR" dirty="0"/>
              <a:t>Imagine a </a:t>
            </a:r>
            <a:r>
              <a:rPr lang="en-US" altLang="ko-KR" b="1" dirty="0"/>
              <a:t>company office entry system</a:t>
            </a:r>
            <a:r>
              <a:rPr lang="en-US" altLang="ko-KR" dirty="0"/>
              <a:t>:</a:t>
            </a:r>
          </a:p>
          <a:p>
            <a:r>
              <a:rPr lang="en-US" altLang="ko-KR" dirty="0"/>
              <a:t>Only </a:t>
            </a:r>
            <a:r>
              <a:rPr lang="en-US" altLang="ko-KR" b="1" dirty="0"/>
              <a:t>authorized staff with ID cards</a:t>
            </a:r>
            <a:r>
              <a:rPr lang="en-US" altLang="ko-KR" dirty="0"/>
              <a:t> can open and manage the office.</a:t>
            </a:r>
          </a:p>
          <a:p>
            <a:r>
              <a:rPr lang="en-US" altLang="ko-KR" dirty="0"/>
              <a:t>They are trusted employees (validators).</a:t>
            </a:r>
          </a:p>
          <a:p>
            <a:r>
              <a:rPr lang="en-US" altLang="ko-KR" dirty="0"/>
              <a:t>If an employee misuses power → </a:t>
            </a:r>
            <a:r>
              <a:rPr lang="en-US" altLang="ko-KR" b="1" dirty="0"/>
              <a:t>ID cancelled and job lost.</a:t>
            </a:r>
            <a:endParaRPr lang="en-US" altLang="ko-KR" dirty="0"/>
          </a:p>
          <a:p>
            <a:pPr marL="0" indent="0">
              <a:buNone/>
            </a:pPr>
            <a:r>
              <a:rPr lang="en-US" altLang="ko-KR" dirty="0"/>
              <a:t>Not everyone can enter — only </a:t>
            </a:r>
            <a:r>
              <a:rPr lang="en-US" altLang="ko-KR" b="1" dirty="0"/>
              <a:t>trusted authorities.</a:t>
            </a:r>
            <a:br>
              <a:rPr lang="en-US" altLang="ko-KR" dirty="0"/>
            </a:br>
            <a:r>
              <a:rPr lang="en-US" altLang="ko-KR" dirty="0"/>
              <a:t>This is exactly how </a:t>
            </a:r>
            <a:r>
              <a:rPr lang="en-US" altLang="ko-KR" b="1" dirty="0"/>
              <a:t>Proof of Authority works.</a:t>
            </a:r>
            <a:endParaRPr lang="en-US" altLang="ko-KR" dirty="0"/>
          </a:p>
          <a:p>
            <a:endParaRPr lang="ko-KR" altLang="en-US" dirty="0"/>
          </a:p>
        </p:txBody>
      </p:sp>
    </p:spTree>
    <p:extLst>
      <p:ext uri="{BB962C8B-B14F-4D97-AF65-F5344CB8AC3E}">
        <p14:creationId xmlns:p14="http://schemas.microsoft.com/office/powerpoint/2010/main" val="2151758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CFE9-B4F8-22FC-54B5-428E639594CC}"/>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7FEF1CE2-BE5E-4549-B78F-0EA08B81759B}"/>
              </a:ext>
            </a:extLst>
          </p:cNvPr>
          <p:cNvSpPr>
            <a:spLocks noGrp="1"/>
          </p:cNvSpPr>
          <p:nvPr>
            <p:ph idx="1"/>
          </p:nvPr>
        </p:nvSpPr>
        <p:spPr/>
        <p:txBody>
          <a:bodyPr>
            <a:normAutofit lnSpcReduction="10000"/>
          </a:bodyPr>
          <a:lstStyle/>
          <a:p>
            <a:pPr marL="0" indent="0">
              <a:buNone/>
            </a:pPr>
            <a:r>
              <a:rPr lang="en-US" altLang="ko-KR" dirty="0"/>
              <a:t>Some blockchains using </a:t>
            </a:r>
            <a:r>
              <a:rPr lang="en-US" altLang="ko-KR" dirty="0" err="1"/>
              <a:t>PoA</a:t>
            </a:r>
            <a:r>
              <a:rPr lang="en-US" altLang="ko-KR" dirty="0"/>
              <a:t>:</a:t>
            </a:r>
          </a:p>
          <a:p>
            <a:r>
              <a:rPr lang="en-US" altLang="ko-KR" dirty="0"/>
              <a:t>BNB Chain (uses Authority-based validators)</a:t>
            </a:r>
          </a:p>
          <a:p>
            <a:r>
              <a:rPr lang="en-US" altLang="ko-KR" dirty="0" err="1"/>
              <a:t>VeChain</a:t>
            </a:r>
            <a:endParaRPr lang="en-US" altLang="ko-KR" dirty="0"/>
          </a:p>
          <a:p>
            <a:r>
              <a:rPr lang="en-US" altLang="ko-KR" dirty="0"/>
              <a:t>Ethereum (</a:t>
            </a:r>
            <a:r>
              <a:rPr lang="en-US" altLang="ko-KR" dirty="0" err="1"/>
              <a:t>PoA</a:t>
            </a:r>
            <a:r>
              <a:rPr lang="en-US" altLang="ko-KR" dirty="0"/>
              <a:t> used in some private/test networks)</a:t>
            </a:r>
          </a:p>
          <a:p>
            <a:pPr marL="0" indent="0">
              <a:buNone/>
            </a:pPr>
            <a:r>
              <a:rPr lang="en-US" altLang="ko-KR" b="1" dirty="0"/>
              <a:t>Example (</a:t>
            </a:r>
            <a:r>
              <a:rPr lang="en-US" altLang="ko-KR" b="1" dirty="0" err="1"/>
              <a:t>VeChain</a:t>
            </a:r>
            <a:r>
              <a:rPr lang="en-US" altLang="ko-KR" b="1" dirty="0"/>
              <a:t>)</a:t>
            </a:r>
          </a:p>
          <a:p>
            <a:r>
              <a:rPr lang="en-US" altLang="ko-KR" dirty="0" err="1"/>
              <a:t>VeChain</a:t>
            </a:r>
            <a:r>
              <a:rPr lang="en-US" altLang="ko-KR" dirty="0"/>
              <a:t> selects </a:t>
            </a:r>
            <a:r>
              <a:rPr lang="en-US" altLang="ko-KR" b="1" dirty="0"/>
              <a:t>approved Authority </a:t>
            </a:r>
            <a:r>
              <a:rPr lang="en-US" altLang="ko-KR" b="1" dirty="0" err="1"/>
              <a:t>Masternodes</a:t>
            </a:r>
            <a:r>
              <a:rPr lang="en-US" altLang="ko-KR" b="1" dirty="0"/>
              <a:t>.</a:t>
            </a:r>
            <a:endParaRPr lang="en-US" altLang="ko-KR" dirty="0"/>
          </a:p>
          <a:p>
            <a:r>
              <a:rPr lang="en-US" altLang="ko-KR" dirty="0"/>
              <a:t>Only these trusted validators create blocks.</a:t>
            </a:r>
          </a:p>
          <a:p>
            <a:r>
              <a:rPr lang="en-US" altLang="ko-KR" dirty="0"/>
              <a:t>Network becomes </a:t>
            </a:r>
            <a:r>
              <a:rPr lang="en-US" altLang="ko-KR" b="1" dirty="0"/>
              <a:t>very fast and low cost.</a:t>
            </a:r>
            <a:endParaRPr lang="en-US" altLang="ko-KR" dirty="0"/>
          </a:p>
          <a:p>
            <a:r>
              <a:rPr lang="en-US" altLang="ko-KR" dirty="0"/>
              <a:t>If validator acts badly → removed from authority list.</a:t>
            </a:r>
          </a:p>
          <a:p>
            <a:endParaRPr lang="ko-KR" altLang="en-US" dirty="0"/>
          </a:p>
        </p:txBody>
      </p:sp>
    </p:spTree>
    <p:extLst>
      <p:ext uri="{BB962C8B-B14F-4D97-AF65-F5344CB8AC3E}">
        <p14:creationId xmlns:p14="http://schemas.microsoft.com/office/powerpoint/2010/main" val="67948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C655-6D4B-AF3C-6269-F4730F4621F4}"/>
              </a:ext>
            </a:extLst>
          </p:cNvPr>
          <p:cNvSpPr>
            <a:spLocks noGrp="1"/>
          </p:cNvSpPr>
          <p:nvPr>
            <p:ph type="title"/>
          </p:nvPr>
        </p:nvSpPr>
        <p:spPr/>
        <p:txBody>
          <a:bodyPr/>
          <a:lstStyle/>
          <a:p>
            <a:r>
              <a:rPr lang="en-US" altLang="ko-KR" dirty="0"/>
              <a:t>Advantages</a:t>
            </a:r>
            <a:endParaRPr lang="ko-KR" altLang="en-US" dirty="0"/>
          </a:p>
        </p:txBody>
      </p:sp>
      <p:sp>
        <p:nvSpPr>
          <p:cNvPr id="5" name="Rectangle 2">
            <a:extLst>
              <a:ext uri="{FF2B5EF4-FFF2-40B4-BE49-F238E27FC236}">
                <a16:creationId xmlns:a16="http://schemas.microsoft.com/office/drawing/2014/main" id="{B0402BEB-594E-2B99-BAFC-7057460B95D5}"/>
              </a:ext>
            </a:extLst>
          </p:cNvPr>
          <p:cNvSpPr>
            <a:spLocks noGrp="1" noChangeArrowheads="1"/>
          </p:cNvSpPr>
          <p:nvPr>
            <p:ph idx="1"/>
          </p:nvPr>
        </p:nvSpPr>
        <p:spPr bwMode="auto">
          <a:xfrm>
            <a:off x="769961" y="1748206"/>
            <a:ext cx="56402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4000" b="0" i="0" u="none" strike="noStrike" cap="none" normalizeH="0" baseline="0" dirty="0" err="1">
                <a:ln>
                  <a:noFill/>
                </a:ln>
                <a:solidFill>
                  <a:schemeClr val="tx1"/>
                </a:solidFill>
                <a:effectLst/>
                <a:latin typeface="Arial" panose="020B0604020202020204" pitchFamily="34" charset="0"/>
              </a:rPr>
              <a:t>Very</a:t>
            </a:r>
            <a:r>
              <a:rPr kumimoji="0" lang="ko-KR" altLang="ko-KR" sz="4000" b="0" i="0" u="none" strike="noStrike" cap="none" normalizeH="0" baseline="0" dirty="0">
                <a:ln>
                  <a:noFill/>
                </a:ln>
                <a:solidFill>
                  <a:schemeClr val="tx1"/>
                </a:solidFill>
                <a:effectLst/>
                <a:latin typeface="Arial" panose="020B0604020202020204" pitchFamily="34" charset="0"/>
              </a:rPr>
              <a:t> </a:t>
            </a:r>
            <a:r>
              <a:rPr kumimoji="0" lang="ko-KR" altLang="ko-KR" sz="4000" b="1" i="0" u="none" strike="noStrike" cap="none" normalizeH="0" baseline="0" dirty="0" err="1">
                <a:ln>
                  <a:noFill/>
                </a:ln>
                <a:solidFill>
                  <a:schemeClr val="tx1"/>
                </a:solidFill>
                <a:effectLst/>
                <a:latin typeface="Arial" panose="020B0604020202020204" pitchFamily="34" charset="0"/>
              </a:rPr>
              <a:t>fast</a:t>
            </a:r>
            <a:r>
              <a:rPr kumimoji="0" lang="ko-KR" altLang="ko-KR" sz="4000" b="1" i="0" u="none" strike="noStrike" cap="none" normalizeH="0" baseline="0" dirty="0">
                <a:ln>
                  <a:noFill/>
                </a:ln>
                <a:solidFill>
                  <a:schemeClr val="tx1"/>
                </a:solidFill>
                <a:effectLst/>
                <a:latin typeface="Arial" panose="020B0604020202020204" pitchFamily="34" charset="0"/>
              </a:rPr>
              <a:t> </a:t>
            </a:r>
            <a:r>
              <a:rPr kumimoji="0" lang="ko-KR" altLang="ko-KR" sz="4000" b="1" i="0" u="none" strike="noStrike" cap="none" normalizeH="0" baseline="0" dirty="0" err="1">
                <a:ln>
                  <a:noFill/>
                </a:ln>
                <a:solidFill>
                  <a:schemeClr val="tx1"/>
                </a:solidFill>
                <a:effectLst/>
                <a:latin typeface="Arial" panose="020B0604020202020204" pitchFamily="34" charset="0"/>
              </a:rPr>
              <a:t>transactions</a:t>
            </a:r>
            <a:endParaRPr kumimoji="0" lang="ko-KR" altLang="ko-KR"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4000" b="0" i="0" u="none" strike="noStrike" cap="none" normalizeH="0" baseline="0" dirty="0" err="1">
                <a:ln>
                  <a:noFill/>
                </a:ln>
                <a:solidFill>
                  <a:schemeClr val="tx1"/>
                </a:solidFill>
                <a:effectLst/>
                <a:latin typeface="Arial" panose="020B0604020202020204" pitchFamily="34" charset="0"/>
              </a:rPr>
              <a:t>Very</a:t>
            </a:r>
            <a:r>
              <a:rPr kumimoji="0" lang="ko-KR" altLang="ko-KR" sz="4000" b="0" i="0" u="none" strike="noStrike" cap="none" normalizeH="0" baseline="0" dirty="0">
                <a:ln>
                  <a:noFill/>
                </a:ln>
                <a:solidFill>
                  <a:schemeClr val="tx1"/>
                </a:solidFill>
                <a:effectLst/>
                <a:latin typeface="Arial" panose="020B0604020202020204" pitchFamily="34" charset="0"/>
              </a:rPr>
              <a:t> </a:t>
            </a:r>
            <a:r>
              <a:rPr kumimoji="0" lang="ko-KR" altLang="ko-KR" sz="4000" b="1" i="0" u="none" strike="noStrike" cap="none" normalizeH="0" baseline="0" dirty="0" err="1">
                <a:ln>
                  <a:noFill/>
                </a:ln>
                <a:solidFill>
                  <a:schemeClr val="tx1"/>
                </a:solidFill>
                <a:effectLst/>
                <a:latin typeface="Arial" panose="020B0604020202020204" pitchFamily="34" charset="0"/>
              </a:rPr>
              <a:t>low</a:t>
            </a:r>
            <a:r>
              <a:rPr kumimoji="0" lang="ko-KR" altLang="ko-KR" sz="4000" b="1" i="0" u="none" strike="noStrike" cap="none" normalizeH="0" baseline="0" dirty="0">
                <a:ln>
                  <a:noFill/>
                </a:ln>
                <a:solidFill>
                  <a:schemeClr val="tx1"/>
                </a:solidFill>
                <a:effectLst/>
                <a:latin typeface="Arial" panose="020B0604020202020204" pitchFamily="34" charset="0"/>
              </a:rPr>
              <a:t> </a:t>
            </a:r>
            <a:r>
              <a:rPr kumimoji="0" lang="ko-KR" altLang="ko-KR" sz="4000" b="1" i="0" u="none" strike="noStrike" cap="none" normalizeH="0" baseline="0" dirty="0" err="1">
                <a:ln>
                  <a:noFill/>
                </a:ln>
                <a:solidFill>
                  <a:schemeClr val="tx1"/>
                </a:solidFill>
                <a:effectLst/>
                <a:latin typeface="Arial" panose="020B0604020202020204" pitchFamily="34" charset="0"/>
              </a:rPr>
              <a:t>fees</a:t>
            </a:r>
            <a:endParaRPr kumimoji="0" lang="ko-KR" altLang="ko-KR"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4000" b="0" i="0" u="none" strike="noStrike" cap="none" normalizeH="0" baseline="0" dirty="0">
                <a:ln>
                  <a:noFill/>
                </a:ln>
                <a:solidFill>
                  <a:schemeClr val="tx1"/>
                </a:solidFill>
                <a:effectLst/>
                <a:latin typeface="Arial" panose="020B0604020202020204" pitchFamily="34" charset="0"/>
              </a:rPr>
              <a:t>Energy </a:t>
            </a:r>
            <a:r>
              <a:rPr kumimoji="0" lang="ko-KR" altLang="ko-KR" sz="4000" b="0" i="0" u="none" strike="noStrike" cap="none" normalizeH="0" baseline="0" dirty="0" err="1">
                <a:ln>
                  <a:noFill/>
                </a:ln>
                <a:solidFill>
                  <a:schemeClr val="tx1"/>
                </a:solidFill>
                <a:effectLst/>
                <a:latin typeface="Arial" panose="020B0604020202020204" pitchFamily="34" charset="0"/>
              </a:rPr>
              <a:t>efficient</a:t>
            </a:r>
            <a:endParaRPr kumimoji="0" lang="ko-KR" altLang="ko-KR"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4000" b="0" i="0" u="none" strike="noStrike" cap="none" normalizeH="0" baseline="0" dirty="0" err="1">
                <a:ln>
                  <a:noFill/>
                </a:ln>
                <a:solidFill>
                  <a:schemeClr val="tx1"/>
                </a:solidFill>
                <a:effectLst/>
                <a:latin typeface="Arial" panose="020B0604020202020204" pitchFamily="34" charset="0"/>
              </a:rPr>
              <a:t>Stable</a:t>
            </a:r>
            <a:r>
              <a:rPr kumimoji="0" lang="ko-KR" altLang="ko-KR" sz="4000" b="0" i="0" u="none" strike="noStrike" cap="none" normalizeH="0" baseline="0" dirty="0">
                <a:ln>
                  <a:noFill/>
                </a:ln>
                <a:solidFill>
                  <a:schemeClr val="tx1"/>
                </a:solidFill>
                <a:effectLst/>
                <a:latin typeface="Arial" panose="020B0604020202020204" pitchFamily="34" charset="0"/>
              </a:rPr>
              <a:t> and </a:t>
            </a:r>
            <a:r>
              <a:rPr kumimoji="0" lang="ko-KR" altLang="ko-KR" sz="4000" b="0" i="0" u="none" strike="noStrike" cap="none" normalizeH="0" baseline="0" dirty="0" err="1">
                <a:ln>
                  <a:noFill/>
                </a:ln>
                <a:solidFill>
                  <a:schemeClr val="tx1"/>
                </a:solidFill>
                <a:effectLst/>
                <a:latin typeface="Arial" panose="020B0604020202020204" pitchFamily="34" charset="0"/>
              </a:rPr>
              <a:t>predictable</a:t>
            </a:r>
            <a:endParaRPr kumimoji="0" lang="ko-KR" altLang="ko-KR"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287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9A0A6-6259-FC55-FAD7-3DD8F2A38F34}"/>
              </a:ext>
            </a:extLst>
          </p:cNvPr>
          <p:cNvSpPr>
            <a:spLocks noGrp="1"/>
          </p:cNvSpPr>
          <p:nvPr>
            <p:ph type="title"/>
          </p:nvPr>
        </p:nvSpPr>
        <p:spPr/>
        <p:txBody>
          <a:bodyPr/>
          <a:lstStyle/>
          <a:p>
            <a:r>
              <a:rPr lang="en-US" altLang="ko-KR" dirty="0"/>
              <a:t>Disadvantages</a:t>
            </a:r>
            <a:endParaRPr lang="ko-KR" altLang="en-US" dirty="0"/>
          </a:p>
        </p:txBody>
      </p:sp>
      <p:sp>
        <p:nvSpPr>
          <p:cNvPr id="4" name="Rectangle 1">
            <a:extLst>
              <a:ext uri="{FF2B5EF4-FFF2-40B4-BE49-F238E27FC236}">
                <a16:creationId xmlns:a16="http://schemas.microsoft.com/office/drawing/2014/main" id="{FECDC995-947C-CB55-88C1-6FD28473CAE0}"/>
              </a:ext>
            </a:extLst>
          </p:cNvPr>
          <p:cNvSpPr>
            <a:spLocks noGrp="1" noChangeArrowheads="1"/>
          </p:cNvSpPr>
          <p:nvPr>
            <p:ph idx="1"/>
          </p:nvPr>
        </p:nvSpPr>
        <p:spPr bwMode="auto">
          <a:xfrm>
            <a:off x="838200" y="2044005"/>
            <a:ext cx="818685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err="1">
                <a:ln>
                  <a:noFill/>
                </a:ln>
                <a:solidFill>
                  <a:schemeClr val="tx1"/>
                </a:solidFill>
                <a:effectLst/>
                <a:latin typeface="Arial" panose="020B0604020202020204" pitchFamily="34" charset="0"/>
              </a:rPr>
              <a:t>More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1" i="0" u="none" strike="noStrike" cap="none" normalizeH="0" baseline="0" dirty="0" err="1">
                <a:ln>
                  <a:noFill/>
                </a:ln>
                <a:solidFill>
                  <a:schemeClr val="tx1"/>
                </a:solidFill>
                <a:effectLst/>
                <a:latin typeface="Arial" panose="020B0604020202020204" pitchFamily="34" charset="0"/>
              </a:rPr>
              <a:t>centralized</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few</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validators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control</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network</a:t>
            </a:r>
            <a:r>
              <a:rPr kumimoji="0" lang="ko-KR" altLang="ko-K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err="1">
                <a:ln>
                  <a:noFill/>
                </a:ln>
                <a:solidFill>
                  <a:schemeClr val="tx1"/>
                </a:solidFill>
                <a:effectLst/>
                <a:latin typeface="Arial" panose="020B0604020202020204" pitchFamily="34" charset="0"/>
              </a:rPr>
              <a:t>Requires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1" i="0" u="none" strike="noStrike" cap="none" normalizeH="0" baseline="0" dirty="0" err="1">
                <a:ln>
                  <a:noFill/>
                </a:ln>
                <a:solidFill>
                  <a:schemeClr val="tx1"/>
                </a:solidFill>
                <a:effectLst/>
                <a:latin typeface="Arial" panose="020B0604020202020204" pitchFamily="34" charset="0"/>
              </a:rPr>
              <a:t>trust</a:t>
            </a:r>
            <a:r>
              <a:rPr kumimoji="0" lang="ko-KR" altLang="ko-KR" b="1" i="0" u="none" strike="noStrike" cap="none" normalizeH="0" baseline="0" dirty="0">
                <a:ln>
                  <a:noFill/>
                </a:ln>
                <a:solidFill>
                  <a:schemeClr val="tx1"/>
                </a:solidFill>
                <a:effectLst/>
                <a:latin typeface="Arial" panose="020B0604020202020204" pitchFamily="34" charset="0"/>
              </a:rPr>
              <a:t> </a:t>
            </a:r>
            <a:r>
              <a:rPr kumimoji="0" lang="ko-KR" altLang="ko-KR" b="1" i="0" u="none" strike="noStrike" cap="none" normalizeH="0" baseline="0" dirty="0" err="1">
                <a:ln>
                  <a:noFill/>
                </a:ln>
                <a:solidFill>
                  <a:schemeClr val="tx1"/>
                </a:solidFill>
                <a:effectLst/>
                <a:latin typeface="Arial" panose="020B0604020202020204" pitchFamily="34" charset="0"/>
              </a:rPr>
              <a:t>in</a:t>
            </a:r>
            <a:r>
              <a:rPr kumimoji="0" lang="ko-KR" altLang="ko-KR" b="1" i="0" u="none" strike="noStrike" cap="none" normalizeH="0" baseline="0" dirty="0">
                <a:ln>
                  <a:noFill/>
                </a:ln>
                <a:solidFill>
                  <a:schemeClr val="tx1"/>
                </a:solidFill>
                <a:effectLst/>
                <a:latin typeface="Arial" panose="020B0604020202020204" pitchFamily="34" charset="0"/>
              </a:rPr>
              <a:t> </a:t>
            </a:r>
            <a:r>
              <a:rPr kumimoji="0" lang="ko-KR" altLang="ko-KR" b="1" i="0" u="none" strike="noStrike" cap="none" normalizeH="0" baseline="0" dirty="0" err="1">
                <a:ln>
                  <a:noFill/>
                </a:ln>
                <a:solidFill>
                  <a:schemeClr val="tx1"/>
                </a:solidFill>
                <a:effectLst/>
                <a:latin typeface="Arial" panose="020B0604020202020204" pitchFamily="34" charset="0"/>
              </a:rPr>
              <a:t>authorities</a:t>
            </a: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err="1">
                <a:ln>
                  <a:noFill/>
                </a:ln>
                <a:solidFill>
                  <a:schemeClr val="tx1"/>
                </a:solidFill>
                <a:effectLst/>
                <a:latin typeface="Arial" panose="020B0604020202020204" pitchFamily="34" charset="0"/>
              </a:rPr>
              <a:t>Less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censorship-resistant</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than</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PoW</a:t>
            </a:r>
            <a:r>
              <a:rPr kumimoji="0" lang="ko-KR" altLang="ko-KR" b="0" i="0" u="none" strike="noStrike" cap="none" normalizeH="0" baseline="0" dirty="0">
                <a:ln>
                  <a:noFill/>
                </a:ln>
                <a:solidFill>
                  <a:schemeClr val="tx1"/>
                </a:solidFill>
                <a:effectLst/>
                <a:latin typeface="Arial" panose="020B0604020202020204" pitchFamily="34" charset="0"/>
              </a:rPr>
              <a:t>/</a:t>
            </a:r>
            <a:r>
              <a:rPr kumimoji="0" lang="ko-KR" altLang="ko-KR" b="0" i="0" u="none" strike="noStrike" cap="none" normalizeH="0" baseline="0" dirty="0" err="1">
                <a:ln>
                  <a:noFill/>
                </a:ln>
                <a:solidFill>
                  <a:schemeClr val="tx1"/>
                </a:solidFill>
                <a:effectLst/>
                <a:latin typeface="Arial" panose="020B0604020202020204" pitchFamily="34" charset="0"/>
              </a:rPr>
              <a:t>PoS</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0080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AC64-054E-5CD3-17DA-E0579872C813}"/>
              </a:ext>
            </a:extLst>
          </p:cNvPr>
          <p:cNvSpPr>
            <a:spLocks noGrp="1"/>
          </p:cNvSpPr>
          <p:nvPr>
            <p:ph type="title"/>
          </p:nvPr>
        </p:nvSpPr>
        <p:spPr/>
        <p:txBody>
          <a:bodyPr/>
          <a:lstStyle/>
          <a:p>
            <a:r>
              <a:rPr lang="en-US" altLang="ko-KR" dirty="0"/>
              <a:t>Proof of Assignment (</a:t>
            </a:r>
            <a:r>
              <a:rPr lang="en-US" altLang="ko-KR" dirty="0" err="1"/>
              <a:t>PoA</a:t>
            </a:r>
            <a:r>
              <a:rPr lang="en-US" altLang="ko-KR" dirty="0"/>
              <a:t>)</a:t>
            </a:r>
            <a:endParaRPr lang="ko-KR" altLang="en-US" dirty="0"/>
          </a:p>
        </p:txBody>
      </p:sp>
      <p:sp>
        <p:nvSpPr>
          <p:cNvPr id="3" name="Content Placeholder 2">
            <a:extLst>
              <a:ext uri="{FF2B5EF4-FFF2-40B4-BE49-F238E27FC236}">
                <a16:creationId xmlns:a16="http://schemas.microsoft.com/office/drawing/2014/main" id="{2F8B6318-703A-7191-1C3B-F50980035636}"/>
              </a:ext>
            </a:extLst>
          </p:cNvPr>
          <p:cNvSpPr>
            <a:spLocks noGrp="1"/>
          </p:cNvSpPr>
          <p:nvPr>
            <p:ph idx="1"/>
          </p:nvPr>
        </p:nvSpPr>
        <p:spPr/>
        <p:txBody>
          <a:bodyPr/>
          <a:lstStyle/>
          <a:p>
            <a:r>
              <a:rPr lang="en-US" altLang="ko-KR" dirty="0"/>
              <a:t>Proof of Assignment means </a:t>
            </a:r>
            <a:r>
              <a:rPr lang="en-US" altLang="ko-KR" b="1" dirty="0"/>
              <a:t>a task is given to the right participant, and they prove they completed it correctly.</a:t>
            </a:r>
            <a:br>
              <a:rPr lang="en-US" altLang="ko-KR" dirty="0"/>
            </a:br>
            <a:r>
              <a:rPr lang="en-US" altLang="ko-KR" dirty="0"/>
              <a:t>Instead of everyone doing the same work, the system </a:t>
            </a:r>
            <a:r>
              <a:rPr lang="en-US" altLang="ko-KR" b="1" dirty="0"/>
              <a:t>assigns specific work to specific nodes/people</a:t>
            </a:r>
            <a:r>
              <a:rPr lang="en-US" altLang="ko-KR" dirty="0"/>
              <a:t>, and they must show proof they did it honestly.</a:t>
            </a:r>
          </a:p>
          <a:p>
            <a:r>
              <a:rPr lang="en-US" altLang="ko-KR" dirty="0"/>
              <a:t>Goal: </a:t>
            </a:r>
            <a:r>
              <a:rPr lang="en-US" altLang="ko-KR" b="1" dirty="0"/>
              <a:t>Save time, reduce duplicate work, increase efficiency.</a:t>
            </a:r>
            <a:endParaRPr lang="en-US" altLang="ko-KR" dirty="0"/>
          </a:p>
          <a:p>
            <a:endParaRPr lang="ko-KR" altLang="en-US" dirty="0"/>
          </a:p>
        </p:txBody>
      </p:sp>
    </p:spTree>
    <p:extLst>
      <p:ext uri="{BB962C8B-B14F-4D97-AF65-F5344CB8AC3E}">
        <p14:creationId xmlns:p14="http://schemas.microsoft.com/office/powerpoint/2010/main" val="3870981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55CED-4BE2-5845-4588-B6B7672EA6CB}"/>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B6E11F57-B012-2E34-04ED-1E2D9B1925E6}"/>
              </a:ext>
            </a:extLst>
          </p:cNvPr>
          <p:cNvSpPr>
            <a:spLocks noGrp="1"/>
          </p:cNvSpPr>
          <p:nvPr>
            <p:ph idx="1"/>
          </p:nvPr>
        </p:nvSpPr>
        <p:spPr/>
        <p:txBody>
          <a:bodyPr/>
          <a:lstStyle/>
          <a:p>
            <a:pPr marL="0" indent="0">
              <a:buNone/>
            </a:pPr>
            <a:r>
              <a:rPr lang="en-US" altLang="ko-KR" b="1" dirty="0"/>
              <a:t>School Homework Example</a:t>
            </a:r>
            <a:endParaRPr lang="en-US" altLang="ko-KR" dirty="0"/>
          </a:p>
          <a:p>
            <a:r>
              <a:rPr lang="en-US" altLang="ko-KR" dirty="0"/>
              <a:t>Teacher assigns math questions to different students.</a:t>
            </a:r>
          </a:p>
          <a:p>
            <a:r>
              <a:rPr lang="en-US" altLang="ko-KR" dirty="0"/>
              <a:t>You only solve </a:t>
            </a:r>
            <a:r>
              <a:rPr lang="en-US" altLang="ko-KR" i="1" dirty="0"/>
              <a:t>your assigned questions</a:t>
            </a:r>
            <a:r>
              <a:rPr lang="en-US" altLang="ko-KR" dirty="0"/>
              <a:t> (not whole book).</a:t>
            </a:r>
          </a:p>
          <a:p>
            <a:r>
              <a:rPr lang="en-US" altLang="ko-KR" dirty="0"/>
              <a:t>You submit your notebook as </a:t>
            </a:r>
            <a:r>
              <a:rPr lang="en-US" altLang="ko-KR" b="1" dirty="0"/>
              <a:t>proof of assignment</a:t>
            </a:r>
            <a:r>
              <a:rPr lang="en-US" altLang="ko-KR" dirty="0"/>
              <a:t>.</a:t>
            </a:r>
          </a:p>
          <a:p>
            <a:r>
              <a:rPr lang="en-US" altLang="ko-KR" dirty="0"/>
              <a:t>Teacher checks → correct → you get marks.</a:t>
            </a:r>
          </a:p>
          <a:p>
            <a:pPr marL="0" indent="0">
              <a:buNone/>
            </a:pPr>
            <a:r>
              <a:rPr lang="en-US" altLang="ko-KR" dirty="0"/>
              <a:t>Work is divided, verified, and trusted.</a:t>
            </a:r>
          </a:p>
          <a:p>
            <a:endParaRPr lang="ko-KR" altLang="en-US" dirty="0"/>
          </a:p>
        </p:txBody>
      </p:sp>
    </p:spTree>
    <p:extLst>
      <p:ext uri="{BB962C8B-B14F-4D97-AF65-F5344CB8AC3E}">
        <p14:creationId xmlns:p14="http://schemas.microsoft.com/office/powerpoint/2010/main" val="920168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6F6F8-BCA4-C9D5-9865-9E40E43A2993}"/>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DE57802E-964A-19FC-4BB6-1635AB86004F}"/>
              </a:ext>
            </a:extLst>
          </p:cNvPr>
          <p:cNvSpPr>
            <a:spLocks noGrp="1"/>
          </p:cNvSpPr>
          <p:nvPr>
            <p:ph idx="1"/>
          </p:nvPr>
        </p:nvSpPr>
        <p:spPr/>
        <p:txBody>
          <a:bodyPr/>
          <a:lstStyle/>
          <a:p>
            <a:pPr marL="0" indent="0">
              <a:buNone/>
            </a:pPr>
            <a:r>
              <a:rPr lang="en-US" altLang="ko-KR" b="1" dirty="0"/>
              <a:t>Transaction Validation Example</a:t>
            </a:r>
            <a:endParaRPr lang="en-US" altLang="ko-KR" dirty="0"/>
          </a:p>
          <a:p>
            <a:r>
              <a:rPr lang="en-US" altLang="ko-KR" dirty="0"/>
              <a:t>Network assigns a group of transactions to a specific validator/node.</a:t>
            </a:r>
          </a:p>
          <a:p>
            <a:r>
              <a:rPr lang="en-US" altLang="ko-KR" dirty="0"/>
              <a:t>That node verifies transactions (no double spend, valid signatures, etc.).</a:t>
            </a:r>
          </a:p>
          <a:p>
            <a:r>
              <a:rPr lang="en-US" altLang="ko-KR" dirty="0"/>
              <a:t>Node submits </a:t>
            </a:r>
            <a:r>
              <a:rPr lang="en-US" altLang="ko-KR" b="1" dirty="0"/>
              <a:t>proof it completed the assigned validation</a:t>
            </a:r>
            <a:r>
              <a:rPr lang="en-US" altLang="ko-KR" dirty="0"/>
              <a:t>.</a:t>
            </a:r>
          </a:p>
          <a:p>
            <a:r>
              <a:rPr lang="en-US" altLang="ko-KR" dirty="0"/>
              <a:t>Network checks → if correct → node gets reward (fees/coins).</a:t>
            </a:r>
          </a:p>
          <a:p>
            <a:pPr marL="0" indent="0">
              <a:buNone/>
            </a:pPr>
            <a:r>
              <a:rPr lang="en-US" altLang="ko-KR" dirty="0"/>
              <a:t>Not every node checks everything → faster and more scalable.</a:t>
            </a:r>
          </a:p>
          <a:p>
            <a:endParaRPr lang="ko-KR" altLang="en-US" dirty="0"/>
          </a:p>
        </p:txBody>
      </p:sp>
    </p:spTree>
    <p:extLst>
      <p:ext uri="{BB962C8B-B14F-4D97-AF65-F5344CB8AC3E}">
        <p14:creationId xmlns:p14="http://schemas.microsoft.com/office/powerpoint/2010/main" val="3044373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0097-C15B-34A1-F4DE-A9C683303A45}"/>
              </a:ext>
            </a:extLst>
          </p:cNvPr>
          <p:cNvSpPr>
            <a:spLocks noGrp="1"/>
          </p:cNvSpPr>
          <p:nvPr>
            <p:ph type="title"/>
          </p:nvPr>
        </p:nvSpPr>
        <p:spPr/>
        <p:txBody>
          <a:bodyPr/>
          <a:lstStyle/>
          <a:p>
            <a:r>
              <a:rPr lang="en-US" altLang="ko-KR" dirty="0"/>
              <a:t>Why </a:t>
            </a:r>
            <a:r>
              <a:rPr lang="en-US" altLang="ko-KR" dirty="0" err="1"/>
              <a:t>PoA</a:t>
            </a:r>
            <a:r>
              <a:rPr lang="en-US" altLang="ko-KR" dirty="0"/>
              <a:t> is useful?</a:t>
            </a:r>
            <a:endParaRPr lang="ko-KR" altLang="en-US" dirty="0"/>
          </a:p>
        </p:txBody>
      </p:sp>
      <p:sp>
        <p:nvSpPr>
          <p:cNvPr id="4" name="Rectangle 1">
            <a:extLst>
              <a:ext uri="{FF2B5EF4-FFF2-40B4-BE49-F238E27FC236}">
                <a16:creationId xmlns:a16="http://schemas.microsoft.com/office/drawing/2014/main" id="{AFEB7886-D52B-DB74-5B2B-15E8D3BEA497}"/>
              </a:ext>
            </a:extLst>
          </p:cNvPr>
          <p:cNvSpPr>
            <a:spLocks noGrp="1" noChangeArrowheads="1"/>
          </p:cNvSpPr>
          <p:nvPr>
            <p:ph idx="1"/>
          </p:nvPr>
        </p:nvSpPr>
        <p:spPr bwMode="auto">
          <a:xfrm>
            <a:off x="920087" y="1844301"/>
            <a:ext cx="11213326"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3200" b="0" i="0" u="none" strike="noStrike" cap="none" normalizeH="0" baseline="0" dirty="0" err="1">
                <a:ln>
                  <a:noFill/>
                </a:ln>
                <a:solidFill>
                  <a:schemeClr val="tx1"/>
                </a:solidFill>
                <a:effectLst/>
                <a:latin typeface="Arial" panose="020B0604020202020204" pitchFamily="34" charset="0"/>
              </a:rPr>
              <a:t>Less</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energy</a:t>
            </a:r>
            <a:r>
              <a:rPr kumimoji="0" lang="ko-KR" altLang="ko-KR" sz="3200" b="0" i="0" u="none" strike="noStrike" cap="none" normalizeH="0" baseline="0" dirty="0">
                <a:ln>
                  <a:noFill/>
                </a:ln>
                <a:solidFill>
                  <a:schemeClr val="tx1"/>
                </a:solidFill>
                <a:effectLst/>
                <a:latin typeface="Arial" panose="020B0604020202020204" pitchFamily="34" charset="0"/>
              </a:rPr>
              <a:t> &amp; </a:t>
            </a:r>
            <a:r>
              <a:rPr kumimoji="0" lang="ko-KR" altLang="ko-KR" sz="3200" b="0" i="0" u="none" strike="noStrike" cap="none" normalizeH="0" baseline="0" dirty="0" err="1">
                <a:ln>
                  <a:noFill/>
                </a:ln>
                <a:solidFill>
                  <a:schemeClr val="tx1"/>
                </a:solidFill>
                <a:effectLst/>
                <a:latin typeface="Arial" panose="020B0604020202020204" pitchFamily="34" charset="0"/>
              </a:rPr>
              <a:t>computation</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than</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everyone</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doing</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same</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work</a:t>
            </a:r>
            <a:endParaRPr kumimoji="0" lang="ko-KR" altLang="ko-K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3200" b="0" i="0" u="none" strike="noStrike" cap="none" normalizeH="0" baseline="0" dirty="0" err="1">
                <a:ln>
                  <a:noFill/>
                </a:ln>
                <a:solidFill>
                  <a:schemeClr val="tx1"/>
                </a:solidFill>
                <a:effectLst/>
                <a:latin typeface="Arial" panose="020B0604020202020204" pitchFamily="34" charset="0"/>
              </a:rPr>
              <a:t>Faster</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processing</a:t>
            </a:r>
            <a:endParaRPr kumimoji="0" lang="ko-KR" altLang="ko-K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3200" b="0" i="0" u="none" strike="noStrike" cap="none" normalizeH="0" baseline="0" dirty="0" err="1">
                <a:ln>
                  <a:noFill/>
                </a:ln>
                <a:solidFill>
                  <a:schemeClr val="tx1"/>
                </a:solidFill>
                <a:effectLst/>
                <a:latin typeface="Arial" panose="020B0604020202020204" pitchFamily="34" charset="0"/>
              </a:rPr>
              <a:t>Better</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scalability</a:t>
            </a:r>
            <a:endParaRPr kumimoji="0" lang="ko-KR" altLang="ko-K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3200" b="0" i="0" u="none" strike="noStrike" cap="none" normalizeH="0" baseline="0" dirty="0" err="1">
                <a:ln>
                  <a:noFill/>
                </a:ln>
                <a:solidFill>
                  <a:schemeClr val="tx1"/>
                </a:solidFill>
                <a:effectLst/>
                <a:latin typeface="Arial" panose="020B0604020202020204" pitchFamily="34" charset="0"/>
              </a:rPr>
              <a:t>Clear</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responsibility</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who</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did</a:t>
            </a:r>
            <a:r>
              <a:rPr kumimoji="0" lang="ko-KR" altLang="ko-KR" sz="3200" b="0" i="0" u="none" strike="noStrike" cap="none" normalizeH="0" baseline="0" dirty="0">
                <a:ln>
                  <a:noFill/>
                </a:ln>
                <a:solidFill>
                  <a:schemeClr val="tx1"/>
                </a:solidFill>
                <a:effectLst/>
                <a:latin typeface="Arial" panose="020B0604020202020204" pitchFamily="34" charset="0"/>
              </a:rPr>
              <a:t> </a:t>
            </a:r>
            <a:r>
              <a:rPr kumimoji="0" lang="ko-KR" altLang="ko-KR" sz="3200" b="0" i="0" u="none" strike="noStrike" cap="none" normalizeH="0" baseline="0" dirty="0" err="1">
                <a:ln>
                  <a:noFill/>
                </a:ln>
                <a:solidFill>
                  <a:schemeClr val="tx1"/>
                </a:solidFill>
                <a:effectLst/>
                <a:latin typeface="Arial" panose="020B0604020202020204" pitchFamily="34" charset="0"/>
              </a:rPr>
              <a:t>what</a:t>
            </a:r>
            <a:r>
              <a:rPr kumimoji="0" lang="ko-KR" altLang="ko-KR" sz="3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6197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599</TotalTime>
  <Words>1772</Words>
  <Application>Microsoft Office PowerPoint</Application>
  <PresentationFormat>Widescreen</PresentationFormat>
  <Paragraphs>194</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맑은 고딕</vt:lpstr>
      <vt:lpstr>Arial</vt:lpstr>
      <vt:lpstr>Office Theme</vt:lpstr>
      <vt:lpstr>Week 3</vt:lpstr>
      <vt:lpstr>Consensus Protocol</vt:lpstr>
      <vt:lpstr>Types of Consensus Algorithms </vt:lpstr>
      <vt:lpstr>Types of Consensus Algorithms </vt:lpstr>
      <vt:lpstr>1. Proof of Work </vt:lpstr>
      <vt:lpstr>Continue</vt:lpstr>
      <vt:lpstr>Daily Life Example (Simple)</vt:lpstr>
      <vt:lpstr>Continue</vt:lpstr>
      <vt:lpstr>Continue</vt:lpstr>
      <vt:lpstr>Continue</vt:lpstr>
      <vt:lpstr>PowerPoint Presentation</vt:lpstr>
      <vt:lpstr>PowerPoint Presentation</vt:lpstr>
      <vt:lpstr>Daily Life Example (Clear Understanding)</vt:lpstr>
      <vt:lpstr>Continue</vt:lpstr>
      <vt:lpstr>Proof of Stake (PoS)</vt:lpstr>
      <vt:lpstr>Daily Life Example</vt:lpstr>
      <vt:lpstr>Crypto Example</vt:lpstr>
      <vt:lpstr>Comparison</vt:lpstr>
      <vt:lpstr>Delegated Proof of Stake (DPoS)</vt:lpstr>
      <vt:lpstr>Daily Life Example</vt:lpstr>
      <vt:lpstr>Crypto Example</vt:lpstr>
      <vt:lpstr>Proof of Authority (PoA)</vt:lpstr>
      <vt:lpstr>PowerPoint Presentation</vt:lpstr>
      <vt:lpstr>Daily Life Example</vt:lpstr>
      <vt:lpstr>Crypto / Blockchain Example</vt:lpstr>
      <vt:lpstr>Advantages</vt:lpstr>
      <vt:lpstr>Disadvantages</vt:lpstr>
      <vt:lpstr>Proof of Assignment (PoA)</vt:lpstr>
      <vt:lpstr>Daily Life Example</vt:lpstr>
      <vt:lpstr>Crypto / Blockchain Example</vt:lpstr>
      <vt:lpstr>Why PoA is useful?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Faheem Khan</dc:creator>
  <cp:lastModifiedBy>KHAN FAHEEM</cp:lastModifiedBy>
  <cp:revision>2</cp:revision>
  <dcterms:created xsi:type="dcterms:W3CDTF">2026-02-13T07:35:29Z</dcterms:created>
  <dcterms:modified xsi:type="dcterms:W3CDTF">2026-03-19T03:19:19Z</dcterms:modified>
</cp:coreProperties>
</file>