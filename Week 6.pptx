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8"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F858E-63E1-299D-4FA3-2EFD70C342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35911A-EB3A-C960-67A8-6F1C615CAB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C2030-5E70-0233-248A-B24B6C0D4FDE}"/>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89363941-1A82-6CA7-D672-1F57A688F1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614CAC-E845-FACC-1BD3-9FA6D83F7999}"/>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773088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7BEE-D16D-C7A2-0F73-657BE9C798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3F2DA-9D6C-CF2D-F621-3E189A0FEE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707BD4-B01F-397E-8B1F-1A164B634942}"/>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4548525B-3E96-FF89-D694-99D1FC374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41141-06D3-A07A-1178-E968600D02B2}"/>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1802290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F720-CE1C-BFB5-6116-CA21758260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FC7DA3-0EC4-B36B-5591-5033E02297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61EA9F-0D82-A3FE-B80A-BEB4E0D1D631}"/>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4CACAA76-CBE8-E795-EBAF-4C6D863F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3075D-4A66-B707-393A-AF9A3F07B5BF}"/>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4035215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309F0-F8DD-A689-342A-A1ED11BDF0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83E6FF-659A-C76A-E818-9DDF252E9D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DA54FD-B93B-0C50-0F30-7390C70898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44C18E-A95C-8F8B-128A-BA47382A0FF4}"/>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6" name="Footer Placeholder 5">
            <a:extLst>
              <a:ext uri="{FF2B5EF4-FFF2-40B4-BE49-F238E27FC236}">
                <a16:creationId xmlns:a16="http://schemas.microsoft.com/office/drawing/2014/main" id="{AAE69694-FBA6-B117-8F0D-28F58575DB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385EC-637A-5F8F-488D-BF4D4ADC73BE}"/>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60639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108AE-D064-85F6-31A4-8ECCBE051B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9E6108-792B-8938-9D4B-9EB0545659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B3DF00-364F-4C83-0B07-407BBA89C4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E7A89A-BF94-ABC2-7132-13BFEA83F4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302E11-BAE5-DD99-7108-462FD0550E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EFD770-A02C-E696-A2F1-495529AA95A6}"/>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8" name="Footer Placeholder 7">
            <a:extLst>
              <a:ext uri="{FF2B5EF4-FFF2-40B4-BE49-F238E27FC236}">
                <a16:creationId xmlns:a16="http://schemas.microsoft.com/office/drawing/2014/main" id="{19ACE34A-47C8-29E6-1804-42692E9C0B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405231-B10C-3F18-0998-45AA7DBE54F6}"/>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2598013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9B5B-C62D-5C90-2200-7D0D2DD258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268FB4-7286-E43B-493C-EBEC344B756D}"/>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4" name="Footer Placeholder 3">
            <a:extLst>
              <a:ext uri="{FF2B5EF4-FFF2-40B4-BE49-F238E27FC236}">
                <a16:creationId xmlns:a16="http://schemas.microsoft.com/office/drawing/2014/main" id="{FEFB25E5-9736-F6F9-6FD4-3AE48BF5DF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7BA0DC-5D42-C6A3-740C-51D44D447395}"/>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991640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534C8-1BBD-FE23-8CA8-15A9F1BAC124}"/>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3" name="Footer Placeholder 2">
            <a:extLst>
              <a:ext uri="{FF2B5EF4-FFF2-40B4-BE49-F238E27FC236}">
                <a16:creationId xmlns:a16="http://schemas.microsoft.com/office/drawing/2014/main" id="{130D1E4E-6FA7-A8BD-C532-62BA5D22C1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F6AC91-A3B0-4121-B9DD-F6A23F2D22AB}"/>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273507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90BFC-2384-A7C9-CDC0-D804F8108F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D22BEB-0BB0-A9CE-84FA-F6D2F13404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CBF32A-9D9F-209C-FE7D-AB9A635BE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B4E2AF-FD06-EE4A-60E0-8EC1B9F44B4D}"/>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6" name="Footer Placeholder 5">
            <a:extLst>
              <a:ext uri="{FF2B5EF4-FFF2-40B4-BE49-F238E27FC236}">
                <a16:creationId xmlns:a16="http://schemas.microsoft.com/office/drawing/2014/main" id="{E7B99924-7E0C-2990-5F4C-03A4A9859A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BA2AE-648C-A463-6587-6D1BB5A8B708}"/>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2033192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26565-B24C-80CF-CA7B-8FD58BC5F9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966F8E-A1E0-E013-1603-D2A72AAD6C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5EC24E-F7C5-D426-2FBC-0947F43890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1A4719-5318-4F11-078D-F623E8F7EEE0}"/>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6" name="Footer Placeholder 5">
            <a:extLst>
              <a:ext uri="{FF2B5EF4-FFF2-40B4-BE49-F238E27FC236}">
                <a16:creationId xmlns:a16="http://schemas.microsoft.com/office/drawing/2014/main" id="{00876622-5EB4-968B-CAA0-6899F2B4B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F152E-7E3A-4ED9-ACE1-97E46EE6FC57}"/>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2833144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0820-A824-7246-A33B-61952FEAC4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60C918-27A8-032C-7CC8-A5DD82716A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1A629F-1BE0-FEDF-22F5-41E9B712811D}"/>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CFE609B8-3F21-2BA5-53E8-AC1DA5DDA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52FE4-56FD-EDC7-B70B-0C3B44126BB3}"/>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594216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B3290C-29A8-73F9-58E4-65829D398E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6E03E3-6BE8-9672-D0F5-7DB9C41EE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0980B8-8C00-1CBE-AD1F-A5D0092075FE}"/>
              </a:ext>
            </a:extLst>
          </p:cNvPr>
          <p:cNvSpPr>
            <a:spLocks noGrp="1"/>
          </p:cNvSpPr>
          <p:nvPr>
            <p:ph type="dt" sz="half" idx="10"/>
          </p:nvPr>
        </p:nvSpPr>
        <p:spPr/>
        <p:txBody>
          <a:body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8B487643-7C8F-8F76-6445-06C05EE72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0F6A56-04C9-0854-B0F8-64A1B6D03D8F}"/>
              </a:ext>
            </a:extLst>
          </p:cNvPr>
          <p:cNvSpPr>
            <a:spLocks noGrp="1"/>
          </p:cNvSpPr>
          <p:nvPr>
            <p:ph type="sldNum" sz="quarter" idx="12"/>
          </p:nvPr>
        </p:nvSpPr>
        <p:spPr/>
        <p:txBody>
          <a:bodyPr/>
          <a:lstStyle/>
          <a:p>
            <a:fld id="{8A3111BC-9D00-4802-93D6-A4B07B3BA00E}" type="slidenum">
              <a:rPr lang="en-US" smtClean="0"/>
              <a:t>‹#›</a:t>
            </a:fld>
            <a:endParaRPr lang="en-US"/>
          </a:p>
        </p:txBody>
      </p:sp>
    </p:spTree>
    <p:extLst>
      <p:ext uri="{BB962C8B-B14F-4D97-AF65-F5344CB8AC3E}">
        <p14:creationId xmlns:p14="http://schemas.microsoft.com/office/powerpoint/2010/main" val="825804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FAC819-D36A-8584-0E99-076DB01280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916442-6A1F-FA49-5D11-33E234CE8B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922CC-ED99-639C-D76F-6C58E714F8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D0FCFF-B7CA-4308-9537-D598C20D3C84}" type="datetimeFigureOut">
              <a:rPr lang="en-US" smtClean="0"/>
              <a:t>4/8/2026</a:t>
            </a:fld>
            <a:endParaRPr lang="en-US"/>
          </a:p>
        </p:txBody>
      </p:sp>
      <p:sp>
        <p:nvSpPr>
          <p:cNvPr id="5" name="Footer Placeholder 4">
            <a:extLst>
              <a:ext uri="{FF2B5EF4-FFF2-40B4-BE49-F238E27FC236}">
                <a16:creationId xmlns:a16="http://schemas.microsoft.com/office/drawing/2014/main" id="{8D284127-1DEC-BC02-0122-8C9771908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AF53DD-21DF-0A91-BD5A-13FAF72383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3111BC-9D00-4802-93D6-A4B07B3BA00E}" type="slidenum">
              <a:rPr lang="en-US" smtClean="0"/>
              <a:t>‹#›</a:t>
            </a:fld>
            <a:endParaRPr lang="en-US"/>
          </a:p>
        </p:txBody>
      </p:sp>
    </p:spTree>
    <p:extLst>
      <p:ext uri="{BB962C8B-B14F-4D97-AF65-F5344CB8AC3E}">
        <p14:creationId xmlns:p14="http://schemas.microsoft.com/office/powerpoint/2010/main" val="204608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youtu.be/o_g-M7UBqI8?si=CVsKBFgL0fCjETZl" TargetMode="External"/><Relationship Id="rId2" Type="http://schemas.openxmlformats.org/officeDocument/2006/relationships/hyperlink" Target="https://youtu.be/gTfNtop9vzM?si=gIrftBpYaO-zPmCD" TargetMode="External"/><Relationship Id="rId1" Type="http://schemas.openxmlformats.org/officeDocument/2006/relationships/slideLayout" Target="../slideLayouts/slideLayout2.xml"/><Relationship Id="rId4" Type="http://schemas.openxmlformats.org/officeDocument/2006/relationships/hyperlink" Target="https://youtu.be/lHipE05v4jg?si=ZSh2aiwjx87VJ76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3824-4B4E-C5F7-6723-948F43F3B417}"/>
              </a:ext>
            </a:extLst>
          </p:cNvPr>
          <p:cNvSpPr>
            <a:spLocks noGrp="1"/>
          </p:cNvSpPr>
          <p:nvPr>
            <p:ph type="ctrTitle"/>
          </p:nvPr>
        </p:nvSpPr>
        <p:spPr/>
        <p:txBody>
          <a:bodyPr/>
          <a:lstStyle/>
          <a:p>
            <a:r>
              <a:rPr lang="en-US" dirty="0"/>
              <a:t>Week 6</a:t>
            </a:r>
          </a:p>
        </p:txBody>
      </p:sp>
      <p:sp>
        <p:nvSpPr>
          <p:cNvPr id="3" name="Subtitle 2">
            <a:extLst>
              <a:ext uri="{FF2B5EF4-FFF2-40B4-BE49-F238E27FC236}">
                <a16:creationId xmlns:a16="http://schemas.microsoft.com/office/drawing/2014/main" id="{226A919F-D24F-5E36-F9AD-9FA39DD00645}"/>
              </a:ext>
            </a:extLst>
          </p:cNvPr>
          <p:cNvSpPr>
            <a:spLocks noGrp="1"/>
          </p:cNvSpPr>
          <p:nvPr>
            <p:ph type="subTitle" idx="1"/>
          </p:nvPr>
        </p:nvSpPr>
        <p:spPr/>
        <p:txBody>
          <a:bodyPr/>
          <a:lstStyle/>
          <a:p>
            <a:r>
              <a:rPr lang="en-US" dirty="0"/>
              <a:t>Cybersecurity &amp; Blockchain</a:t>
            </a:r>
          </a:p>
        </p:txBody>
      </p:sp>
    </p:spTree>
    <p:extLst>
      <p:ext uri="{BB962C8B-B14F-4D97-AF65-F5344CB8AC3E}">
        <p14:creationId xmlns:p14="http://schemas.microsoft.com/office/powerpoint/2010/main" val="1128961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5D93-C3C4-BC8D-6E35-E09D15AE498B}"/>
              </a:ext>
            </a:extLst>
          </p:cNvPr>
          <p:cNvSpPr>
            <a:spLocks noGrp="1"/>
          </p:cNvSpPr>
          <p:nvPr>
            <p:ph type="title"/>
          </p:nvPr>
        </p:nvSpPr>
        <p:spPr/>
        <p:txBody>
          <a:bodyPr/>
          <a:lstStyle/>
          <a:p>
            <a:r>
              <a:rPr lang="en-US" dirty="0"/>
              <a:t>Cybersecurity &amp; Blockchain</a:t>
            </a:r>
          </a:p>
        </p:txBody>
      </p:sp>
      <p:sp>
        <p:nvSpPr>
          <p:cNvPr id="3" name="Content Placeholder 2">
            <a:extLst>
              <a:ext uri="{FF2B5EF4-FFF2-40B4-BE49-F238E27FC236}">
                <a16:creationId xmlns:a16="http://schemas.microsoft.com/office/drawing/2014/main" id="{105D6C2B-3DB8-861C-6185-18EA335D4021}"/>
              </a:ext>
            </a:extLst>
          </p:cNvPr>
          <p:cNvSpPr>
            <a:spLocks noGrp="1"/>
          </p:cNvSpPr>
          <p:nvPr>
            <p:ph idx="1"/>
          </p:nvPr>
        </p:nvSpPr>
        <p:spPr/>
        <p:txBody>
          <a:bodyPr/>
          <a:lstStyle/>
          <a:p>
            <a:r>
              <a:rPr lang="en-US" dirty="0"/>
              <a:t>With the fact that cybercrime and cybersecurity attacks hardly seem to be out of the news these days and the threat is growing globally, no body would appear immune to malicious and offensive acts targeting computer networks, infrastructures, and personal computer devices. Firms must clearly invest to stay resilient. </a:t>
            </a:r>
          </a:p>
          <a:p>
            <a:r>
              <a:rPr lang="en-US" dirty="0"/>
              <a:t>Gauging the exact size of cybercrime and putting a precise US dollar value on it is nonetheless tricky. </a:t>
            </a:r>
          </a:p>
          <a:p>
            <a:r>
              <a:rPr lang="en-US" dirty="0"/>
              <a:t>But one thing we can be sure about is that the number is big and probably larger than the statistics reveal.</a:t>
            </a:r>
          </a:p>
        </p:txBody>
      </p:sp>
    </p:spTree>
    <p:extLst>
      <p:ext uri="{BB962C8B-B14F-4D97-AF65-F5344CB8AC3E}">
        <p14:creationId xmlns:p14="http://schemas.microsoft.com/office/powerpoint/2010/main" val="369175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94C7-630D-ED28-E738-E6D5F1138C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8ECF05-6089-B11A-CC4B-4178EBE35D42}"/>
              </a:ext>
            </a:extLst>
          </p:cNvPr>
          <p:cNvSpPr>
            <a:spLocks noGrp="1"/>
          </p:cNvSpPr>
          <p:nvPr>
            <p:ph idx="1"/>
          </p:nvPr>
        </p:nvSpPr>
        <p:spPr/>
        <p:txBody>
          <a:bodyPr>
            <a:normAutofit/>
          </a:bodyPr>
          <a:lstStyle/>
          <a:p>
            <a:r>
              <a:rPr lang="en-US" dirty="0"/>
              <a:t>The global figure for cyber breaches had been put at around US $200 billion annually [36]. Malicious cyber activity cost the U.S. economy be tween $57 billion and $109 billion in 2016, the White House Council of Economic Advisers estimated in a report released in February of 2018.</a:t>
            </a:r>
          </a:p>
        </p:txBody>
      </p:sp>
    </p:spTree>
    <p:extLst>
      <p:ext uri="{BB962C8B-B14F-4D97-AF65-F5344CB8AC3E}">
        <p14:creationId xmlns:p14="http://schemas.microsoft.com/office/powerpoint/2010/main" val="2087452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D98B-2109-F945-EDE7-23A5B635935F}"/>
              </a:ext>
            </a:extLst>
          </p:cNvPr>
          <p:cNvSpPr>
            <a:spLocks noGrp="1"/>
          </p:cNvSpPr>
          <p:nvPr>
            <p:ph type="title"/>
          </p:nvPr>
        </p:nvSpPr>
        <p:spPr/>
        <p:txBody>
          <a:bodyPr/>
          <a:lstStyle/>
          <a:p>
            <a:r>
              <a:rPr lang="en-US" dirty="0"/>
              <a:t>Cybersecurity in term of blockchain</a:t>
            </a:r>
          </a:p>
        </p:txBody>
      </p:sp>
      <p:sp>
        <p:nvSpPr>
          <p:cNvPr id="3" name="Content Placeholder 2">
            <a:extLst>
              <a:ext uri="{FF2B5EF4-FFF2-40B4-BE49-F238E27FC236}">
                <a16:creationId xmlns:a16="http://schemas.microsoft.com/office/drawing/2014/main" id="{CC790825-DDD8-CAC4-EC93-8545B17A0607}"/>
              </a:ext>
            </a:extLst>
          </p:cNvPr>
          <p:cNvSpPr>
            <a:spLocks noGrp="1"/>
          </p:cNvSpPr>
          <p:nvPr>
            <p:ph idx="1"/>
          </p:nvPr>
        </p:nvSpPr>
        <p:spPr/>
        <p:txBody>
          <a:bodyPr/>
          <a:lstStyle/>
          <a:p>
            <a:r>
              <a:rPr lang="en-US" dirty="0"/>
              <a:t>New Blockchain platforms are stepping up to address security concerns in the face of recent breaches. Since these platforms are not controlled by a singular entity, they can help ease the concerns created by a spree of recent breach disclosures. Services built on top of Blockchain have the potential to inspire renewed trust due to the transparency built into the technology.</a:t>
            </a:r>
          </a:p>
          <a:p>
            <a:r>
              <a:rPr lang="en-US" dirty="0"/>
              <a:t>Developments in Blockchain have expanded beyond record keep </a:t>
            </a:r>
            <a:r>
              <a:rPr lang="en-US" dirty="0" err="1"/>
              <a:t>ing</a:t>
            </a:r>
            <a:r>
              <a:rPr lang="en-US" dirty="0"/>
              <a:t> and cryptocurrencies. The integration of smart contract development in Blockchain platforms has ushered in a wider set of applications, including cybersecurity.</a:t>
            </a:r>
          </a:p>
          <a:p>
            <a:endParaRPr lang="en-US" dirty="0"/>
          </a:p>
        </p:txBody>
      </p:sp>
    </p:spTree>
    <p:extLst>
      <p:ext uri="{BB962C8B-B14F-4D97-AF65-F5344CB8AC3E}">
        <p14:creationId xmlns:p14="http://schemas.microsoft.com/office/powerpoint/2010/main" val="1654729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C5F37-0968-0F4B-9B87-4E1066A5F9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66F146-5A01-C54D-F2C0-59163C1E911B}"/>
              </a:ext>
            </a:extLst>
          </p:cNvPr>
          <p:cNvSpPr>
            <a:spLocks noGrp="1"/>
          </p:cNvSpPr>
          <p:nvPr>
            <p:ph idx="1"/>
          </p:nvPr>
        </p:nvSpPr>
        <p:spPr/>
        <p:txBody>
          <a:bodyPr/>
          <a:lstStyle/>
          <a:p>
            <a:r>
              <a:rPr lang="en-US" dirty="0"/>
              <a:t>By using Blockchain, transaction details are kept both transparent and secure. Blockchain’s decentralized and distributed network also helps businesses to avoid a single point of failure, making it difficult for malicious parties to steal or tamper with business data. </a:t>
            </a:r>
          </a:p>
          <a:p>
            <a:r>
              <a:rPr lang="en-US" dirty="0"/>
              <a:t>Transactions in the Blockchain can be audited and traced. In addition, public Blockchains rely on distributed network to run, thus eliminating a single point of control. For attackers, it is much more difficult to attack a large number of peers distributed globally as opposed to a centralized data center.</a:t>
            </a:r>
          </a:p>
        </p:txBody>
      </p:sp>
    </p:spTree>
    <p:extLst>
      <p:ext uri="{BB962C8B-B14F-4D97-AF65-F5344CB8AC3E}">
        <p14:creationId xmlns:p14="http://schemas.microsoft.com/office/powerpoint/2010/main" val="2414413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F9F3-5BFE-345F-7C66-458D043FAE1A}"/>
              </a:ext>
            </a:extLst>
          </p:cNvPr>
          <p:cNvSpPr>
            <a:spLocks noGrp="1"/>
          </p:cNvSpPr>
          <p:nvPr>
            <p:ph type="title"/>
          </p:nvPr>
        </p:nvSpPr>
        <p:spPr/>
        <p:txBody>
          <a:bodyPr/>
          <a:lstStyle/>
          <a:p>
            <a:r>
              <a:rPr lang="en-US" dirty="0"/>
              <a:t>Implementing Blockchain in Cybersecurity</a:t>
            </a:r>
          </a:p>
        </p:txBody>
      </p:sp>
      <p:sp>
        <p:nvSpPr>
          <p:cNvPr id="3" name="Content Placeholder 2">
            <a:extLst>
              <a:ext uri="{FF2B5EF4-FFF2-40B4-BE49-F238E27FC236}">
                <a16:creationId xmlns:a16="http://schemas.microsoft.com/office/drawing/2014/main" id="{1CED497E-D680-7F63-200E-F3EB512893B1}"/>
              </a:ext>
            </a:extLst>
          </p:cNvPr>
          <p:cNvSpPr>
            <a:spLocks noGrp="1"/>
          </p:cNvSpPr>
          <p:nvPr>
            <p:ph idx="1"/>
          </p:nvPr>
        </p:nvSpPr>
        <p:spPr/>
        <p:txBody>
          <a:bodyPr>
            <a:normAutofit fontScale="70000" lnSpcReduction="20000"/>
          </a:bodyPr>
          <a:lstStyle/>
          <a:p>
            <a:r>
              <a:rPr lang="en-US" b="1" dirty="0"/>
              <a:t>Decentralized Security Architecture</a:t>
            </a:r>
            <a:br>
              <a:rPr lang="en-US" dirty="0"/>
            </a:br>
            <a:r>
              <a:rPr lang="en-US" dirty="0"/>
              <a:t>Removes single point of failure → harder for hackers to attack central servers.</a:t>
            </a:r>
          </a:p>
          <a:p>
            <a:r>
              <a:rPr lang="en-US" b="1" dirty="0"/>
              <a:t>Strong Identity Management</a:t>
            </a:r>
            <a:br>
              <a:rPr lang="en-US" dirty="0"/>
            </a:br>
            <a:r>
              <a:rPr lang="en-US" dirty="0"/>
              <a:t>Uses cryptographic public–private keys to verify users, devices, and systems → prevents unauthorized access.</a:t>
            </a:r>
          </a:p>
          <a:p>
            <a:r>
              <a:rPr lang="en-US" b="1" dirty="0"/>
              <a:t>Tamper-Proof Data Integrity</a:t>
            </a:r>
            <a:br>
              <a:rPr lang="en-US" dirty="0"/>
            </a:br>
            <a:r>
              <a:rPr lang="en-US" dirty="0"/>
              <a:t>Data stored on blockchain cannot be changed → protects logs, transactions, and critical records from manipulation.</a:t>
            </a:r>
          </a:p>
          <a:p>
            <a:r>
              <a:rPr lang="en-US" b="1" dirty="0"/>
              <a:t>Secure Data Sharing</a:t>
            </a:r>
            <a:br>
              <a:rPr lang="en-US" dirty="0"/>
            </a:br>
            <a:r>
              <a:rPr lang="en-US" dirty="0"/>
              <a:t>Encrypted and permission-based data sharing between organizations without trusting a central authority.</a:t>
            </a:r>
          </a:p>
          <a:p>
            <a:r>
              <a:rPr lang="en-US" b="1" dirty="0"/>
              <a:t>Smart Contracts for Automated Security</a:t>
            </a:r>
            <a:br>
              <a:rPr lang="en-US" dirty="0"/>
            </a:br>
            <a:r>
              <a:rPr lang="en-US" dirty="0"/>
              <a:t>Automatically enforce rules like:</a:t>
            </a:r>
          </a:p>
          <a:p>
            <a:pPr lvl="1"/>
            <a:r>
              <a:rPr lang="en-US" dirty="0"/>
              <a:t>Access control</a:t>
            </a:r>
          </a:p>
          <a:p>
            <a:pPr lvl="1"/>
            <a:r>
              <a:rPr lang="en-US" dirty="0"/>
              <a:t>Authentication</a:t>
            </a:r>
          </a:p>
          <a:p>
            <a:pPr lvl="1"/>
            <a:r>
              <a:rPr lang="en-US" dirty="0"/>
              <a:t>Threat response</a:t>
            </a:r>
          </a:p>
          <a:p>
            <a:endParaRPr lang="en-US" dirty="0"/>
          </a:p>
        </p:txBody>
      </p:sp>
    </p:spTree>
    <p:extLst>
      <p:ext uri="{BB962C8B-B14F-4D97-AF65-F5344CB8AC3E}">
        <p14:creationId xmlns:p14="http://schemas.microsoft.com/office/powerpoint/2010/main" val="314980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7ECC-D790-ED0C-A3EF-DABB7414F6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C98214-6C73-ED5F-21A1-5CF4CB48BE35}"/>
              </a:ext>
            </a:extLst>
          </p:cNvPr>
          <p:cNvSpPr>
            <a:spLocks noGrp="1"/>
          </p:cNvSpPr>
          <p:nvPr>
            <p:ph idx="1"/>
          </p:nvPr>
        </p:nvSpPr>
        <p:spPr/>
        <p:txBody>
          <a:bodyPr>
            <a:normAutofit fontScale="70000" lnSpcReduction="20000"/>
          </a:bodyPr>
          <a:lstStyle/>
          <a:p>
            <a:r>
              <a:rPr lang="en-US" b="1" dirty="0"/>
              <a:t>Protection Against DDoS Attacks</a:t>
            </a:r>
            <a:br>
              <a:rPr lang="en-US" dirty="0"/>
            </a:br>
            <a:r>
              <a:rPr lang="en-US" dirty="0"/>
              <a:t>Distributed network reduces risk of server overload and botnet attacks.</a:t>
            </a:r>
          </a:p>
          <a:p>
            <a:r>
              <a:rPr lang="en-US" b="1" dirty="0"/>
              <a:t>Secure DNS Systems</a:t>
            </a:r>
            <a:br>
              <a:rPr lang="en-US" dirty="0"/>
            </a:br>
            <a:r>
              <a:rPr lang="en-US" dirty="0"/>
              <a:t>Blockchain-based DNS prevents domain hijacking and spoofing attacks.</a:t>
            </a:r>
          </a:p>
          <a:p>
            <a:r>
              <a:rPr lang="en-US" b="1" dirty="0"/>
              <a:t>Audit Trail &amp; Transparency</a:t>
            </a:r>
            <a:br>
              <a:rPr lang="en-US" dirty="0"/>
            </a:br>
            <a:r>
              <a:rPr lang="en-US" dirty="0"/>
              <a:t>All activities are recorded and traceable → improves forensic investigation and compliance.</a:t>
            </a:r>
          </a:p>
          <a:p>
            <a:r>
              <a:rPr lang="en-US" b="1" dirty="0"/>
              <a:t>Secure Software / Firmware Updates</a:t>
            </a:r>
            <a:br>
              <a:rPr lang="en-US" dirty="0"/>
            </a:br>
            <a:r>
              <a:rPr lang="en-US" dirty="0"/>
              <a:t>Blockchain verifies update source → prevents malicious or fake updates.</a:t>
            </a:r>
          </a:p>
          <a:p>
            <a:r>
              <a:rPr lang="en-US" b="1" dirty="0"/>
              <a:t>Zero-Trust Security Model</a:t>
            </a:r>
            <a:br>
              <a:rPr lang="en-US" dirty="0"/>
            </a:br>
            <a:r>
              <a:rPr lang="en-US" dirty="0"/>
              <a:t>Every user/device must be verified cryptographically before accessing system resources.</a:t>
            </a:r>
          </a:p>
          <a:p>
            <a:r>
              <a:rPr lang="en-US" b="1" dirty="0"/>
              <a:t>Fraud &amp; Data Breach Prevention</a:t>
            </a:r>
            <a:br>
              <a:rPr lang="en-US" dirty="0"/>
            </a:br>
            <a:r>
              <a:rPr lang="en-US" dirty="0"/>
              <a:t>Immutable and encrypted records reduce insider attacks and unauthorized data modification.</a:t>
            </a:r>
          </a:p>
          <a:p>
            <a:r>
              <a:rPr lang="en-US" b="1" dirty="0"/>
              <a:t>IoT &amp; Network Security Integration</a:t>
            </a:r>
            <a:br>
              <a:rPr lang="en-US" dirty="0"/>
            </a:br>
            <a:r>
              <a:rPr lang="en-US" dirty="0"/>
              <a:t>Blockchain secures communication between connected devices and networks.</a:t>
            </a:r>
          </a:p>
          <a:p>
            <a:endParaRPr lang="en-US" dirty="0"/>
          </a:p>
        </p:txBody>
      </p:sp>
    </p:spTree>
    <p:extLst>
      <p:ext uri="{BB962C8B-B14F-4D97-AF65-F5344CB8AC3E}">
        <p14:creationId xmlns:p14="http://schemas.microsoft.com/office/powerpoint/2010/main" val="2871930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2A85D-611E-F87A-0128-59678BC51263}"/>
              </a:ext>
            </a:extLst>
          </p:cNvPr>
          <p:cNvSpPr>
            <a:spLocks noGrp="1"/>
          </p:cNvSpPr>
          <p:nvPr>
            <p:ph type="title"/>
          </p:nvPr>
        </p:nvSpPr>
        <p:spPr/>
        <p:txBody>
          <a:bodyPr/>
          <a:lstStyle/>
          <a:p>
            <a:r>
              <a:rPr lang="en-US" dirty="0"/>
              <a:t>Real-Life Cybersecurity Use Cases (Blockchain)</a:t>
            </a:r>
          </a:p>
        </p:txBody>
      </p:sp>
      <p:sp>
        <p:nvSpPr>
          <p:cNvPr id="3" name="Content Placeholder 2">
            <a:extLst>
              <a:ext uri="{FF2B5EF4-FFF2-40B4-BE49-F238E27FC236}">
                <a16:creationId xmlns:a16="http://schemas.microsoft.com/office/drawing/2014/main" id="{4F2FEBE1-5144-54CC-4087-6CDCC700BCAB}"/>
              </a:ext>
            </a:extLst>
          </p:cNvPr>
          <p:cNvSpPr>
            <a:spLocks noGrp="1"/>
          </p:cNvSpPr>
          <p:nvPr>
            <p:ph idx="1"/>
          </p:nvPr>
        </p:nvSpPr>
        <p:spPr/>
        <p:txBody>
          <a:bodyPr>
            <a:normAutofit fontScale="85000" lnSpcReduction="20000"/>
          </a:bodyPr>
          <a:lstStyle/>
          <a:p>
            <a:r>
              <a:rPr lang="en-US" b="1" dirty="0"/>
              <a:t>Secure Digital Identity (Self-Sovereign Identity)</a:t>
            </a:r>
            <a:br>
              <a:rPr lang="en-US" dirty="0"/>
            </a:br>
            <a:r>
              <a:rPr lang="en-US" dirty="0"/>
              <a:t>Users control their own identity without central authority.</a:t>
            </a:r>
            <a:br>
              <a:rPr lang="en-US" dirty="0"/>
            </a:br>
            <a:r>
              <a:rPr lang="en-US" dirty="0"/>
              <a:t>Example: </a:t>
            </a:r>
            <a:r>
              <a:rPr lang="en-US" b="1" dirty="0"/>
              <a:t>Microsoft</a:t>
            </a:r>
            <a:r>
              <a:rPr lang="en-US" dirty="0"/>
              <a:t> uses blockchain-based decentralized identity systems to reduce identity theft.</a:t>
            </a:r>
          </a:p>
          <a:p>
            <a:r>
              <a:rPr lang="en-US" b="1" dirty="0"/>
              <a:t>Secure Financial Transactions</a:t>
            </a:r>
            <a:br>
              <a:rPr lang="en-US" dirty="0"/>
            </a:br>
            <a:r>
              <a:rPr lang="en-US" dirty="0"/>
              <a:t>Blockchain prevents fraud, double spending, and unauthorized changes in financial records.</a:t>
            </a:r>
            <a:br>
              <a:rPr lang="en-US" dirty="0"/>
            </a:br>
            <a:r>
              <a:rPr lang="en-US" dirty="0"/>
              <a:t>Example: </a:t>
            </a:r>
            <a:r>
              <a:rPr lang="en-US" b="1" dirty="0"/>
              <a:t>JPMorgan Chase</a:t>
            </a:r>
            <a:r>
              <a:rPr lang="en-US" dirty="0"/>
              <a:t> uses blockchain (Quorum) for secure and transparent transactions.</a:t>
            </a:r>
          </a:p>
          <a:p>
            <a:r>
              <a:rPr lang="en-US" b="1" dirty="0"/>
              <a:t>Supply Chain Security</a:t>
            </a:r>
            <a:br>
              <a:rPr lang="en-US" dirty="0"/>
            </a:br>
            <a:r>
              <a:rPr lang="en-US" dirty="0"/>
              <a:t>Protects products from tampering, counterfeiting, and fraud with immutable tracking.</a:t>
            </a:r>
            <a:br>
              <a:rPr lang="en-US" dirty="0"/>
            </a:br>
            <a:r>
              <a:rPr lang="en-US" dirty="0"/>
              <a:t>Example: </a:t>
            </a:r>
            <a:r>
              <a:rPr lang="en-US" b="1" dirty="0"/>
              <a:t>IBM</a:t>
            </a:r>
            <a:r>
              <a:rPr lang="en-US" dirty="0"/>
              <a:t> Food Trust blockchain secures supply chain data from manipulation.</a:t>
            </a:r>
          </a:p>
          <a:p>
            <a:endParaRPr lang="en-US" dirty="0"/>
          </a:p>
        </p:txBody>
      </p:sp>
    </p:spTree>
    <p:extLst>
      <p:ext uri="{BB962C8B-B14F-4D97-AF65-F5344CB8AC3E}">
        <p14:creationId xmlns:p14="http://schemas.microsoft.com/office/powerpoint/2010/main" val="34704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9D78-4336-7759-9BFE-3BD4E17420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740160-0000-667C-D1D9-0DE67930131C}"/>
              </a:ext>
            </a:extLst>
          </p:cNvPr>
          <p:cNvSpPr>
            <a:spLocks noGrp="1"/>
          </p:cNvSpPr>
          <p:nvPr>
            <p:ph idx="1"/>
          </p:nvPr>
        </p:nvSpPr>
        <p:spPr/>
        <p:txBody>
          <a:bodyPr>
            <a:normAutofit fontScale="77500" lnSpcReduction="20000"/>
          </a:bodyPr>
          <a:lstStyle/>
          <a:p>
            <a:r>
              <a:rPr lang="en-US" b="1" dirty="0"/>
              <a:t>Secure Medical Data Sharing</a:t>
            </a:r>
            <a:br>
              <a:rPr lang="en-US" dirty="0"/>
            </a:br>
            <a:r>
              <a:rPr lang="en-US" dirty="0"/>
              <a:t>Protects patient records using encryption and permission-based blockchain access.</a:t>
            </a:r>
            <a:br>
              <a:rPr lang="en-US" dirty="0"/>
            </a:br>
            <a:r>
              <a:rPr lang="en-US" dirty="0"/>
              <a:t>Example: </a:t>
            </a:r>
            <a:r>
              <a:rPr lang="en-US" b="1" dirty="0"/>
              <a:t>Estonian eHealth Authority</a:t>
            </a:r>
            <a:r>
              <a:rPr lang="en-US" dirty="0"/>
              <a:t> uses blockchain to secure national health records.</a:t>
            </a:r>
          </a:p>
          <a:p>
            <a:r>
              <a:rPr lang="en-US" b="1" dirty="0"/>
              <a:t>DNS &amp; Domain Security</a:t>
            </a:r>
            <a:br>
              <a:rPr lang="en-US" dirty="0"/>
            </a:br>
            <a:r>
              <a:rPr lang="en-US" dirty="0"/>
              <a:t>Blockchain-based DNS prevents domain hijacking and spoofing attacks.</a:t>
            </a:r>
            <a:br>
              <a:rPr lang="en-US" dirty="0"/>
            </a:br>
            <a:r>
              <a:rPr lang="en-US" dirty="0"/>
              <a:t>Example: </a:t>
            </a:r>
            <a:r>
              <a:rPr lang="en-US" b="1" dirty="0" err="1"/>
              <a:t>Namecoin</a:t>
            </a:r>
            <a:r>
              <a:rPr lang="en-US" dirty="0"/>
              <a:t> provides decentralized and secure domain name system.</a:t>
            </a:r>
          </a:p>
          <a:p>
            <a:r>
              <a:rPr lang="en-US" b="1" dirty="0"/>
              <a:t>Secure IoT Networks</a:t>
            </a:r>
            <a:br>
              <a:rPr lang="en-US" dirty="0"/>
            </a:br>
            <a:r>
              <a:rPr lang="en-US" dirty="0"/>
              <a:t>Blockchain protects communication between smart devices and prevents unauthorized control.</a:t>
            </a:r>
            <a:br>
              <a:rPr lang="en-US" dirty="0"/>
            </a:br>
            <a:r>
              <a:rPr lang="en-US" dirty="0"/>
              <a:t>Example: </a:t>
            </a:r>
            <a:r>
              <a:rPr lang="en-US" b="1" dirty="0"/>
              <a:t>IOTA</a:t>
            </a:r>
            <a:r>
              <a:rPr lang="en-US" dirty="0"/>
              <a:t> secures IoT data and device communication.</a:t>
            </a:r>
          </a:p>
          <a:p>
            <a:r>
              <a:rPr lang="en-US" b="1" dirty="0"/>
              <a:t>Software &amp; Firmware Integrity</a:t>
            </a:r>
            <a:br>
              <a:rPr lang="en-US" dirty="0"/>
            </a:br>
            <a:r>
              <a:rPr lang="en-US" dirty="0"/>
              <a:t>Blockchain verifies software updates to prevent malware or fake updates.</a:t>
            </a:r>
            <a:br>
              <a:rPr lang="en-US" dirty="0"/>
            </a:br>
            <a:r>
              <a:rPr lang="en-US" dirty="0"/>
              <a:t>Used in enterprise and industrial cybersecurity systems.</a:t>
            </a:r>
          </a:p>
          <a:p>
            <a:endParaRPr lang="en-US" dirty="0"/>
          </a:p>
        </p:txBody>
      </p:sp>
    </p:spTree>
    <p:extLst>
      <p:ext uri="{BB962C8B-B14F-4D97-AF65-F5344CB8AC3E}">
        <p14:creationId xmlns:p14="http://schemas.microsoft.com/office/powerpoint/2010/main" val="372125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1D17-2410-DA9E-AEA7-ECAD33612D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95D0C8-23D1-DAA4-1186-26C0CA4D2132}"/>
              </a:ext>
            </a:extLst>
          </p:cNvPr>
          <p:cNvSpPr>
            <a:spLocks noGrp="1"/>
          </p:cNvSpPr>
          <p:nvPr>
            <p:ph idx="1"/>
          </p:nvPr>
        </p:nvSpPr>
        <p:spPr/>
        <p:txBody>
          <a:bodyPr>
            <a:normAutofit fontScale="92500"/>
          </a:bodyPr>
          <a:lstStyle/>
          <a:p>
            <a:r>
              <a:rPr lang="en-US" b="1" dirty="0"/>
              <a:t>Secure Voting Systems</a:t>
            </a:r>
            <a:br>
              <a:rPr lang="en-US" dirty="0"/>
            </a:br>
            <a:r>
              <a:rPr lang="en-US" dirty="0"/>
              <a:t>Prevents vote tampering and ensures transparent election records.</a:t>
            </a:r>
            <a:br>
              <a:rPr lang="en-US" dirty="0"/>
            </a:br>
            <a:r>
              <a:rPr lang="en-US" dirty="0"/>
              <a:t>Example: </a:t>
            </a:r>
            <a:r>
              <a:rPr lang="en-US" b="1" dirty="0" err="1"/>
              <a:t>Voatz</a:t>
            </a:r>
            <a:r>
              <a:rPr lang="en-US" dirty="0"/>
              <a:t> tested blockchain-based secure voting.</a:t>
            </a:r>
          </a:p>
          <a:p>
            <a:r>
              <a:rPr lang="en-US" b="1" dirty="0"/>
              <a:t>Cyber Threat Intelligence Sharing</a:t>
            </a:r>
            <a:br>
              <a:rPr lang="en-US" dirty="0"/>
            </a:br>
            <a:r>
              <a:rPr lang="en-US" dirty="0"/>
              <a:t>Organizations securely share threat data without exposing sensitive information.</a:t>
            </a:r>
            <a:br>
              <a:rPr lang="en-US" dirty="0"/>
            </a:br>
            <a:r>
              <a:rPr lang="en-US" dirty="0"/>
              <a:t>Helps detect and prevent cyberattacks faster.</a:t>
            </a:r>
          </a:p>
          <a:p>
            <a:r>
              <a:rPr lang="en-US" b="1" dirty="0"/>
              <a:t>Secure Cloud Storage</a:t>
            </a:r>
            <a:br>
              <a:rPr lang="en-US" dirty="0"/>
            </a:br>
            <a:r>
              <a:rPr lang="en-US" dirty="0"/>
              <a:t>Blockchain ensures data integrity and prevents unauthorized modification in cloud systems.</a:t>
            </a:r>
            <a:br>
              <a:rPr lang="en-US" dirty="0"/>
            </a:br>
            <a:r>
              <a:rPr lang="en-US" dirty="0"/>
              <a:t>Example: </a:t>
            </a:r>
            <a:r>
              <a:rPr lang="en-US" b="1" dirty="0" err="1"/>
              <a:t>Storj</a:t>
            </a:r>
            <a:r>
              <a:rPr lang="en-US" dirty="0"/>
              <a:t> uses blockchain for secure distributed storage.</a:t>
            </a:r>
          </a:p>
          <a:p>
            <a:endParaRPr lang="en-US" dirty="0"/>
          </a:p>
        </p:txBody>
      </p:sp>
    </p:spTree>
    <p:extLst>
      <p:ext uri="{BB962C8B-B14F-4D97-AF65-F5344CB8AC3E}">
        <p14:creationId xmlns:p14="http://schemas.microsoft.com/office/powerpoint/2010/main" val="3538632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5C88-790B-69C9-60DC-6A0B446A44C9}"/>
              </a:ext>
            </a:extLst>
          </p:cNvPr>
          <p:cNvSpPr>
            <a:spLocks noGrp="1"/>
          </p:cNvSpPr>
          <p:nvPr>
            <p:ph type="title"/>
          </p:nvPr>
        </p:nvSpPr>
        <p:spPr/>
        <p:txBody>
          <a:bodyPr/>
          <a:lstStyle/>
          <a:p>
            <a:r>
              <a:rPr lang="en-US" dirty="0"/>
              <a:t>Advantages vs Challenges table</a:t>
            </a:r>
          </a:p>
        </p:txBody>
      </p:sp>
      <p:graphicFrame>
        <p:nvGraphicFramePr>
          <p:cNvPr id="8" name="Content Placeholder 7">
            <a:extLst>
              <a:ext uri="{FF2B5EF4-FFF2-40B4-BE49-F238E27FC236}">
                <a16:creationId xmlns:a16="http://schemas.microsoft.com/office/drawing/2014/main" id="{AAF09C37-51B6-B1C0-1128-C28C9BFA6893}"/>
              </a:ext>
            </a:extLst>
          </p:cNvPr>
          <p:cNvGraphicFramePr>
            <a:graphicFrameLocks noGrp="1"/>
          </p:cNvGraphicFramePr>
          <p:nvPr>
            <p:ph idx="1"/>
            <p:extLst>
              <p:ext uri="{D42A27DB-BD31-4B8C-83A1-F6EECF244321}">
                <p14:modId xmlns:p14="http://schemas.microsoft.com/office/powerpoint/2010/main" val="128338136"/>
              </p:ext>
            </p:extLst>
          </p:nvPr>
        </p:nvGraphicFramePr>
        <p:xfrm>
          <a:off x="838200" y="1825625"/>
          <a:ext cx="7054770" cy="4667248"/>
        </p:xfrm>
        <a:graphic>
          <a:graphicData uri="http://schemas.openxmlformats.org/drawingml/2006/table">
            <a:tbl>
              <a:tblPr/>
              <a:tblGrid>
                <a:gridCol w="2351590">
                  <a:extLst>
                    <a:ext uri="{9D8B030D-6E8A-4147-A177-3AD203B41FA5}">
                      <a16:colId xmlns:a16="http://schemas.microsoft.com/office/drawing/2014/main" val="3189597090"/>
                    </a:ext>
                  </a:extLst>
                </a:gridCol>
                <a:gridCol w="2351590">
                  <a:extLst>
                    <a:ext uri="{9D8B030D-6E8A-4147-A177-3AD203B41FA5}">
                      <a16:colId xmlns:a16="http://schemas.microsoft.com/office/drawing/2014/main" val="4267546533"/>
                    </a:ext>
                  </a:extLst>
                </a:gridCol>
                <a:gridCol w="2351590">
                  <a:extLst>
                    <a:ext uri="{9D8B030D-6E8A-4147-A177-3AD203B41FA5}">
                      <a16:colId xmlns:a16="http://schemas.microsoft.com/office/drawing/2014/main" val="2705146867"/>
                    </a:ext>
                  </a:extLst>
                </a:gridCol>
              </a:tblGrid>
              <a:tr h="205154">
                <a:tc>
                  <a:txBody>
                    <a:bodyPr/>
                    <a:lstStyle/>
                    <a:p>
                      <a:pPr>
                        <a:buNone/>
                      </a:pPr>
                      <a:r>
                        <a:rPr lang="en-US" sz="900" b="1"/>
                        <a:t>Aspect</a:t>
                      </a:r>
                      <a:endParaRPr lang="en-US" sz="900"/>
                    </a:p>
                  </a:txBody>
                  <a:tcPr marL="47817" marR="47817" marT="23908" marB="23908" anchor="ctr">
                    <a:lnL>
                      <a:noFill/>
                    </a:lnL>
                    <a:lnR>
                      <a:noFill/>
                    </a:lnR>
                    <a:lnT>
                      <a:noFill/>
                    </a:lnT>
                    <a:lnB>
                      <a:noFill/>
                    </a:lnB>
                    <a:noFill/>
                  </a:tcPr>
                </a:tc>
                <a:tc>
                  <a:txBody>
                    <a:bodyPr/>
                    <a:lstStyle/>
                    <a:p>
                      <a:pPr>
                        <a:buNone/>
                      </a:pPr>
                      <a:r>
                        <a:rPr lang="en-US" sz="900" b="1"/>
                        <a:t>Advantages</a:t>
                      </a:r>
                      <a:endParaRPr lang="en-US" sz="900"/>
                    </a:p>
                  </a:txBody>
                  <a:tcPr marL="47817" marR="47817" marT="23908" marB="23908" anchor="ctr">
                    <a:lnL>
                      <a:noFill/>
                    </a:lnL>
                    <a:lnR>
                      <a:noFill/>
                    </a:lnR>
                    <a:lnT>
                      <a:noFill/>
                    </a:lnT>
                    <a:lnB>
                      <a:noFill/>
                    </a:lnB>
                    <a:noFill/>
                  </a:tcPr>
                </a:tc>
                <a:tc>
                  <a:txBody>
                    <a:bodyPr/>
                    <a:lstStyle/>
                    <a:p>
                      <a:pPr>
                        <a:buNone/>
                      </a:pPr>
                      <a:r>
                        <a:rPr lang="en-US" sz="900" b="1"/>
                        <a:t>Challenges / Limitations</a:t>
                      </a:r>
                      <a:endParaRPr lang="en-US" sz="900"/>
                    </a:p>
                  </a:txBody>
                  <a:tcPr marL="47817" marR="47817" marT="23908" marB="23908" anchor="ctr">
                    <a:lnL>
                      <a:noFill/>
                    </a:lnL>
                    <a:lnR>
                      <a:noFill/>
                    </a:lnR>
                    <a:lnT>
                      <a:noFill/>
                    </a:lnT>
                    <a:lnB>
                      <a:noFill/>
                    </a:lnB>
                    <a:noFill/>
                  </a:tcPr>
                </a:tc>
                <a:extLst>
                  <a:ext uri="{0D108BD9-81ED-4DB2-BD59-A6C34878D82A}">
                    <a16:rowId xmlns:a16="http://schemas.microsoft.com/office/drawing/2014/main" val="3510436136"/>
                  </a:ext>
                </a:extLst>
              </a:tr>
              <a:tr h="512885">
                <a:tc>
                  <a:txBody>
                    <a:bodyPr/>
                    <a:lstStyle/>
                    <a:p>
                      <a:pPr>
                        <a:buNone/>
                      </a:pPr>
                      <a:r>
                        <a:rPr lang="en-US" sz="900" b="1"/>
                        <a:t>Security</a:t>
                      </a:r>
                      <a:endParaRPr lang="en-US" sz="900"/>
                    </a:p>
                  </a:txBody>
                  <a:tcPr marL="47817" marR="47817" marT="23908" marB="23908" anchor="ctr">
                    <a:lnL>
                      <a:noFill/>
                    </a:lnL>
                    <a:lnR>
                      <a:noFill/>
                    </a:lnR>
                    <a:lnT>
                      <a:noFill/>
                    </a:lnT>
                    <a:lnB>
                      <a:noFill/>
                    </a:lnB>
                    <a:noFill/>
                  </a:tcPr>
                </a:tc>
                <a:tc>
                  <a:txBody>
                    <a:bodyPr/>
                    <a:lstStyle/>
                    <a:p>
                      <a:pPr>
                        <a:buNone/>
                      </a:pPr>
                      <a:r>
                        <a:rPr lang="en-US" sz="900"/>
                        <a:t>Strong cryptography protects data from unauthorized access</a:t>
                      </a:r>
                    </a:p>
                  </a:txBody>
                  <a:tcPr marL="47817" marR="47817" marT="23908" marB="23908" anchor="ctr">
                    <a:lnL>
                      <a:noFill/>
                    </a:lnL>
                    <a:lnR>
                      <a:noFill/>
                    </a:lnR>
                    <a:lnT>
                      <a:noFill/>
                    </a:lnT>
                    <a:lnB>
                      <a:noFill/>
                    </a:lnB>
                    <a:noFill/>
                  </a:tcPr>
                </a:tc>
                <a:tc>
                  <a:txBody>
                    <a:bodyPr/>
                    <a:lstStyle/>
                    <a:p>
                      <a:pPr>
                        <a:buNone/>
                      </a:pPr>
                      <a:r>
                        <a:rPr lang="en-US" sz="900"/>
                        <a:t>Vulnerable endpoints (devices/users) can still be attacked</a:t>
                      </a:r>
                    </a:p>
                  </a:txBody>
                  <a:tcPr marL="47817" marR="47817" marT="23908" marB="23908" anchor="ctr">
                    <a:lnL>
                      <a:noFill/>
                    </a:lnL>
                    <a:lnR>
                      <a:noFill/>
                    </a:lnR>
                    <a:lnT>
                      <a:noFill/>
                    </a:lnT>
                    <a:lnB>
                      <a:noFill/>
                    </a:lnB>
                    <a:noFill/>
                  </a:tcPr>
                </a:tc>
                <a:extLst>
                  <a:ext uri="{0D108BD9-81ED-4DB2-BD59-A6C34878D82A}">
                    <a16:rowId xmlns:a16="http://schemas.microsoft.com/office/drawing/2014/main" val="1488673864"/>
                  </a:ext>
                </a:extLst>
              </a:tr>
              <a:tr h="359019">
                <a:tc>
                  <a:txBody>
                    <a:bodyPr/>
                    <a:lstStyle/>
                    <a:p>
                      <a:pPr>
                        <a:buNone/>
                      </a:pPr>
                      <a:r>
                        <a:rPr lang="en-US" sz="900" b="1"/>
                        <a:t>Data Integrity</a:t>
                      </a:r>
                      <a:endParaRPr lang="en-US" sz="900"/>
                    </a:p>
                  </a:txBody>
                  <a:tcPr marL="47817" marR="47817" marT="23908" marB="23908" anchor="ctr">
                    <a:lnL>
                      <a:noFill/>
                    </a:lnL>
                    <a:lnR>
                      <a:noFill/>
                    </a:lnR>
                    <a:lnT>
                      <a:noFill/>
                    </a:lnT>
                    <a:lnB>
                      <a:noFill/>
                    </a:lnB>
                    <a:noFill/>
                  </a:tcPr>
                </a:tc>
                <a:tc>
                  <a:txBody>
                    <a:bodyPr/>
                    <a:lstStyle/>
                    <a:p>
                      <a:pPr>
                        <a:buNone/>
                      </a:pPr>
                      <a:r>
                        <a:rPr lang="en-US" sz="900"/>
                        <a:t>Immutable and tamper-proof records</a:t>
                      </a:r>
                    </a:p>
                  </a:txBody>
                  <a:tcPr marL="47817" marR="47817" marT="23908" marB="23908" anchor="ctr">
                    <a:lnL>
                      <a:noFill/>
                    </a:lnL>
                    <a:lnR>
                      <a:noFill/>
                    </a:lnR>
                    <a:lnT>
                      <a:noFill/>
                    </a:lnT>
                    <a:lnB>
                      <a:noFill/>
                    </a:lnB>
                    <a:noFill/>
                  </a:tcPr>
                </a:tc>
                <a:tc>
                  <a:txBody>
                    <a:bodyPr/>
                    <a:lstStyle/>
                    <a:p>
                      <a:pPr>
                        <a:buNone/>
                      </a:pPr>
                      <a:r>
                        <a:rPr lang="en-US" sz="900"/>
                        <a:t>Incorrect data cannot be easily modified</a:t>
                      </a:r>
                    </a:p>
                  </a:txBody>
                  <a:tcPr marL="47817" marR="47817" marT="23908" marB="23908" anchor="ctr">
                    <a:lnL>
                      <a:noFill/>
                    </a:lnL>
                    <a:lnR>
                      <a:noFill/>
                    </a:lnR>
                    <a:lnT>
                      <a:noFill/>
                    </a:lnT>
                    <a:lnB>
                      <a:noFill/>
                    </a:lnB>
                    <a:noFill/>
                  </a:tcPr>
                </a:tc>
                <a:extLst>
                  <a:ext uri="{0D108BD9-81ED-4DB2-BD59-A6C34878D82A}">
                    <a16:rowId xmlns:a16="http://schemas.microsoft.com/office/drawing/2014/main" val="3872302987"/>
                  </a:ext>
                </a:extLst>
              </a:tr>
              <a:tr h="359019">
                <a:tc>
                  <a:txBody>
                    <a:bodyPr/>
                    <a:lstStyle/>
                    <a:p>
                      <a:pPr>
                        <a:buNone/>
                      </a:pPr>
                      <a:r>
                        <a:rPr lang="en-US" sz="900" b="1"/>
                        <a:t>Decentralization</a:t>
                      </a:r>
                      <a:endParaRPr lang="en-US" sz="900"/>
                    </a:p>
                  </a:txBody>
                  <a:tcPr marL="47817" marR="47817" marT="23908" marB="23908" anchor="ctr">
                    <a:lnL>
                      <a:noFill/>
                    </a:lnL>
                    <a:lnR>
                      <a:noFill/>
                    </a:lnR>
                    <a:lnT>
                      <a:noFill/>
                    </a:lnT>
                    <a:lnB>
                      <a:noFill/>
                    </a:lnB>
                    <a:noFill/>
                  </a:tcPr>
                </a:tc>
                <a:tc>
                  <a:txBody>
                    <a:bodyPr/>
                    <a:lstStyle/>
                    <a:p>
                      <a:pPr>
                        <a:buNone/>
                      </a:pPr>
                      <a:r>
                        <a:rPr lang="en-US" sz="900"/>
                        <a:t>No single point of failure</a:t>
                      </a:r>
                    </a:p>
                  </a:txBody>
                  <a:tcPr marL="47817" marR="47817" marT="23908" marB="23908" anchor="ctr">
                    <a:lnL>
                      <a:noFill/>
                    </a:lnL>
                    <a:lnR>
                      <a:noFill/>
                    </a:lnR>
                    <a:lnT>
                      <a:noFill/>
                    </a:lnT>
                    <a:lnB>
                      <a:noFill/>
                    </a:lnB>
                    <a:noFill/>
                  </a:tcPr>
                </a:tc>
                <a:tc>
                  <a:txBody>
                    <a:bodyPr/>
                    <a:lstStyle/>
                    <a:p>
                      <a:pPr>
                        <a:buNone/>
                      </a:pPr>
                      <a:r>
                        <a:rPr lang="en-US" sz="900"/>
                        <a:t>Difficult to manage and control decentralized systems</a:t>
                      </a:r>
                    </a:p>
                  </a:txBody>
                  <a:tcPr marL="47817" marR="47817" marT="23908" marB="23908" anchor="ctr">
                    <a:lnL>
                      <a:noFill/>
                    </a:lnL>
                    <a:lnR>
                      <a:noFill/>
                    </a:lnR>
                    <a:lnT>
                      <a:noFill/>
                    </a:lnT>
                    <a:lnB>
                      <a:noFill/>
                    </a:lnB>
                    <a:noFill/>
                  </a:tcPr>
                </a:tc>
                <a:extLst>
                  <a:ext uri="{0D108BD9-81ED-4DB2-BD59-A6C34878D82A}">
                    <a16:rowId xmlns:a16="http://schemas.microsoft.com/office/drawing/2014/main" val="15307148"/>
                  </a:ext>
                </a:extLst>
              </a:tr>
              <a:tr h="359019">
                <a:tc>
                  <a:txBody>
                    <a:bodyPr/>
                    <a:lstStyle/>
                    <a:p>
                      <a:pPr>
                        <a:buNone/>
                      </a:pPr>
                      <a:r>
                        <a:rPr lang="en-US" sz="900" b="1"/>
                        <a:t>Transparency</a:t>
                      </a:r>
                      <a:endParaRPr lang="en-US" sz="900"/>
                    </a:p>
                  </a:txBody>
                  <a:tcPr marL="47817" marR="47817" marT="23908" marB="23908" anchor="ctr">
                    <a:lnL>
                      <a:noFill/>
                    </a:lnL>
                    <a:lnR>
                      <a:noFill/>
                    </a:lnR>
                    <a:lnT>
                      <a:noFill/>
                    </a:lnT>
                    <a:lnB>
                      <a:noFill/>
                    </a:lnB>
                    <a:noFill/>
                  </a:tcPr>
                </a:tc>
                <a:tc>
                  <a:txBody>
                    <a:bodyPr/>
                    <a:lstStyle/>
                    <a:p>
                      <a:pPr>
                        <a:buNone/>
                      </a:pPr>
                      <a:r>
                        <a:rPr lang="en-US" sz="900"/>
                        <a:t>Activities are traceable and auditable</a:t>
                      </a:r>
                    </a:p>
                  </a:txBody>
                  <a:tcPr marL="47817" marR="47817" marT="23908" marB="23908" anchor="ctr">
                    <a:lnL>
                      <a:noFill/>
                    </a:lnL>
                    <a:lnR>
                      <a:noFill/>
                    </a:lnR>
                    <a:lnT>
                      <a:noFill/>
                    </a:lnT>
                    <a:lnB>
                      <a:noFill/>
                    </a:lnB>
                    <a:noFill/>
                  </a:tcPr>
                </a:tc>
                <a:tc>
                  <a:txBody>
                    <a:bodyPr/>
                    <a:lstStyle/>
                    <a:p>
                      <a:pPr>
                        <a:buNone/>
                      </a:pPr>
                      <a:r>
                        <a:rPr lang="en-US" sz="900"/>
                        <a:t>May expose sensitive information if not properly encrypted</a:t>
                      </a:r>
                    </a:p>
                  </a:txBody>
                  <a:tcPr marL="47817" marR="47817" marT="23908" marB="23908" anchor="ctr">
                    <a:lnL>
                      <a:noFill/>
                    </a:lnL>
                    <a:lnR>
                      <a:noFill/>
                    </a:lnR>
                    <a:lnT>
                      <a:noFill/>
                    </a:lnT>
                    <a:lnB>
                      <a:noFill/>
                    </a:lnB>
                    <a:noFill/>
                  </a:tcPr>
                </a:tc>
                <a:extLst>
                  <a:ext uri="{0D108BD9-81ED-4DB2-BD59-A6C34878D82A}">
                    <a16:rowId xmlns:a16="http://schemas.microsoft.com/office/drawing/2014/main" val="4167880662"/>
                  </a:ext>
                </a:extLst>
              </a:tr>
              <a:tr h="359019">
                <a:tc>
                  <a:txBody>
                    <a:bodyPr/>
                    <a:lstStyle/>
                    <a:p>
                      <a:pPr>
                        <a:buNone/>
                      </a:pPr>
                      <a:r>
                        <a:rPr lang="en-US" sz="900" b="1" dirty="0"/>
                        <a:t>Authentication</a:t>
                      </a:r>
                      <a:endParaRPr lang="en-US" sz="900" dirty="0"/>
                    </a:p>
                  </a:txBody>
                  <a:tcPr marL="47817" marR="47817" marT="23908" marB="23908" anchor="ctr">
                    <a:lnL>
                      <a:noFill/>
                    </a:lnL>
                    <a:lnR>
                      <a:noFill/>
                    </a:lnR>
                    <a:lnT>
                      <a:noFill/>
                    </a:lnT>
                    <a:lnB>
                      <a:noFill/>
                    </a:lnB>
                    <a:noFill/>
                  </a:tcPr>
                </a:tc>
                <a:tc>
                  <a:txBody>
                    <a:bodyPr/>
                    <a:lstStyle/>
                    <a:p>
                      <a:pPr>
                        <a:buNone/>
                      </a:pPr>
                      <a:r>
                        <a:rPr lang="en-US" sz="900"/>
                        <a:t>Strong identity verification using cryptographic keys</a:t>
                      </a:r>
                    </a:p>
                  </a:txBody>
                  <a:tcPr marL="47817" marR="47817" marT="23908" marB="23908" anchor="ctr">
                    <a:lnL>
                      <a:noFill/>
                    </a:lnL>
                    <a:lnR>
                      <a:noFill/>
                    </a:lnR>
                    <a:lnT>
                      <a:noFill/>
                    </a:lnT>
                    <a:lnB>
                      <a:noFill/>
                    </a:lnB>
                    <a:noFill/>
                  </a:tcPr>
                </a:tc>
                <a:tc>
                  <a:txBody>
                    <a:bodyPr/>
                    <a:lstStyle/>
                    <a:p>
                      <a:pPr>
                        <a:buNone/>
                      </a:pPr>
                      <a:r>
                        <a:rPr lang="en-US" sz="900"/>
                        <a:t>Key management is complex</a:t>
                      </a:r>
                    </a:p>
                  </a:txBody>
                  <a:tcPr marL="47817" marR="47817" marT="23908" marB="23908" anchor="ctr">
                    <a:lnL>
                      <a:noFill/>
                    </a:lnL>
                    <a:lnR>
                      <a:noFill/>
                    </a:lnR>
                    <a:lnT>
                      <a:noFill/>
                    </a:lnT>
                    <a:lnB>
                      <a:noFill/>
                    </a:lnB>
                    <a:noFill/>
                  </a:tcPr>
                </a:tc>
                <a:extLst>
                  <a:ext uri="{0D108BD9-81ED-4DB2-BD59-A6C34878D82A}">
                    <a16:rowId xmlns:a16="http://schemas.microsoft.com/office/drawing/2014/main" val="779955221"/>
                  </a:ext>
                </a:extLst>
              </a:tr>
              <a:tr h="359019">
                <a:tc>
                  <a:txBody>
                    <a:bodyPr/>
                    <a:lstStyle/>
                    <a:p>
                      <a:pPr>
                        <a:buNone/>
                      </a:pPr>
                      <a:r>
                        <a:rPr lang="en-US" sz="900" b="1"/>
                        <a:t>DDoS Protection</a:t>
                      </a:r>
                      <a:endParaRPr lang="en-US" sz="900"/>
                    </a:p>
                  </a:txBody>
                  <a:tcPr marL="47817" marR="47817" marT="23908" marB="23908" anchor="ctr">
                    <a:lnL>
                      <a:noFill/>
                    </a:lnL>
                    <a:lnR>
                      <a:noFill/>
                    </a:lnR>
                    <a:lnT>
                      <a:noFill/>
                    </a:lnT>
                    <a:lnB>
                      <a:noFill/>
                    </a:lnB>
                    <a:noFill/>
                  </a:tcPr>
                </a:tc>
                <a:tc>
                  <a:txBody>
                    <a:bodyPr/>
                    <a:lstStyle/>
                    <a:p>
                      <a:pPr>
                        <a:buNone/>
                      </a:pPr>
                      <a:r>
                        <a:rPr lang="en-US" sz="900"/>
                        <a:t>Distributed structure reduces large-scale attacks</a:t>
                      </a:r>
                    </a:p>
                  </a:txBody>
                  <a:tcPr marL="47817" marR="47817" marT="23908" marB="23908" anchor="ctr">
                    <a:lnL>
                      <a:noFill/>
                    </a:lnL>
                    <a:lnR>
                      <a:noFill/>
                    </a:lnR>
                    <a:lnT>
                      <a:noFill/>
                    </a:lnT>
                    <a:lnB>
                      <a:noFill/>
                    </a:lnB>
                    <a:noFill/>
                  </a:tcPr>
                </a:tc>
                <a:tc>
                  <a:txBody>
                    <a:bodyPr/>
                    <a:lstStyle/>
                    <a:p>
                      <a:pPr>
                        <a:buNone/>
                      </a:pPr>
                      <a:r>
                        <a:rPr lang="en-US" sz="900"/>
                        <a:t>Not fully immune to network-level attacks</a:t>
                      </a:r>
                    </a:p>
                  </a:txBody>
                  <a:tcPr marL="47817" marR="47817" marT="23908" marB="23908" anchor="ctr">
                    <a:lnL>
                      <a:noFill/>
                    </a:lnL>
                    <a:lnR>
                      <a:noFill/>
                    </a:lnR>
                    <a:lnT>
                      <a:noFill/>
                    </a:lnT>
                    <a:lnB>
                      <a:noFill/>
                    </a:lnB>
                    <a:noFill/>
                  </a:tcPr>
                </a:tc>
                <a:extLst>
                  <a:ext uri="{0D108BD9-81ED-4DB2-BD59-A6C34878D82A}">
                    <a16:rowId xmlns:a16="http://schemas.microsoft.com/office/drawing/2014/main" val="1368758208"/>
                  </a:ext>
                </a:extLst>
              </a:tr>
              <a:tr h="359019">
                <a:tc>
                  <a:txBody>
                    <a:bodyPr/>
                    <a:lstStyle/>
                    <a:p>
                      <a:pPr>
                        <a:buNone/>
                      </a:pPr>
                      <a:r>
                        <a:rPr lang="en-US" sz="900" b="1"/>
                        <a:t>Automation</a:t>
                      </a:r>
                      <a:endParaRPr lang="en-US" sz="900"/>
                    </a:p>
                  </a:txBody>
                  <a:tcPr marL="47817" marR="47817" marT="23908" marB="23908" anchor="ctr">
                    <a:lnL>
                      <a:noFill/>
                    </a:lnL>
                    <a:lnR>
                      <a:noFill/>
                    </a:lnR>
                    <a:lnT>
                      <a:noFill/>
                    </a:lnT>
                    <a:lnB>
                      <a:noFill/>
                    </a:lnB>
                    <a:noFill/>
                  </a:tcPr>
                </a:tc>
                <a:tc>
                  <a:txBody>
                    <a:bodyPr/>
                    <a:lstStyle/>
                    <a:p>
                      <a:pPr>
                        <a:buNone/>
                      </a:pPr>
                      <a:r>
                        <a:rPr lang="en-US" sz="900"/>
                        <a:t>Smart contracts automate security policies and responses</a:t>
                      </a:r>
                    </a:p>
                  </a:txBody>
                  <a:tcPr marL="47817" marR="47817" marT="23908" marB="23908" anchor="ctr">
                    <a:lnL>
                      <a:noFill/>
                    </a:lnL>
                    <a:lnR>
                      <a:noFill/>
                    </a:lnR>
                    <a:lnT>
                      <a:noFill/>
                    </a:lnT>
                    <a:lnB>
                      <a:noFill/>
                    </a:lnB>
                    <a:noFill/>
                  </a:tcPr>
                </a:tc>
                <a:tc>
                  <a:txBody>
                    <a:bodyPr/>
                    <a:lstStyle/>
                    <a:p>
                      <a:pPr>
                        <a:buNone/>
                      </a:pPr>
                      <a:r>
                        <a:rPr lang="en-US" sz="900"/>
                        <a:t>Smart contract bugs may create vulnerabilities</a:t>
                      </a:r>
                    </a:p>
                  </a:txBody>
                  <a:tcPr marL="47817" marR="47817" marT="23908" marB="23908" anchor="ctr">
                    <a:lnL>
                      <a:noFill/>
                    </a:lnL>
                    <a:lnR>
                      <a:noFill/>
                    </a:lnR>
                    <a:lnT>
                      <a:noFill/>
                    </a:lnT>
                    <a:lnB>
                      <a:noFill/>
                    </a:lnB>
                    <a:noFill/>
                  </a:tcPr>
                </a:tc>
                <a:extLst>
                  <a:ext uri="{0D108BD9-81ED-4DB2-BD59-A6C34878D82A}">
                    <a16:rowId xmlns:a16="http://schemas.microsoft.com/office/drawing/2014/main" val="4106906791"/>
                  </a:ext>
                </a:extLst>
              </a:tr>
              <a:tr h="359019">
                <a:tc>
                  <a:txBody>
                    <a:bodyPr/>
                    <a:lstStyle/>
                    <a:p>
                      <a:pPr>
                        <a:buNone/>
                      </a:pPr>
                      <a:r>
                        <a:rPr lang="en-US" sz="900" b="1" dirty="0"/>
                        <a:t>Trust Model</a:t>
                      </a:r>
                      <a:endParaRPr lang="en-US" sz="900" dirty="0"/>
                    </a:p>
                  </a:txBody>
                  <a:tcPr marL="47817" marR="47817" marT="23908" marB="23908" anchor="ctr">
                    <a:lnL>
                      <a:noFill/>
                    </a:lnL>
                    <a:lnR>
                      <a:noFill/>
                    </a:lnR>
                    <a:lnT>
                      <a:noFill/>
                    </a:lnT>
                    <a:lnB>
                      <a:noFill/>
                    </a:lnB>
                    <a:noFill/>
                  </a:tcPr>
                </a:tc>
                <a:tc>
                  <a:txBody>
                    <a:bodyPr/>
                    <a:lstStyle/>
                    <a:p>
                      <a:pPr>
                        <a:buNone/>
                      </a:pPr>
                      <a:r>
                        <a:rPr lang="en-US" sz="900"/>
                        <a:t>Trustless system removes need for third party</a:t>
                      </a:r>
                    </a:p>
                  </a:txBody>
                  <a:tcPr marL="47817" marR="47817" marT="23908" marB="23908" anchor="ctr">
                    <a:lnL>
                      <a:noFill/>
                    </a:lnL>
                    <a:lnR>
                      <a:noFill/>
                    </a:lnR>
                    <a:lnT>
                      <a:noFill/>
                    </a:lnT>
                    <a:lnB>
                      <a:noFill/>
                    </a:lnB>
                    <a:noFill/>
                  </a:tcPr>
                </a:tc>
                <a:tc>
                  <a:txBody>
                    <a:bodyPr/>
                    <a:lstStyle/>
                    <a:p>
                      <a:pPr>
                        <a:buNone/>
                      </a:pPr>
                      <a:r>
                        <a:rPr lang="en-US" sz="900"/>
                        <a:t>Integration with legacy security systems is complex</a:t>
                      </a:r>
                    </a:p>
                  </a:txBody>
                  <a:tcPr marL="47817" marR="47817" marT="23908" marB="23908" anchor="ctr">
                    <a:lnL>
                      <a:noFill/>
                    </a:lnL>
                    <a:lnR>
                      <a:noFill/>
                    </a:lnR>
                    <a:lnT>
                      <a:noFill/>
                    </a:lnT>
                    <a:lnB>
                      <a:noFill/>
                    </a:lnB>
                    <a:noFill/>
                  </a:tcPr>
                </a:tc>
                <a:extLst>
                  <a:ext uri="{0D108BD9-81ED-4DB2-BD59-A6C34878D82A}">
                    <a16:rowId xmlns:a16="http://schemas.microsoft.com/office/drawing/2014/main" val="853759724"/>
                  </a:ext>
                </a:extLst>
              </a:tr>
              <a:tr h="359019">
                <a:tc>
                  <a:txBody>
                    <a:bodyPr/>
                    <a:lstStyle/>
                    <a:p>
                      <a:pPr>
                        <a:buNone/>
                      </a:pPr>
                      <a:r>
                        <a:rPr lang="en-US" sz="900" b="1"/>
                        <a:t>Cost Efficiency (Long-term)</a:t>
                      </a:r>
                      <a:endParaRPr lang="en-US" sz="900"/>
                    </a:p>
                  </a:txBody>
                  <a:tcPr marL="47817" marR="47817" marT="23908" marB="23908" anchor="ctr">
                    <a:lnL>
                      <a:noFill/>
                    </a:lnL>
                    <a:lnR>
                      <a:noFill/>
                    </a:lnR>
                    <a:lnT>
                      <a:noFill/>
                    </a:lnT>
                    <a:lnB>
                      <a:noFill/>
                    </a:lnB>
                    <a:noFill/>
                  </a:tcPr>
                </a:tc>
                <a:tc>
                  <a:txBody>
                    <a:bodyPr/>
                    <a:lstStyle/>
                    <a:p>
                      <a:pPr>
                        <a:buNone/>
                      </a:pPr>
                      <a:r>
                        <a:rPr lang="en-US" sz="900"/>
                        <a:t>Reduces fraud, intermediaries, and manual security checks</a:t>
                      </a:r>
                    </a:p>
                  </a:txBody>
                  <a:tcPr marL="47817" marR="47817" marT="23908" marB="23908" anchor="ctr">
                    <a:lnL>
                      <a:noFill/>
                    </a:lnL>
                    <a:lnR>
                      <a:noFill/>
                    </a:lnR>
                    <a:lnT>
                      <a:noFill/>
                    </a:lnT>
                    <a:lnB>
                      <a:noFill/>
                    </a:lnB>
                    <a:noFill/>
                  </a:tcPr>
                </a:tc>
                <a:tc>
                  <a:txBody>
                    <a:bodyPr/>
                    <a:lstStyle/>
                    <a:p>
                      <a:pPr>
                        <a:buNone/>
                      </a:pPr>
                      <a:r>
                        <a:rPr lang="en-US" sz="900"/>
                        <a:t>High initial setup and implementation cost</a:t>
                      </a:r>
                    </a:p>
                  </a:txBody>
                  <a:tcPr marL="47817" marR="47817" marT="23908" marB="23908" anchor="ctr">
                    <a:lnL>
                      <a:noFill/>
                    </a:lnL>
                    <a:lnR>
                      <a:noFill/>
                    </a:lnR>
                    <a:lnT>
                      <a:noFill/>
                    </a:lnT>
                    <a:lnB>
                      <a:noFill/>
                    </a:lnB>
                    <a:noFill/>
                  </a:tcPr>
                </a:tc>
                <a:extLst>
                  <a:ext uri="{0D108BD9-81ED-4DB2-BD59-A6C34878D82A}">
                    <a16:rowId xmlns:a16="http://schemas.microsoft.com/office/drawing/2014/main" val="1687976421"/>
                  </a:ext>
                </a:extLst>
              </a:tr>
              <a:tr h="359019">
                <a:tc>
                  <a:txBody>
                    <a:bodyPr/>
                    <a:lstStyle/>
                    <a:p>
                      <a:pPr>
                        <a:buNone/>
                      </a:pPr>
                      <a:r>
                        <a:rPr lang="en-US" sz="900" b="1"/>
                        <a:t>Scalability</a:t>
                      </a:r>
                      <a:endParaRPr lang="en-US" sz="900"/>
                    </a:p>
                  </a:txBody>
                  <a:tcPr marL="47817" marR="47817" marT="23908" marB="23908" anchor="ctr">
                    <a:lnL>
                      <a:noFill/>
                    </a:lnL>
                    <a:lnR>
                      <a:noFill/>
                    </a:lnR>
                    <a:lnT>
                      <a:noFill/>
                    </a:lnT>
                    <a:lnB>
                      <a:noFill/>
                    </a:lnB>
                    <a:noFill/>
                  </a:tcPr>
                </a:tc>
                <a:tc>
                  <a:txBody>
                    <a:bodyPr/>
                    <a:lstStyle/>
                    <a:p>
                      <a:pPr>
                        <a:buNone/>
                      </a:pPr>
                      <a:r>
                        <a:rPr lang="en-US" sz="900"/>
                        <a:t>Can support large secure ecosystems</a:t>
                      </a:r>
                    </a:p>
                  </a:txBody>
                  <a:tcPr marL="47817" marR="47817" marT="23908" marB="23908" anchor="ctr">
                    <a:lnL>
                      <a:noFill/>
                    </a:lnL>
                    <a:lnR>
                      <a:noFill/>
                    </a:lnR>
                    <a:lnT>
                      <a:noFill/>
                    </a:lnT>
                    <a:lnB>
                      <a:noFill/>
                    </a:lnB>
                    <a:noFill/>
                  </a:tcPr>
                </a:tc>
                <a:tc>
                  <a:txBody>
                    <a:bodyPr/>
                    <a:lstStyle/>
                    <a:p>
                      <a:pPr>
                        <a:buNone/>
                      </a:pPr>
                      <a:r>
                        <a:rPr lang="en-US" sz="900"/>
                        <a:t>Performance issues with very high transaction volume</a:t>
                      </a:r>
                    </a:p>
                  </a:txBody>
                  <a:tcPr marL="47817" marR="47817" marT="23908" marB="23908" anchor="ctr">
                    <a:lnL>
                      <a:noFill/>
                    </a:lnL>
                    <a:lnR>
                      <a:noFill/>
                    </a:lnR>
                    <a:lnT>
                      <a:noFill/>
                    </a:lnT>
                    <a:lnB>
                      <a:noFill/>
                    </a:lnB>
                    <a:noFill/>
                  </a:tcPr>
                </a:tc>
                <a:extLst>
                  <a:ext uri="{0D108BD9-81ED-4DB2-BD59-A6C34878D82A}">
                    <a16:rowId xmlns:a16="http://schemas.microsoft.com/office/drawing/2014/main" val="3227604608"/>
                  </a:ext>
                </a:extLst>
              </a:tr>
              <a:tr h="359019">
                <a:tc>
                  <a:txBody>
                    <a:bodyPr/>
                    <a:lstStyle/>
                    <a:p>
                      <a:pPr>
                        <a:buNone/>
                      </a:pPr>
                      <a:r>
                        <a:rPr lang="en-US" sz="900" b="1"/>
                        <a:t>Privacy Control</a:t>
                      </a:r>
                      <a:endParaRPr lang="en-US" sz="900"/>
                    </a:p>
                  </a:txBody>
                  <a:tcPr marL="47817" marR="47817" marT="23908" marB="23908" anchor="ctr">
                    <a:lnL>
                      <a:noFill/>
                    </a:lnL>
                    <a:lnR>
                      <a:noFill/>
                    </a:lnR>
                    <a:lnT>
                      <a:noFill/>
                    </a:lnT>
                    <a:lnB>
                      <a:noFill/>
                    </a:lnB>
                    <a:noFill/>
                  </a:tcPr>
                </a:tc>
                <a:tc>
                  <a:txBody>
                    <a:bodyPr/>
                    <a:lstStyle/>
                    <a:p>
                      <a:pPr>
                        <a:buNone/>
                      </a:pPr>
                      <a:r>
                        <a:rPr lang="en-US" sz="900"/>
                        <a:t>Cryptographic permission-based data access</a:t>
                      </a:r>
                    </a:p>
                  </a:txBody>
                  <a:tcPr marL="47817" marR="47817" marT="23908" marB="23908" anchor="ctr">
                    <a:lnL>
                      <a:noFill/>
                    </a:lnL>
                    <a:lnR>
                      <a:noFill/>
                    </a:lnR>
                    <a:lnT>
                      <a:noFill/>
                    </a:lnT>
                    <a:lnB>
                      <a:noFill/>
                    </a:lnB>
                    <a:noFill/>
                  </a:tcPr>
                </a:tc>
                <a:tc>
                  <a:txBody>
                    <a:bodyPr/>
                    <a:lstStyle/>
                    <a:p>
                      <a:pPr>
                        <a:buNone/>
                      </a:pPr>
                      <a:r>
                        <a:rPr lang="en-US" sz="900"/>
                        <a:t>Blockchain transparency may conflict with privacy laws</a:t>
                      </a:r>
                    </a:p>
                  </a:txBody>
                  <a:tcPr marL="47817" marR="47817" marT="23908" marB="23908" anchor="ctr">
                    <a:lnL>
                      <a:noFill/>
                    </a:lnL>
                    <a:lnR>
                      <a:noFill/>
                    </a:lnR>
                    <a:lnT>
                      <a:noFill/>
                    </a:lnT>
                    <a:lnB>
                      <a:noFill/>
                    </a:lnB>
                    <a:noFill/>
                  </a:tcPr>
                </a:tc>
                <a:extLst>
                  <a:ext uri="{0D108BD9-81ED-4DB2-BD59-A6C34878D82A}">
                    <a16:rowId xmlns:a16="http://schemas.microsoft.com/office/drawing/2014/main" val="2683884798"/>
                  </a:ext>
                </a:extLst>
              </a:tr>
              <a:tr h="359019">
                <a:tc>
                  <a:txBody>
                    <a:bodyPr/>
                    <a:lstStyle/>
                    <a:p>
                      <a:pPr>
                        <a:buNone/>
                      </a:pPr>
                      <a:r>
                        <a:rPr lang="en-US" sz="900" b="1"/>
                        <a:t>Audit &amp; Compliance</a:t>
                      </a:r>
                      <a:endParaRPr lang="en-US" sz="900"/>
                    </a:p>
                  </a:txBody>
                  <a:tcPr marL="47817" marR="47817" marT="23908" marB="23908" anchor="ctr">
                    <a:lnL>
                      <a:noFill/>
                    </a:lnL>
                    <a:lnR>
                      <a:noFill/>
                    </a:lnR>
                    <a:lnT>
                      <a:noFill/>
                    </a:lnT>
                    <a:lnB>
                      <a:noFill/>
                    </a:lnB>
                    <a:noFill/>
                  </a:tcPr>
                </a:tc>
                <a:tc>
                  <a:txBody>
                    <a:bodyPr/>
                    <a:lstStyle/>
                    <a:p>
                      <a:pPr>
                        <a:buNone/>
                      </a:pPr>
                      <a:r>
                        <a:rPr lang="en-US" sz="900"/>
                        <a:t>Permanent logs improve forensic analysis and compliance</a:t>
                      </a:r>
                    </a:p>
                  </a:txBody>
                  <a:tcPr marL="47817" marR="47817" marT="23908" marB="23908" anchor="ctr">
                    <a:lnL>
                      <a:noFill/>
                    </a:lnL>
                    <a:lnR>
                      <a:noFill/>
                    </a:lnR>
                    <a:lnT>
                      <a:noFill/>
                    </a:lnT>
                    <a:lnB>
                      <a:noFill/>
                    </a:lnB>
                    <a:noFill/>
                  </a:tcPr>
                </a:tc>
                <a:tc>
                  <a:txBody>
                    <a:bodyPr/>
                    <a:lstStyle/>
                    <a:p>
                      <a:pPr>
                        <a:buNone/>
                      </a:pPr>
                      <a:r>
                        <a:rPr lang="en-US" sz="900" dirty="0"/>
                        <a:t>Regulatory and legal uncertainty in some regions</a:t>
                      </a:r>
                    </a:p>
                  </a:txBody>
                  <a:tcPr marL="47817" marR="47817" marT="23908" marB="23908" anchor="ctr">
                    <a:lnL>
                      <a:noFill/>
                    </a:lnL>
                    <a:lnR>
                      <a:noFill/>
                    </a:lnR>
                    <a:lnT>
                      <a:noFill/>
                    </a:lnT>
                    <a:lnB>
                      <a:noFill/>
                    </a:lnB>
                    <a:noFill/>
                  </a:tcPr>
                </a:tc>
                <a:extLst>
                  <a:ext uri="{0D108BD9-81ED-4DB2-BD59-A6C34878D82A}">
                    <a16:rowId xmlns:a16="http://schemas.microsoft.com/office/drawing/2014/main" val="3522628510"/>
                  </a:ext>
                </a:extLst>
              </a:tr>
            </a:tbl>
          </a:graphicData>
        </a:graphic>
      </p:graphicFrame>
    </p:spTree>
    <p:extLst>
      <p:ext uri="{BB962C8B-B14F-4D97-AF65-F5344CB8AC3E}">
        <p14:creationId xmlns:p14="http://schemas.microsoft.com/office/powerpoint/2010/main" val="2786943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7681-3F2D-4608-D78B-5461201F59B5}"/>
              </a:ext>
            </a:extLst>
          </p:cNvPr>
          <p:cNvSpPr>
            <a:spLocks noGrp="1"/>
          </p:cNvSpPr>
          <p:nvPr>
            <p:ph type="title"/>
          </p:nvPr>
        </p:nvSpPr>
        <p:spPr/>
        <p:txBody>
          <a:bodyPr/>
          <a:lstStyle/>
          <a:p>
            <a:r>
              <a:rPr lang="en-US" dirty="0"/>
              <a:t>Comparison: Traditional vs Blockchain cybersecurity</a:t>
            </a:r>
          </a:p>
        </p:txBody>
      </p:sp>
      <p:graphicFrame>
        <p:nvGraphicFramePr>
          <p:cNvPr id="11" name="Content Placeholder 10">
            <a:extLst>
              <a:ext uri="{FF2B5EF4-FFF2-40B4-BE49-F238E27FC236}">
                <a16:creationId xmlns:a16="http://schemas.microsoft.com/office/drawing/2014/main" id="{906C209E-B5F1-2D5C-3970-CBAA2E82C631}"/>
              </a:ext>
            </a:extLst>
          </p:cNvPr>
          <p:cNvGraphicFramePr>
            <a:graphicFrameLocks noGrp="1"/>
          </p:cNvGraphicFramePr>
          <p:nvPr>
            <p:ph idx="1"/>
          </p:nvPr>
        </p:nvGraphicFramePr>
        <p:xfrm>
          <a:off x="3152448" y="1825626"/>
          <a:ext cx="5887104" cy="4351336"/>
        </p:xfrm>
        <a:graphic>
          <a:graphicData uri="http://schemas.openxmlformats.org/drawingml/2006/table">
            <a:tbl>
              <a:tblPr/>
              <a:tblGrid>
                <a:gridCol w="1962368">
                  <a:extLst>
                    <a:ext uri="{9D8B030D-6E8A-4147-A177-3AD203B41FA5}">
                      <a16:colId xmlns:a16="http://schemas.microsoft.com/office/drawing/2014/main" val="2412495357"/>
                    </a:ext>
                  </a:extLst>
                </a:gridCol>
                <a:gridCol w="1962368">
                  <a:extLst>
                    <a:ext uri="{9D8B030D-6E8A-4147-A177-3AD203B41FA5}">
                      <a16:colId xmlns:a16="http://schemas.microsoft.com/office/drawing/2014/main" val="52921144"/>
                    </a:ext>
                  </a:extLst>
                </a:gridCol>
                <a:gridCol w="1962368">
                  <a:extLst>
                    <a:ext uri="{9D8B030D-6E8A-4147-A177-3AD203B41FA5}">
                      <a16:colId xmlns:a16="http://schemas.microsoft.com/office/drawing/2014/main" val="1379240972"/>
                    </a:ext>
                  </a:extLst>
                </a:gridCol>
              </a:tblGrid>
              <a:tr h="358345">
                <a:tc>
                  <a:txBody>
                    <a:bodyPr/>
                    <a:lstStyle/>
                    <a:p>
                      <a:pPr>
                        <a:buNone/>
                      </a:pPr>
                      <a:r>
                        <a:rPr lang="en-US" sz="1000" b="1"/>
                        <a:t>Aspect</a:t>
                      </a:r>
                      <a:endParaRPr lang="en-US" sz="1000"/>
                    </a:p>
                  </a:txBody>
                  <a:tcPr marL="51192" marR="51192" marT="25596" marB="25596" anchor="ctr">
                    <a:lnL>
                      <a:noFill/>
                    </a:lnL>
                    <a:lnR>
                      <a:noFill/>
                    </a:lnR>
                    <a:lnT>
                      <a:noFill/>
                    </a:lnT>
                    <a:lnB>
                      <a:noFill/>
                    </a:lnB>
                    <a:noFill/>
                  </a:tcPr>
                </a:tc>
                <a:tc>
                  <a:txBody>
                    <a:bodyPr/>
                    <a:lstStyle/>
                    <a:p>
                      <a:pPr>
                        <a:buNone/>
                      </a:pPr>
                      <a:r>
                        <a:rPr lang="en-US" sz="1000" b="1"/>
                        <a:t>Traditional Cybersecurity</a:t>
                      </a:r>
                      <a:endParaRPr lang="en-US" sz="1000"/>
                    </a:p>
                  </a:txBody>
                  <a:tcPr marL="51192" marR="51192" marT="25596" marB="25596" anchor="ctr">
                    <a:lnL>
                      <a:noFill/>
                    </a:lnL>
                    <a:lnR>
                      <a:noFill/>
                    </a:lnR>
                    <a:lnT>
                      <a:noFill/>
                    </a:lnT>
                    <a:lnB>
                      <a:noFill/>
                    </a:lnB>
                    <a:noFill/>
                  </a:tcPr>
                </a:tc>
                <a:tc>
                  <a:txBody>
                    <a:bodyPr/>
                    <a:lstStyle/>
                    <a:p>
                      <a:pPr>
                        <a:buNone/>
                      </a:pPr>
                      <a:r>
                        <a:rPr lang="en-US" sz="1000" b="1"/>
                        <a:t>Blockchain-based Cybersecurity</a:t>
                      </a:r>
                      <a:endParaRPr lang="en-US" sz="1000"/>
                    </a:p>
                  </a:txBody>
                  <a:tcPr marL="51192" marR="51192" marT="25596" marB="25596" anchor="ctr">
                    <a:lnL>
                      <a:noFill/>
                    </a:lnL>
                    <a:lnR>
                      <a:noFill/>
                    </a:lnR>
                    <a:lnT>
                      <a:noFill/>
                    </a:lnT>
                    <a:lnB>
                      <a:noFill/>
                    </a:lnB>
                    <a:noFill/>
                  </a:tcPr>
                </a:tc>
                <a:extLst>
                  <a:ext uri="{0D108BD9-81ED-4DB2-BD59-A6C34878D82A}">
                    <a16:rowId xmlns:a16="http://schemas.microsoft.com/office/drawing/2014/main" val="3001392974"/>
                  </a:ext>
                </a:extLst>
              </a:tr>
              <a:tr h="204769">
                <a:tc>
                  <a:txBody>
                    <a:bodyPr/>
                    <a:lstStyle/>
                    <a:p>
                      <a:pPr>
                        <a:buNone/>
                      </a:pPr>
                      <a:r>
                        <a:rPr lang="en-US" sz="1000" b="1"/>
                        <a:t>Architecture</a:t>
                      </a:r>
                      <a:endParaRPr lang="en-US" sz="1000"/>
                    </a:p>
                  </a:txBody>
                  <a:tcPr marL="51192" marR="51192" marT="25596" marB="25596" anchor="ctr">
                    <a:lnL>
                      <a:noFill/>
                    </a:lnL>
                    <a:lnR>
                      <a:noFill/>
                    </a:lnR>
                    <a:lnT>
                      <a:noFill/>
                    </a:lnT>
                    <a:lnB>
                      <a:noFill/>
                    </a:lnB>
                    <a:noFill/>
                  </a:tcPr>
                </a:tc>
                <a:tc>
                  <a:txBody>
                    <a:bodyPr/>
                    <a:lstStyle/>
                    <a:p>
                      <a:pPr>
                        <a:buNone/>
                      </a:pPr>
                      <a:r>
                        <a:rPr lang="en-US" sz="1000"/>
                        <a:t>Centralized</a:t>
                      </a:r>
                    </a:p>
                  </a:txBody>
                  <a:tcPr marL="51192" marR="51192" marT="25596" marB="25596" anchor="ctr">
                    <a:lnL>
                      <a:noFill/>
                    </a:lnL>
                    <a:lnR>
                      <a:noFill/>
                    </a:lnR>
                    <a:lnT>
                      <a:noFill/>
                    </a:lnT>
                    <a:lnB>
                      <a:noFill/>
                    </a:lnB>
                    <a:noFill/>
                  </a:tcPr>
                </a:tc>
                <a:tc>
                  <a:txBody>
                    <a:bodyPr/>
                    <a:lstStyle/>
                    <a:p>
                      <a:pPr>
                        <a:buNone/>
                      </a:pPr>
                      <a:r>
                        <a:rPr lang="en-US" sz="1000"/>
                        <a:t>Decentralized</a:t>
                      </a:r>
                    </a:p>
                  </a:txBody>
                  <a:tcPr marL="51192" marR="51192" marT="25596" marB="25596" anchor="ctr">
                    <a:lnL>
                      <a:noFill/>
                    </a:lnL>
                    <a:lnR>
                      <a:noFill/>
                    </a:lnR>
                    <a:lnT>
                      <a:noFill/>
                    </a:lnT>
                    <a:lnB>
                      <a:noFill/>
                    </a:lnB>
                    <a:noFill/>
                  </a:tcPr>
                </a:tc>
                <a:extLst>
                  <a:ext uri="{0D108BD9-81ED-4DB2-BD59-A6C34878D82A}">
                    <a16:rowId xmlns:a16="http://schemas.microsoft.com/office/drawing/2014/main" val="4184333746"/>
                  </a:ext>
                </a:extLst>
              </a:tr>
              <a:tr h="358345">
                <a:tc>
                  <a:txBody>
                    <a:bodyPr/>
                    <a:lstStyle/>
                    <a:p>
                      <a:pPr>
                        <a:buNone/>
                      </a:pPr>
                      <a:r>
                        <a:rPr lang="en-US" sz="1000" b="1"/>
                        <a:t>Control</a:t>
                      </a:r>
                      <a:endParaRPr lang="en-US" sz="1000"/>
                    </a:p>
                  </a:txBody>
                  <a:tcPr marL="51192" marR="51192" marT="25596" marB="25596" anchor="ctr">
                    <a:lnL>
                      <a:noFill/>
                    </a:lnL>
                    <a:lnR>
                      <a:noFill/>
                    </a:lnR>
                    <a:lnT>
                      <a:noFill/>
                    </a:lnT>
                    <a:lnB>
                      <a:noFill/>
                    </a:lnB>
                    <a:noFill/>
                  </a:tcPr>
                </a:tc>
                <a:tc>
                  <a:txBody>
                    <a:bodyPr/>
                    <a:lstStyle/>
                    <a:p>
                      <a:pPr>
                        <a:buNone/>
                      </a:pPr>
                      <a:r>
                        <a:rPr lang="en-US" sz="1000"/>
                        <a:t>Single authority controls system</a:t>
                      </a:r>
                    </a:p>
                  </a:txBody>
                  <a:tcPr marL="51192" marR="51192" marT="25596" marB="25596" anchor="ctr">
                    <a:lnL>
                      <a:noFill/>
                    </a:lnL>
                    <a:lnR>
                      <a:noFill/>
                    </a:lnR>
                    <a:lnT>
                      <a:noFill/>
                    </a:lnT>
                    <a:lnB>
                      <a:noFill/>
                    </a:lnB>
                    <a:noFill/>
                  </a:tcPr>
                </a:tc>
                <a:tc>
                  <a:txBody>
                    <a:bodyPr/>
                    <a:lstStyle/>
                    <a:p>
                      <a:pPr>
                        <a:buNone/>
                      </a:pPr>
                      <a:r>
                        <a:rPr lang="en-US" sz="1000"/>
                        <a:t>Distributed control across network</a:t>
                      </a:r>
                    </a:p>
                  </a:txBody>
                  <a:tcPr marL="51192" marR="51192" marT="25596" marB="25596" anchor="ctr">
                    <a:lnL>
                      <a:noFill/>
                    </a:lnL>
                    <a:lnR>
                      <a:noFill/>
                    </a:lnR>
                    <a:lnT>
                      <a:noFill/>
                    </a:lnT>
                    <a:lnB>
                      <a:noFill/>
                    </a:lnB>
                    <a:noFill/>
                  </a:tcPr>
                </a:tc>
                <a:extLst>
                  <a:ext uri="{0D108BD9-81ED-4DB2-BD59-A6C34878D82A}">
                    <a16:rowId xmlns:a16="http://schemas.microsoft.com/office/drawing/2014/main" val="2056863787"/>
                  </a:ext>
                </a:extLst>
              </a:tr>
              <a:tr h="204769">
                <a:tc>
                  <a:txBody>
                    <a:bodyPr/>
                    <a:lstStyle/>
                    <a:p>
                      <a:pPr>
                        <a:buNone/>
                      </a:pPr>
                      <a:r>
                        <a:rPr lang="en-US" sz="1000" b="1"/>
                        <a:t>Single Point of Failure</a:t>
                      </a:r>
                      <a:endParaRPr lang="en-US" sz="1000"/>
                    </a:p>
                  </a:txBody>
                  <a:tcPr marL="51192" marR="51192" marT="25596" marB="25596" anchor="ctr">
                    <a:lnL>
                      <a:noFill/>
                    </a:lnL>
                    <a:lnR>
                      <a:noFill/>
                    </a:lnR>
                    <a:lnT>
                      <a:noFill/>
                    </a:lnT>
                    <a:lnB>
                      <a:noFill/>
                    </a:lnB>
                    <a:noFill/>
                  </a:tcPr>
                </a:tc>
                <a:tc>
                  <a:txBody>
                    <a:bodyPr/>
                    <a:lstStyle/>
                    <a:p>
                      <a:pPr>
                        <a:buNone/>
                      </a:pPr>
                      <a:r>
                        <a:rPr lang="en-US" sz="1000"/>
                        <a:t>Yes ❌ (central server attack)</a:t>
                      </a:r>
                    </a:p>
                  </a:txBody>
                  <a:tcPr marL="51192" marR="51192" marT="25596" marB="25596" anchor="ctr">
                    <a:lnL>
                      <a:noFill/>
                    </a:lnL>
                    <a:lnR>
                      <a:noFill/>
                    </a:lnR>
                    <a:lnT>
                      <a:noFill/>
                    </a:lnT>
                    <a:lnB>
                      <a:noFill/>
                    </a:lnB>
                    <a:noFill/>
                  </a:tcPr>
                </a:tc>
                <a:tc>
                  <a:txBody>
                    <a:bodyPr/>
                    <a:lstStyle/>
                    <a:p>
                      <a:pPr>
                        <a:buNone/>
                      </a:pPr>
                      <a:r>
                        <a:rPr lang="en-US" sz="1000"/>
                        <a:t>No ✅</a:t>
                      </a:r>
                    </a:p>
                  </a:txBody>
                  <a:tcPr marL="51192" marR="51192" marT="25596" marB="25596" anchor="ctr">
                    <a:lnL>
                      <a:noFill/>
                    </a:lnL>
                    <a:lnR>
                      <a:noFill/>
                    </a:lnR>
                    <a:lnT>
                      <a:noFill/>
                    </a:lnT>
                    <a:lnB>
                      <a:noFill/>
                    </a:lnB>
                    <a:noFill/>
                  </a:tcPr>
                </a:tc>
                <a:extLst>
                  <a:ext uri="{0D108BD9-81ED-4DB2-BD59-A6C34878D82A}">
                    <a16:rowId xmlns:a16="http://schemas.microsoft.com/office/drawing/2014/main" val="237858413"/>
                  </a:ext>
                </a:extLst>
              </a:tr>
              <a:tr h="204769">
                <a:tc>
                  <a:txBody>
                    <a:bodyPr/>
                    <a:lstStyle/>
                    <a:p>
                      <a:pPr>
                        <a:buNone/>
                      </a:pPr>
                      <a:r>
                        <a:rPr lang="en-US" sz="1000" b="1"/>
                        <a:t>Data Integrity</a:t>
                      </a:r>
                      <a:endParaRPr lang="en-US" sz="1000"/>
                    </a:p>
                  </a:txBody>
                  <a:tcPr marL="51192" marR="51192" marT="25596" marB="25596" anchor="ctr">
                    <a:lnL>
                      <a:noFill/>
                    </a:lnL>
                    <a:lnR>
                      <a:noFill/>
                    </a:lnR>
                    <a:lnT>
                      <a:noFill/>
                    </a:lnT>
                    <a:lnB>
                      <a:noFill/>
                    </a:lnB>
                    <a:noFill/>
                  </a:tcPr>
                </a:tc>
                <a:tc>
                  <a:txBody>
                    <a:bodyPr/>
                    <a:lstStyle/>
                    <a:p>
                      <a:pPr>
                        <a:buNone/>
                      </a:pPr>
                      <a:r>
                        <a:rPr lang="en-US" sz="1000"/>
                        <a:t>Data can be altered or deleted</a:t>
                      </a:r>
                    </a:p>
                  </a:txBody>
                  <a:tcPr marL="51192" marR="51192" marT="25596" marB="25596" anchor="ctr">
                    <a:lnL>
                      <a:noFill/>
                    </a:lnL>
                    <a:lnR>
                      <a:noFill/>
                    </a:lnR>
                    <a:lnT>
                      <a:noFill/>
                    </a:lnT>
                    <a:lnB>
                      <a:noFill/>
                    </a:lnB>
                    <a:noFill/>
                  </a:tcPr>
                </a:tc>
                <a:tc>
                  <a:txBody>
                    <a:bodyPr/>
                    <a:lstStyle/>
                    <a:p>
                      <a:pPr>
                        <a:buNone/>
                      </a:pPr>
                      <a:r>
                        <a:rPr lang="en-US" sz="1000"/>
                        <a:t>Data is immutable (tamper-proof)</a:t>
                      </a:r>
                    </a:p>
                  </a:txBody>
                  <a:tcPr marL="51192" marR="51192" marT="25596" marB="25596" anchor="ctr">
                    <a:lnL>
                      <a:noFill/>
                    </a:lnL>
                    <a:lnR>
                      <a:noFill/>
                    </a:lnR>
                    <a:lnT>
                      <a:noFill/>
                    </a:lnT>
                    <a:lnB>
                      <a:noFill/>
                    </a:lnB>
                    <a:noFill/>
                  </a:tcPr>
                </a:tc>
                <a:extLst>
                  <a:ext uri="{0D108BD9-81ED-4DB2-BD59-A6C34878D82A}">
                    <a16:rowId xmlns:a16="http://schemas.microsoft.com/office/drawing/2014/main" val="76947788"/>
                  </a:ext>
                </a:extLst>
              </a:tr>
              <a:tr h="358345">
                <a:tc>
                  <a:txBody>
                    <a:bodyPr/>
                    <a:lstStyle/>
                    <a:p>
                      <a:pPr>
                        <a:buNone/>
                      </a:pPr>
                      <a:r>
                        <a:rPr lang="en-US" sz="1000" b="1"/>
                        <a:t>Authentication</a:t>
                      </a:r>
                      <a:endParaRPr lang="en-US" sz="1000"/>
                    </a:p>
                  </a:txBody>
                  <a:tcPr marL="51192" marR="51192" marT="25596" marB="25596" anchor="ctr">
                    <a:lnL>
                      <a:noFill/>
                    </a:lnL>
                    <a:lnR>
                      <a:noFill/>
                    </a:lnR>
                    <a:lnT>
                      <a:noFill/>
                    </a:lnT>
                    <a:lnB>
                      <a:noFill/>
                    </a:lnB>
                    <a:noFill/>
                  </a:tcPr>
                </a:tc>
                <a:tc>
                  <a:txBody>
                    <a:bodyPr/>
                    <a:lstStyle/>
                    <a:p>
                      <a:pPr>
                        <a:buNone/>
                      </a:pPr>
                      <a:r>
                        <a:rPr lang="en-US" sz="1000"/>
                        <a:t>Username &amp; password based</a:t>
                      </a:r>
                    </a:p>
                  </a:txBody>
                  <a:tcPr marL="51192" marR="51192" marT="25596" marB="25596" anchor="ctr">
                    <a:lnL>
                      <a:noFill/>
                    </a:lnL>
                    <a:lnR>
                      <a:noFill/>
                    </a:lnR>
                    <a:lnT>
                      <a:noFill/>
                    </a:lnT>
                    <a:lnB>
                      <a:noFill/>
                    </a:lnB>
                    <a:noFill/>
                  </a:tcPr>
                </a:tc>
                <a:tc>
                  <a:txBody>
                    <a:bodyPr/>
                    <a:lstStyle/>
                    <a:p>
                      <a:pPr>
                        <a:buNone/>
                      </a:pPr>
                      <a:r>
                        <a:rPr lang="en-US" sz="1000"/>
                        <a:t>Cryptographic keys (strong identity)</a:t>
                      </a:r>
                    </a:p>
                  </a:txBody>
                  <a:tcPr marL="51192" marR="51192" marT="25596" marB="25596" anchor="ctr">
                    <a:lnL>
                      <a:noFill/>
                    </a:lnL>
                    <a:lnR>
                      <a:noFill/>
                    </a:lnR>
                    <a:lnT>
                      <a:noFill/>
                    </a:lnT>
                    <a:lnB>
                      <a:noFill/>
                    </a:lnB>
                    <a:noFill/>
                  </a:tcPr>
                </a:tc>
                <a:extLst>
                  <a:ext uri="{0D108BD9-81ED-4DB2-BD59-A6C34878D82A}">
                    <a16:rowId xmlns:a16="http://schemas.microsoft.com/office/drawing/2014/main" val="3025974644"/>
                  </a:ext>
                </a:extLst>
              </a:tr>
              <a:tr h="204769">
                <a:tc>
                  <a:txBody>
                    <a:bodyPr/>
                    <a:lstStyle/>
                    <a:p>
                      <a:pPr>
                        <a:buNone/>
                      </a:pPr>
                      <a:r>
                        <a:rPr lang="en-US" sz="1000" b="1"/>
                        <a:t>Trust Model</a:t>
                      </a:r>
                      <a:endParaRPr lang="en-US" sz="1000"/>
                    </a:p>
                  </a:txBody>
                  <a:tcPr marL="51192" marR="51192" marT="25596" marB="25596" anchor="ctr">
                    <a:lnL>
                      <a:noFill/>
                    </a:lnL>
                    <a:lnR>
                      <a:noFill/>
                    </a:lnR>
                    <a:lnT>
                      <a:noFill/>
                    </a:lnT>
                    <a:lnB>
                      <a:noFill/>
                    </a:lnB>
                    <a:noFill/>
                  </a:tcPr>
                </a:tc>
                <a:tc>
                  <a:txBody>
                    <a:bodyPr/>
                    <a:lstStyle/>
                    <a:p>
                      <a:pPr>
                        <a:buNone/>
                      </a:pPr>
                      <a:r>
                        <a:rPr lang="en-US" sz="1000"/>
                        <a:t>Requires trusted third party</a:t>
                      </a:r>
                    </a:p>
                  </a:txBody>
                  <a:tcPr marL="51192" marR="51192" marT="25596" marB="25596" anchor="ctr">
                    <a:lnL>
                      <a:noFill/>
                    </a:lnL>
                    <a:lnR>
                      <a:noFill/>
                    </a:lnR>
                    <a:lnT>
                      <a:noFill/>
                    </a:lnT>
                    <a:lnB>
                      <a:noFill/>
                    </a:lnB>
                    <a:noFill/>
                  </a:tcPr>
                </a:tc>
                <a:tc>
                  <a:txBody>
                    <a:bodyPr/>
                    <a:lstStyle/>
                    <a:p>
                      <a:pPr>
                        <a:buNone/>
                      </a:pPr>
                      <a:r>
                        <a:rPr lang="en-US" sz="1000"/>
                        <a:t>Trustless system</a:t>
                      </a:r>
                    </a:p>
                  </a:txBody>
                  <a:tcPr marL="51192" marR="51192" marT="25596" marB="25596" anchor="ctr">
                    <a:lnL>
                      <a:noFill/>
                    </a:lnL>
                    <a:lnR>
                      <a:noFill/>
                    </a:lnR>
                    <a:lnT>
                      <a:noFill/>
                    </a:lnT>
                    <a:lnB>
                      <a:noFill/>
                    </a:lnB>
                    <a:noFill/>
                  </a:tcPr>
                </a:tc>
                <a:extLst>
                  <a:ext uri="{0D108BD9-81ED-4DB2-BD59-A6C34878D82A}">
                    <a16:rowId xmlns:a16="http://schemas.microsoft.com/office/drawing/2014/main" val="2351873720"/>
                  </a:ext>
                </a:extLst>
              </a:tr>
              <a:tr h="204769">
                <a:tc>
                  <a:txBody>
                    <a:bodyPr/>
                    <a:lstStyle/>
                    <a:p>
                      <a:pPr>
                        <a:buNone/>
                      </a:pPr>
                      <a:r>
                        <a:rPr lang="en-US" sz="1000" b="1"/>
                        <a:t>DDoS Protection</a:t>
                      </a:r>
                      <a:endParaRPr lang="en-US" sz="1000"/>
                    </a:p>
                  </a:txBody>
                  <a:tcPr marL="51192" marR="51192" marT="25596" marB="25596" anchor="ctr">
                    <a:lnL>
                      <a:noFill/>
                    </a:lnL>
                    <a:lnR>
                      <a:noFill/>
                    </a:lnR>
                    <a:lnT>
                      <a:noFill/>
                    </a:lnT>
                    <a:lnB>
                      <a:noFill/>
                    </a:lnB>
                    <a:noFill/>
                  </a:tcPr>
                </a:tc>
                <a:tc>
                  <a:txBody>
                    <a:bodyPr/>
                    <a:lstStyle/>
                    <a:p>
                      <a:pPr>
                        <a:buNone/>
                      </a:pPr>
                      <a:r>
                        <a:rPr lang="en-US" sz="1000"/>
                        <a:t>Central servers vulnerable</a:t>
                      </a:r>
                    </a:p>
                  </a:txBody>
                  <a:tcPr marL="51192" marR="51192" marT="25596" marB="25596" anchor="ctr">
                    <a:lnL>
                      <a:noFill/>
                    </a:lnL>
                    <a:lnR>
                      <a:noFill/>
                    </a:lnR>
                    <a:lnT>
                      <a:noFill/>
                    </a:lnT>
                    <a:lnB>
                      <a:noFill/>
                    </a:lnB>
                    <a:noFill/>
                  </a:tcPr>
                </a:tc>
                <a:tc>
                  <a:txBody>
                    <a:bodyPr/>
                    <a:lstStyle/>
                    <a:p>
                      <a:pPr>
                        <a:buNone/>
                      </a:pPr>
                      <a:r>
                        <a:rPr lang="en-US" sz="1000"/>
                        <a:t>Distributed network reduces risk</a:t>
                      </a:r>
                    </a:p>
                  </a:txBody>
                  <a:tcPr marL="51192" marR="51192" marT="25596" marB="25596" anchor="ctr">
                    <a:lnL>
                      <a:noFill/>
                    </a:lnL>
                    <a:lnR>
                      <a:noFill/>
                    </a:lnR>
                    <a:lnT>
                      <a:noFill/>
                    </a:lnT>
                    <a:lnB>
                      <a:noFill/>
                    </a:lnB>
                    <a:noFill/>
                  </a:tcPr>
                </a:tc>
                <a:extLst>
                  <a:ext uri="{0D108BD9-81ED-4DB2-BD59-A6C34878D82A}">
                    <a16:rowId xmlns:a16="http://schemas.microsoft.com/office/drawing/2014/main" val="2258479106"/>
                  </a:ext>
                </a:extLst>
              </a:tr>
              <a:tr h="204769">
                <a:tc>
                  <a:txBody>
                    <a:bodyPr/>
                    <a:lstStyle/>
                    <a:p>
                      <a:pPr>
                        <a:buNone/>
                      </a:pPr>
                      <a:r>
                        <a:rPr lang="en-US" sz="1000" b="1"/>
                        <a:t>Transparency</a:t>
                      </a:r>
                      <a:endParaRPr lang="en-US" sz="1000"/>
                    </a:p>
                  </a:txBody>
                  <a:tcPr marL="51192" marR="51192" marT="25596" marB="25596" anchor="ctr">
                    <a:lnL>
                      <a:noFill/>
                    </a:lnL>
                    <a:lnR>
                      <a:noFill/>
                    </a:lnR>
                    <a:lnT>
                      <a:noFill/>
                    </a:lnT>
                    <a:lnB>
                      <a:noFill/>
                    </a:lnB>
                    <a:noFill/>
                  </a:tcPr>
                </a:tc>
                <a:tc>
                  <a:txBody>
                    <a:bodyPr/>
                    <a:lstStyle/>
                    <a:p>
                      <a:pPr>
                        <a:buNone/>
                      </a:pPr>
                      <a:r>
                        <a:rPr lang="en-US" sz="1000"/>
                        <a:t>Limited visibility &amp; logging</a:t>
                      </a:r>
                    </a:p>
                  </a:txBody>
                  <a:tcPr marL="51192" marR="51192" marT="25596" marB="25596" anchor="ctr">
                    <a:lnL>
                      <a:noFill/>
                    </a:lnL>
                    <a:lnR>
                      <a:noFill/>
                    </a:lnR>
                    <a:lnT>
                      <a:noFill/>
                    </a:lnT>
                    <a:lnB>
                      <a:noFill/>
                    </a:lnB>
                    <a:noFill/>
                  </a:tcPr>
                </a:tc>
                <a:tc>
                  <a:txBody>
                    <a:bodyPr/>
                    <a:lstStyle/>
                    <a:p>
                      <a:pPr>
                        <a:buNone/>
                      </a:pPr>
                      <a:r>
                        <a:rPr lang="en-US" sz="1000"/>
                        <a:t>Fully traceable and auditable</a:t>
                      </a:r>
                    </a:p>
                  </a:txBody>
                  <a:tcPr marL="51192" marR="51192" marT="25596" marB="25596" anchor="ctr">
                    <a:lnL>
                      <a:noFill/>
                    </a:lnL>
                    <a:lnR>
                      <a:noFill/>
                    </a:lnR>
                    <a:lnT>
                      <a:noFill/>
                    </a:lnT>
                    <a:lnB>
                      <a:noFill/>
                    </a:lnB>
                    <a:noFill/>
                  </a:tcPr>
                </a:tc>
                <a:extLst>
                  <a:ext uri="{0D108BD9-81ED-4DB2-BD59-A6C34878D82A}">
                    <a16:rowId xmlns:a16="http://schemas.microsoft.com/office/drawing/2014/main" val="2362401379"/>
                  </a:ext>
                </a:extLst>
              </a:tr>
              <a:tr h="358345">
                <a:tc>
                  <a:txBody>
                    <a:bodyPr/>
                    <a:lstStyle/>
                    <a:p>
                      <a:pPr>
                        <a:buNone/>
                      </a:pPr>
                      <a:r>
                        <a:rPr lang="en-US" sz="1000" b="1"/>
                        <a:t>Data Breaches</a:t>
                      </a:r>
                      <a:endParaRPr lang="en-US" sz="1000"/>
                    </a:p>
                  </a:txBody>
                  <a:tcPr marL="51192" marR="51192" marT="25596" marB="25596" anchor="ctr">
                    <a:lnL>
                      <a:noFill/>
                    </a:lnL>
                    <a:lnR>
                      <a:noFill/>
                    </a:lnR>
                    <a:lnT>
                      <a:noFill/>
                    </a:lnT>
                    <a:lnB>
                      <a:noFill/>
                    </a:lnB>
                    <a:noFill/>
                  </a:tcPr>
                </a:tc>
                <a:tc>
                  <a:txBody>
                    <a:bodyPr/>
                    <a:lstStyle/>
                    <a:p>
                      <a:pPr>
                        <a:buNone/>
                      </a:pPr>
                      <a:r>
                        <a:rPr lang="en-US" sz="1000"/>
                        <a:t>High risk if server compromised</a:t>
                      </a:r>
                    </a:p>
                  </a:txBody>
                  <a:tcPr marL="51192" marR="51192" marT="25596" marB="25596" anchor="ctr">
                    <a:lnL>
                      <a:noFill/>
                    </a:lnL>
                    <a:lnR>
                      <a:noFill/>
                    </a:lnR>
                    <a:lnT>
                      <a:noFill/>
                    </a:lnT>
                    <a:lnB>
                      <a:noFill/>
                    </a:lnB>
                    <a:noFill/>
                  </a:tcPr>
                </a:tc>
                <a:tc>
                  <a:txBody>
                    <a:bodyPr/>
                    <a:lstStyle/>
                    <a:p>
                      <a:pPr>
                        <a:buNone/>
                      </a:pPr>
                      <a:r>
                        <a:rPr lang="en-US" sz="1000"/>
                        <a:t>Very difficult due to encryption &amp; distribution</a:t>
                      </a:r>
                    </a:p>
                  </a:txBody>
                  <a:tcPr marL="51192" marR="51192" marT="25596" marB="25596" anchor="ctr">
                    <a:lnL>
                      <a:noFill/>
                    </a:lnL>
                    <a:lnR>
                      <a:noFill/>
                    </a:lnR>
                    <a:lnT>
                      <a:noFill/>
                    </a:lnT>
                    <a:lnB>
                      <a:noFill/>
                    </a:lnB>
                    <a:noFill/>
                  </a:tcPr>
                </a:tc>
                <a:extLst>
                  <a:ext uri="{0D108BD9-81ED-4DB2-BD59-A6C34878D82A}">
                    <a16:rowId xmlns:a16="http://schemas.microsoft.com/office/drawing/2014/main" val="33349489"/>
                  </a:ext>
                </a:extLst>
              </a:tr>
              <a:tr h="358345">
                <a:tc>
                  <a:txBody>
                    <a:bodyPr/>
                    <a:lstStyle/>
                    <a:p>
                      <a:pPr>
                        <a:buNone/>
                      </a:pPr>
                      <a:r>
                        <a:rPr lang="en-US" sz="1000" b="1"/>
                        <a:t>Automation</a:t>
                      </a:r>
                      <a:endParaRPr lang="en-US" sz="1000"/>
                    </a:p>
                  </a:txBody>
                  <a:tcPr marL="51192" marR="51192" marT="25596" marB="25596" anchor="ctr">
                    <a:lnL>
                      <a:noFill/>
                    </a:lnL>
                    <a:lnR>
                      <a:noFill/>
                    </a:lnR>
                    <a:lnT>
                      <a:noFill/>
                    </a:lnT>
                    <a:lnB>
                      <a:noFill/>
                    </a:lnB>
                    <a:noFill/>
                  </a:tcPr>
                </a:tc>
                <a:tc>
                  <a:txBody>
                    <a:bodyPr/>
                    <a:lstStyle/>
                    <a:p>
                      <a:pPr>
                        <a:buNone/>
                      </a:pPr>
                      <a:r>
                        <a:rPr lang="en-US" sz="1000"/>
                        <a:t>Mostly manual security rules</a:t>
                      </a:r>
                    </a:p>
                  </a:txBody>
                  <a:tcPr marL="51192" marR="51192" marT="25596" marB="25596" anchor="ctr">
                    <a:lnL>
                      <a:noFill/>
                    </a:lnL>
                    <a:lnR>
                      <a:noFill/>
                    </a:lnR>
                    <a:lnT>
                      <a:noFill/>
                    </a:lnT>
                    <a:lnB>
                      <a:noFill/>
                    </a:lnB>
                    <a:noFill/>
                  </a:tcPr>
                </a:tc>
                <a:tc>
                  <a:txBody>
                    <a:bodyPr/>
                    <a:lstStyle/>
                    <a:p>
                      <a:pPr>
                        <a:buNone/>
                      </a:pPr>
                      <a:r>
                        <a:rPr lang="en-US" sz="1000"/>
                        <a:t>Smart contracts automate security</a:t>
                      </a:r>
                    </a:p>
                  </a:txBody>
                  <a:tcPr marL="51192" marR="51192" marT="25596" marB="25596" anchor="ctr">
                    <a:lnL>
                      <a:noFill/>
                    </a:lnL>
                    <a:lnR>
                      <a:noFill/>
                    </a:lnR>
                    <a:lnT>
                      <a:noFill/>
                    </a:lnT>
                    <a:lnB>
                      <a:noFill/>
                    </a:lnB>
                    <a:noFill/>
                  </a:tcPr>
                </a:tc>
                <a:extLst>
                  <a:ext uri="{0D108BD9-81ED-4DB2-BD59-A6C34878D82A}">
                    <a16:rowId xmlns:a16="http://schemas.microsoft.com/office/drawing/2014/main" val="1048895217"/>
                  </a:ext>
                </a:extLst>
              </a:tr>
              <a:tr h="358345">
                <a:tc>
                  <a:txBody>
                    <a:bodyPr/>
                    <a:lstStyle/>
                    <a:p>
                      <a:pPr>
                        <a:buNone/>
                      </a:pPr>
                      <a:r>
                        <a:rPr lang="en-US" sz="1000" b="1"/>
                        <a:t>Insider Attacks</a:t>
                      </a:r>
                      <a:endParaRPr lang="en-US" sz="1000"/>
                    </a:p>
                  </a:txBody>
                  <a:tcPr marL="51192" marR="51192" marT="25596" marB="25596" anchor="ctr">
                    <a:lnL>
                      <a:noFill/>
                    </a:lnL>
                    <a:lnR>
                      <a:noFill/>
                    </a:lnR>
                    <a:lnT>
                      <a:noFill/>
                    </a:lnT>
                    <a:lnB>
                      <a:noFill/>
                    </a:lnB>
                    <a:noFill/>
                  </a:tcPr>
                </a:tc>
                <a:tc>
                  <a:txBody>
                    <a:bodyPr/>
                    <a:lstStyle/>
                    <a:p>
                      <a:pPr>
                        <a:buNone/>
                      </a:pPr>
                      <a:r>
                        <a:rPr lang="en-US" sz="1000"/>
                        <a:t>Possible data manipulation</a:t>
                      </a:r>
                    </a:p>
                  </a:txBody>
                  <a:tcPr marL="51192" marR="51192" marT="25596" marB="25596" anchor="ctr">
                    <a:lnL>
                      <a:noFill/>
                    </a:lnL>
                    <a:lnR>
                      <a:noFill/>
                    </a:lnR>
                    <a:lnT>
                      <a:noFill/>
                    </a:lnT>
                    <a:lnB>
                      <a:noFill/>
                    </a:lnB>
                    <a:noFill/>
                  </a:tcPr>
                </a:tc>
                <a:tc>
                  <a:txBody>
                    <a:bodyPr/>
                    <a:lstStyle/>
                    <a:p>
                      <a:pPr>
                        <a:buNone/>
                      </a:pPr>
                      <a:r>
                        <a:rPr lang="en-US" sz="1000"/>
                        <a:t>Changes are visible and permanent</a:t>
                      </a:r>
                    </a:p>
                  </a:txBody>
                  <a:tcPr marL="51192" marR="51192" marT="25596" marB="25596" anchor="ctr">
                    <a:lnL>
                      <a:noFill/>
                    </a:lnL>
                    <a:lnR>
                      <a:noFill/>
                    </a:lnR>
                    <a:lnT>
                      <a:noFill/>
                    </a:lnT>
                    <a:lnB>
                      <a:noFill/>
                    </a:lnB>
                    <a:noFill/>
                  </a:tcPr>
                </a:tc>
                <a:extLst>
                  <a:ext uri="{0D108BD9-81ED-4DB2-BD59-A6C34878D82A}">
                    <a16:rowId xmlns:a16="http://schemas.microsoft.com/office/drawing/2014/main" val="1797701313"/>
                  </a:ext>
                </a:extLst>
              </a:tr>
              <a:tr h="204769">
                <a:tc>
                  <a:txBody>
                    <a:bodyPr/>
                    <a:lstStyle/>
                    <a:p>
                      <a:pPr>
                        <a:buNone/>
                      </a:pPr>
                      <a:r>
                        <a:rPr lang="en-US" sz="1000" b="1"/>
                        <a:t>Scalability</a:t>
                      </a:r>
                      <a:endParaRPr lang="en-US" sz="1000"/>
                    </a:p>
                  </a:txBody>
                  <a:tcPr marL="51192" marR="51192" marT="25596" marB="25596" anchor="ctr">
                    <a:lnL>
                      <a:noFill/>
                    </a:lnL>
                    <a:lnR>
                      <a:noFill/>
                    </a:lnR>
                    <a:lnT>
                      <a:noFill/>
                    </a:lnT>
                    <a:lnB>
                      <a:noFill/>
                    </a:lnB>
                    <a:noFill/>
                  </a:tcPr>
                </a:tc>
                <a:tc>
                  <a:txBody>
                    <a:bodyPr/>
                    <a:lstStyle/>
                    <a:p>
                      <a:pPr>
                        <a:buNone/>
                      </a:pPr>
                      <a:r>
                        <a:rPr lang="en-US" sz="1000"/>
                        <a:t>Easier to scale centrally</a:t>
                      </a:r>
                    </a:p>
                  </a:txBody>
                  <a:tcPr marL="51192" marR="51192" marT="25596" marB="25596" anchor="ctr">
                    <a:lnL>
                      <a:noFill/>
                    </a:lnL>
                    <a:lnR>
                      <a:noFill/>
                    </a:lnR>
                    <a:lnT>
                      <a:noFill/>
                    </a:lnT>
                    <a:lnB>
                      <a:noFill/>
                    </a:lnB>
                    <a:noFill/>
                  </a:tcPr>
                </a:tc>
                <a:tc>
                  <a:txBody>
                    <a:bodyPr/>
                    <a:lstStyle/>
                    <a:p>
                      <a:pPr>
                        <a:buNone/>
                      </a:pPr>
                      <a:r>
                        <a:rPr lang="en-US" sz="1000"/>
                        <a:t>Scaling can be complex</a:t>
                      </a:r>
                    </a:p>
                  </a:txBody>
                  <a:tcPr marL="51192" marR="51192" marT="25596" marB="25596" anchor="ctr">
                    <a:lnL>
                      <a:noFill/>
                    </a:lnL>
                    <a:lnR>
                      <a:noFill/>
                    </a:lnR>
                    <a:lnT>
                      <a:noFill/>
                    </a:lnT>
                    <a:lnB>
                      <a:noFill/>
                    </a:lnB>
                    <a:noFill/>
                  </a:tcPr>
                </a:tc>
                <a:extLst>
                  <a:ext uri="{0D108BD9-81ED-4DB2-BD59-A6C34878D82A}">
                    <a16:rowId xmlns:a16="http://schemas.microsoft.com/office/drawing/2014/main" val="234419595"/>
                  </a:ext>
                </a:extLst>
              </a:tr>
              <a:tr h="358345">
                <a:tc>
                  <a:txBody>
                    <a:bodyPr/>
                    <a:lstStyle/>
                    <a:p>
                      <a:pPr>
                        <a:buNone/>
                      </a:pPr>
                      <a:r>
                        <a:rPr lang="en-US" sz="1000" b="1"/>
                        <a:t>Performance</a:t>
                      </a:r>
                      <a:endParaRPr lang="en-US" sz="1000"/>
                    </a:p>
                  </a:txBody>
                  <a:tcPr marL="51192" marR="51192" marT="25596" marB="25596" anchor="ctr">
                    <a:lnL>
                      <a:noFill/>
                    </a:lnL>
                    <a:lnR>
                      <a:noFill/>
                    </a:lnR>
                    <a:lnT>
                      <a:noFill/>
                    </a:lnT>
                    <a:lnB>
                      <a:noFill/>
                    </a:lnB>
                    <a:noFill/>
                  </a:tcPr>
                </a:tc>
                <a:tc>
                  <a:txBody>
                    <a:bodyPr/>
                    <a:lstStyle/>
                    <a:p>
                      <a:pPr>
                        <a:buNone/>
                      </a:pPr>
                      <a:r>
                        <a:rPr lang="en-US" sz="1000"/>
                        <a:t>Faster response times</a:t>
                      </a:r>
                    </a:p>
                  </a:txBody>
                  <a:tcPr marL="51192" marR="51192" marT="25596" marB="25596" anchor="ctr">
                    <a:lnL>
                      <a:noFill/>
                    </a:lnL>
                    <a:lnR>
                      <a:noFill/>
                    </a:lnR>
                    <a:lnT>
                      <a:noFill/>
                    </a:lnT>
                    <a:lnB>
                      <a:noFill/>
                    </a:lnB>
                    <a:noFill/>
                  </a:tcPr>
                </a:tc>
                <a:tc>
                  <a:txBody>
                    <a:bodyPr/>
                    <a:lstStyle/>
                    <a:p>
                      <a:pPr>
                        <a:buNone/>
                      </a:pPr>
                      <a:r>
                        <a:rPr lang="en-US" sz="1000"/>
                        <a:t>Slower due to consensus &amp; verification</a:t>
                      </a:r>
                    </a:p>
                  </a:txBody>
                  <a:tcPr marL="51192" marR="51192" marT="25596" marB="25596" anchor="ctr">
                    <a:lnL>
                      <a:noFill/>
                    </a:lnL>
                    <a:lnR>
                      <a:noFill/>
                    </a:lnR>
                    <a:lnT>
                      <a:noFill/>
                    </a:lnT>
                    <a:lnB>
                      <a:noFill/>
                    </a:lnB>
                    <a:noFill/>
                  </a:tcPr>
                </a:tc>
                <a:extLst>
                  <a:ext uri="{0D108BD9-81ED-4DB2-BD59-A6C34878D82A}">
                    <a16:rowId xmlns:a16="http://schemas.microsoft.com/office/drawing/2014/main" val="1541606398"/>
                  </a:ext>
                </a:extLst>
              </a:tr>
              <a:tr h="204769">
                <a:tc>
                  <a:txBody>
                    <a:bodyPr/>
                    <a:lstStyle/>
                    <a:p>
                      <a:pPr>
                        <a:buNone/>
                      </a:pPr>
                      <a:r>
                        <a:rPr lang="en-US" sz="1000" b="1"/>
                        <a:t>Cost</a:t>
                      </a:r>
                      <a:endParaRPr lang="en-US" sz="1000"/>
                    </a:p>
                  </a:txBody>
                  <a:tcPr marL="51192" marR="51192" marT="25596" marB="25596" anchor="ctr">
                    <a:lnL>
                      <a:noFill/>
                    </a:lnL>
                    <a:lnR>
                      <a:noFill/>
                    </a:lnR>
                    <a:lnT>
                      <a:noFill/>
                    </a:lnT>
                    <a:lnB>
                      <a:noFill/>
                    </a:lnB>
                    <a:noFill/>
                  </a:tcPr>
                </a:tc>
                <a:tc>
                  <a:txBody>
                    <a:bodyPr/>
                    <a:lstStyle/>
                    <a:p>
                      <a:pPr>
                        <a:buNone/>
                      </a:pPr>
                      <a:r>
                        <a:rPr lang="en-US" sz="1000"/>
                        <a:t>Lower initial cost</a:t>
                      </a:r>
                    </a:p>
                  </a:txBody>
                  <a:tcPr marL="51192" marR="51192" marT="25596" marB="25596" anchor="ctr">
                    <a:lnL>
                      <a:noFill/>
                    </a:lnL>
                    <a:lnR>
                      <a:noFill/>
                    </a:lnR>
                    <a:lnT>
                      <a:noFill/>
                    </a:lnT>
                    <a:lnB>
                      <a:noFill/>
                    </a:lnB>
                    <a:noFill/>
                  </a:tcPr>
                </a:tc>
                <a:tc>
                  <a:txBody>
                    <a:bodyPr/>
                    <a:lstStyle/>
                    <a:p>
                      <a:pPr>
                        <a:buNone/>
                      </a:pPr>
                      <a:r>
                        <a:rPr lang="en-US" sz="1000"/>
                        <a:t>Higher setup cost</a:t>
                      </a:r>
                    </a:p>
                  </a:txBody>
                  <a:tcPr marL="51192" marR="51192" marT="25596" marB="25596" anchor="ctr">
                    <a:lnL>
                      <a:noFill/>
                    </a:lnL>
                    <a:lnR>
                      <a:noFill/>
                    </a:lnR>
                    <a:lnT>
                      <a:noFill/>
                    </a:lnT>
                    <a:lnB>
                      <a:noFill/>
                    </a:lnB>
                    <a:noFill/>
                  </a:tcPr>
                </a:tc>
                <a:extLst>
                  <a:ext uri="{0D108BD9-81ED-4DB2-BD59-A6C34878D82A}">
                    <a16:rowId xmlns:a16="http://schemas.microsoft.com/office/drawing/2014/main" val="1148044715"/>
                  </a:ext>
                </a:extLst>
              </a:tr>
              <a:tr h="204769">
                <a:tc>
                  <a:txBody>
                    <a:bodyPr/>
                    <a:lstStyle/>
                    <a:p>
                      <a:pPr>
                        <a:buNone/>
                      </a:pPr>
                      <a:r>
                        <a:rPr lang="en-US" sz="1000" b="1"/>
                        <a:t>Privacy Control</a:t>
                      </a:r>
                      <a:endParaRPr lang="en-US" sz="1000"/>
                    </a:p>
                  </a:txBody>
                  <a:tcPr marL="51192" marR="51192" marT="25596" marB="25596" anchor="ctr">
                    <a:lnL>
                      <a:noFill/>
                    </a:lnL>
                    <a:lnR>
                      <a:noFill/>
                    </a:lnR>
                    <a:lnT>
                      <a:noFill/>
                    </a:lnT>
                    <a:lnB>
                      <a:noFill/>
                    </a:lnB>
                    <a:noFill/>
                  </a:tcPr>
                </a:tc>
                <a:tc>
                  <a:txBody>
                    <a:bodyPr/>
                    <a:lstStyle/>
                    <a:p>
                      <a:pPr>
                        <a:buNone/>
                      </a:pPr>
                      <a:r>
                        <a:rPr lang="en-US" sz="1000"/>
                        <a:t>Managed by central authority</a:t>
                      </a:r>
                    </a:p>
                  </a:txBody>
                  <a:tcPr marL="51192" marR="51192" marT="25596" marB="25596" anchor="ctr">
                    <a:lnL>
                      <a:noFill/>
                    </a:lnL>
                    <a:lnR>
                      <a:noFill/>
                    </a:lnR>
                    <a:lnT>
                      <a:noFill/>
                    </a:lnT>
                    <a:lnB>
                      <a:noFill/>
                    </a:lnB>
                    <a:noFill/>
                  </a:tcPr>
                </a:tc>
                <a:tc>
                  <a:txBody>
                    <a:bodyPr/>
                    <a:lstStyle/>
                    <a:p>
                      <a:pPr>
                        <a:buNone/>
                      </a:pPr>
                      <a:r>
                        <a:rPr lang="en-US" sz="1000" dirty="0"/>
                        <a:t>User-controlled via cryptography</a:t>
                      </a:r>
                    </a:p>
                  </a:txBody>
                  <a:tcPr marL="51192" marR="51192" marT="25596" marB="25596" anchor="ctr">
                    <a:lnL>
                      <a:noFill/>
                    </a:lnL>
                    <a:lnR>
                      <a:noFill/>
                    </a:lnR>
                    <a:lnT>
                      <a:noFill/>
                    </a:lnT>
                    <a:lnB>
                      <a:noFill/>
                    </a:lnB>
                    <a:noFill/>
                  </a:tcPr>
                </a:tc>
                <a:extLst>
                  <a:ext uri="{0D108BD9-81ED-4DB2-BD59-A6C34878D82A}">
                    <a16:rowId xmlns:a16="http://schemas.microsoft.com/office/drawing/2014/main" val="413887772"/>
                  </a:ext>
                </a:extLst>
              </a:tr>
            </a:tbl>
          </a:graphicData>
        </a:graphic>
      </p:graphicFrame>
    </p:spTree>
    <p:extLst>
      <p:ext uri="{BB962C8B-B14F-4D97-AF65-F5344CB8AC3E}">
        <p14:creationId xmlns:p14="http://schemas.microsoft.com/office/powerpoint/2010/main" val="1927038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D167-ED1E-67E9-965B-CAED5B602ACB}"/>
              </a:ext>
            </a:extLst>
          </p:cNvPr>
          <p:cNvSpPr>
            <a:spLocks noGrp="1"/>
          </p:cNvSpPr>
          <p:nvPr>
            <p:ph type="title"/>
          </p:nvPr>
        </p:nvSpPr>
        <p:spPr/>
        <p:txBody>
          <a:bodyPr/>
          <a:lstStyle/>
          <a:p>
            <a:r>
              <a:rPr lang="en-US" dirty="0"/>
              <a:t>Traditional Cybersecurity (Centralized)</a:t>
            </a:r>
          </a:p>
        </p:txBody>
      </p:sp>
      <p:sp>
        <p:nvSpPr>
          <p:cNvPr id="3" name="Content Placeholder 2">
            <a:extLst>
              <a:ext uri="{FF2B5EF4-FFF2-40B4-BE49-F238E27FC236}">
                <a16:creationId xmlns:a16="http://schemas.microsoft.com/office/drawing/2014/main" id="{0FB63045-F95C-32D0-10CC-360A2E370EAA}"/>
              </a:ext>
            </a:extLst>
          </p:cNvPr>
          <p:cNvSpPr>
            <a:spLocks noGrp="1"/>
          </p:cNvSpPr>
          <p:nvPr>
            <p:ph idx="1"/>
          </p:nvPr>
        </p:nvSpPr>
        <p:spPr/>
        <p:txBody>
          <a:bodyPr>
            <a:normAutofit fontScale="77500" lnSpcReduction="20000"/>
          </a:bodyPr>
          <a:lstStyle/>
          <a:p>
            <a:r>
              <a:rPr lang="en-US" dirty="0"/>
              <a:t> Users / Devices</a:t>
            </a:r>
          </a:p>
          <a:p>
            <a:r>
              <a:rPr lang="en-US" dirty="0"/>
              <a:t>              |</a:t>
            </a:r>
          </a:p>
          <a:p>
            <a:r>
              <a:rPr lang="en-US" dirty="0"/>
              <a:t>              v</a:t>
            </a:r>
          </a:p>
          <a:p>
            <a:r>
              <a:rPr lang="en-US" dirty="0"/>
              <a:t>        Central Security Server</a:t>
            </a:r>
          </a:p>
          <a:p>
            <a:r>
              <a:rPr lang="en-US" dirty="0"/>
              <a:t>              |</a:t>
            </a:r>
          </a:p>
          <a:p>
            <a:r>
              <a:rPr lang="en-US" dirty="0"/>
              <a:t>        ---------------------</a:t>
            </a:r>
          </a:p>
          <a:p>
            <a:r>
              <a:rPr lang="en-US" dirty="0"/>
              <a:t>        |        |         |</a:t>
            </a:r>
          </a:p>
          <a:p>
            <a:r>
              <a:rPr lang="en-US" dirty="0"/>
              <a:t>     Database   Logs    Access Control</a:t>
            </a:r>
          </a:p>
          <a:p>
            <a:r>
              <a:rPr lang="en-US" dirty="0"/>
              <a:t>              |</a:t>
            </a:r>
          </a:p>
          <a:p>
            <a:r>
              <a:rPr lang="en-US" dirty="0"/>
              <a:t>        If server hacked ❌</a:t>
            </a:r>
          </a:p>
          <a:p>
            <a:r>
              <a:rPr lang="en-US" dirty="0"/>
              <a:t>        → Whole system compromised</a:t>
            </a:r>
          </a:p>
          <a:p>
            <a:r>
              <a:rPr lang="en-US" dirty="0"/>
              <a:t>        → Single point of failure</a:t>
            </a:r>
          </a:p>
        </p:txBody>
      </p:sp>
    </p:spTree>
    <p:extLst>
      <p:ext uri="{BB962C8B-B14F-4D97-AF65-F5344CB8AC3E}">
        <p14:creationId xmlns:p14="http://schemas.microsoft.com/office/powerpoint/2010/main" val="3611851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B8E94-112F-455F-5147-2A03684E1329}"/>
              </a:ext>
            </a:extLst>
          </p:cNvPr>
          <p:cNvSpPr>
            <a:spLocks noGrp="1"/>
          </p:cNvSpPr>
          <p:nvPr>
            <p:ph type="title"/>
          </p:nvPr>
        </p:nvSpPr>
        <p:spPr/>
        <p:txBody>
          <a:bodyPr/>
          <a:lstStyle/>
          <a:p>
            <a:r>
              <a:rPr lang="en-US" dirty="0"/>
              <a:t>Blockchain Cybersecurity (Decentralized)</a:t>
            </a:r>
          </a:p>
        </p:txBody>
      </p:sp>
      <p:sp>
        <p:nvSpPr>
          <p:cNvPr id="3" name="Content Placeholder 2">
            <a:extLst>
              <a:ext uri="{FF2B5EF4-FFF2-40B4-BE49-F238E27FC236}">
                <a16:creationId xmlns:a16="http://schemas.microsoft.com/office/drawing/2014/main" id="{8F88398B-46C5-923D-FC4D-6138D7A5ED1C}"/>
              </a:ext>
            </a:extLst>
          </p:cNvPr>
          <p:cNvSpPr>
            <a:spLocks noGrp="1"/>
          </p:cNvSpPr>
          <p:nvPr>
            <p:ph idx="1"/>
          </p:nvPr>
        </p:nvSpPr>
        <p:spPr/>
        <p:txBody>
          <a:bodyPr>
            <a:normAutofit fontScale="62500" lnSpcReduction="20000"/>
          </a:bodyPr>
          <a:lstStyle/>
          <a:p>
            <a:r>
              <a:rPr lang="en-US" dirty="0"/>
              <a:t> User / Device</a:t>
            </a:r>
          </a:p>
          <a:p>
            <a:r>
              <a:rPr lang="en-US" dirty="0"/>
              <a:t>             |</a:t>
            </a:r>
          </a:p>
          <a:p>
            <a:r>
              <a:rPr lang="en-US" dirty="0"/>
              <a:t>             v</a:t>
            </a:r>
          </a:p>
          <a:p>
            <a:r>
              <a:rPr lang="en-US" dirty="0"/>
              <a:t>        Encrypted Transaction</a:t>
            </a:r>
          </a:p>
          <a:p>
            <a:r>
              <a:rPr lang="en-US" dirty="0"/>
              <a:t>             |</a:t>
            </a:r>
          </a:p>
          <a:p>
            <a:r>
              <a:rPr lang="en-US" dirty="0"/>
              <a:t>   ---------------------------------</a:t>
            </a:r>
          </a:p>
          <a:p>
            <a:r>
              <a:rPr lang="en-US" dirty="0"/>
              <a:t>   |        |        |        |     |</a:t>
            </a:r>
          </a:p>
          <a:p>
            <a:r>
              <a:rPr lang="en-US" dirty="0"/>
              <a:t> Node 1   Node 2   Node 3   Node 4  ...</a:t>
            </a:r>
          </a:p>
          <a:p>
            <a:r>
              <a:rPr lang="en-US" dirty="0"/>
              <a:t>   |        |        |        |</a:t>
            </a:r>
          </a:p>
          <a:p>
            <a:r>
              <a:rPr lang="en-US" dirty="0"/>
              <a:t>   -------- Consensus ----------</a:t>
            </a:r>
          </a:p>
          <a:p>
            <a:r>
              <a:rPr lang="en-US" dirty="0"/>
              <a:t>             |</a:t>
            </a:r>
          </a:p>
          <a:p>
            <a:r>
              <a:rPr lang="en-US" dirty="0"/>
              <a:t>        Distributed Ledger</a:t>
            </a:r>
          </a:p>
          <a:p>
            <a:r>
              <a:rPr lang="en-US" dirty="0"/>
              <a:t>      (Tamper-proof &amp; Verified)</a:t>
            </a:r>
          </a:p>
        </p:txBody>
      </p:sp>
    </p:spTree>
    <p:extLst>
      <p:ext uri="{BB962C8B-B14F-4D97-AF65-F5344CB8AC3E}">
        <p14:creationId xmlns:p14="http://schemas.microsoft.com/office/powerpoint/2010/main" val="1133305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B2C7-9BDE-1038-CCAE-AE52C4795C6F}"/>
              </a:ext>
            </a:extLst>
          </p:cNvPr>
          <p:cNvSpPr>
            <a:spLocks noGrp="1"/>
          </p:cNvSpPr>
          <p:nvPr>
            <p:ph type="title"/>
          </p:nvPr>
        </p:nvSpPr>
        <p:spPr/>
        <p:txBody>
          <a:bodyPr/>
          <a:lstStyle/>
          <a:p>
            <a:r>
              <a:rPr lang="en-US" dirty="0"/>
              <a:t>Quick Visual Difference</a:t>
            </a:r>
          </a:p>
        </p:txBody>
      </p:sp>
      <p:sp>
        <p:nvSpPr>
          <p:cNvPr id="3" name="Content Placeholder 2">
            <a:extLst>
              <a:ext uri="{FF2B5EF4-FFF2-40B4-BE49-F238E27FC236}">
                <a16:creationId xmlns:a16="http://schemas.microsoft.com/office/drawing/2014/main" id="{AD767719-D983-2524-AEFA-F6F095885A49}"/>
              </a:ext>
            </a:extLst>
          </p:cNvPr>
          <p:cNvSpPr>
            <a:spLocks noGrp="1"/>
          </p:cNvSpPr>
          <p:nvPr>
            <p:ph idx="1"/>
          </p:nvPr>
        </p:nvSpPr>
        <p:spPr/>
        <p:txBody>
          <a:bodyPr/>
          <a:lstStyle/>
          <a:p>
            <a:r>
              <a:rPr lang="en-US" dirty="0"/>
              <a:t>Traditional:   One Target 🎯 → Attack = System Down</a:t>
            </a:r>
          </a:p>
          <a:p>
            <a:r>
              <a:rPr lang="en-US" dirty="0"/>
              <a:t>Blockchain:    Many Nodes 🔗 → Attack One = System Safe</a:t>
            </a:r>
          </a:p>
          <a:p>
            <a:endParaRPr lang="en-US" dirty="0"/>
          </a:p>
        </p:txBody>
      </p:sp>
    </p:spTree>
    <p:extLst>
      <p:ext uri="{BB962C8B-B14F-4D97-AF65-F5344CB8AC3E}">
        <p14:creationId xmlns:p14="http://schemas.microsoft.com/office/powerpoint/2010/main" val="1534334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8D2F-1979-D56E-4D92-7B2C2EFCA0E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0E6A5E4-7DED-1830-5E51-B276B017360F}"/>
              </a:ext>
            </a:extLst>
          </p:cNvPr>
          <p:cNvSpPr>
            <a:spLocks noGrp="1"/>
          </p:cNvSpPr>
          <p:nvPr>
            <p:ph idx="1"/>
          </p:nvPr>
        </p:nvSpPr>
        <p:spPr/>
        <p:txBody>
          <a:bodyPr>
            <a:normAutofit lnSpcReduction="10000"/>
          </a:bodyPr>
          <a:lstStyle/>
          <a:p>
            <a:r>
              <a:rPr lang="en-US" dirty="0"/>
              <a:t>Blockchain’s decentralized approach to cybersecurity can be seen as a fresh take on the issues that the industry faces today. The market could only use more solutions to combat the threats of cyberattacks. And the use of Blockchain may yet address the vulnerabilities and limitations of current security approaches and solutions. </a:t>
            </a:r>
          </a:p>
          <a:p>
            <a:r>
              <a:rPr lang="en-US" dirty="0"/>
              <a:t>Throwing constant pots of money at the problem and knee-jerk reactions is not the answer. Firms need to sort out their governance, awareness and organizational culture and critically look at the business purpose and processes before they invest in systems to combat cyber crime.</a:t>
            </a:r>
          </a:p>
        </p:txBody>
      </p:sp>
    </p:spTree>
    <p:extLst>
      <p:ext uri="{BB962C8B-B14F-4D97-AF65-F5344CB8AC3E}">
        <p14:creationId xmlns:p14="http://schemas.microsoft.com/office/powerpoint/2010/main" val="1169444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5784-8F0B-EF72-67F4-61A28DBF74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AD6D48-E922-BEC5-046D-92678E413F10}"/>
              </a:ext>
            </a:extLst>
          </p:cNvPr>
          <p:cNvSpPr>
            <a:spLocks noGrp="1"/>
          </p:cNvSpPr>
          <p:nvPr>
            <p:ph idx="1"/>
          </p:nvPr>
        </p:nvSpPr>
        <p:spPr/>
        <p:txBody>
          <a:bodyPr/>
          <a:lstStyle/>
          <a:p>
            <a:r>
              <a:rPr lang="en-US" dirty="0"/>
              <a:t>The roster of these new services provided by Blockchain may be limited for now and of course, they face incumbent players in the cybersecurity space. But this only offers further opportunities for other ventures to cover other key areas of cybersecurity. Blockchain also transcends borders and nationalities, which should inspire trust in users. And, with the growth of these new solutions, the industry may yet restore some of the public’s trust they may have lost in the midst of all these issues.</a:t>
            </a:r>
          </a:p>
        </p:txBody>
      </p:sp>
    </p:spTree>
    <p:extLst>
      <p:ext uri="{BB962C8B-B14F-4D97-AF65-F5344CB8AC3E}">
        <p14:creationId xmlns:p14="http://schemas.microsoft.com/office/powerpoint/2010/main" val="964365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9D4F3-3C75-EAA1-0392-447A2CD612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43E1C2-2DD8-C54D-0080-A56C73DF78C9}"/>
              </a:ext>
            </a:extLst>
          </p:cNvPr>
          <p:cNvSpPr>
            <a:spLocks noGrp="1"/>
          </p:cNvSpPr>
          <p:nvPr>
            <p:ph idx="1"/>
          </p:nvPr>
        </p:nvSpPr>
        <p:spPr/>
        <p:txBody>
          <a:bodyPr/>
          <a:lstStyle/>
          <a:p>
            <a:r>
              <a:rPr lang="en-US" dirty="0"/>
              <a:t>Overall, Blockchain technology is a breakthrough in cybersecurity, as it can ensure the highest level of data confidentiality, availability and security. However, the complexity of the technology may cause </a:t>
            </a:r>
            <a:r>
              <a:rPr lang="en-US" dirty="0" err="1"/>
              <a:t>diffi</a:t>
            </a:r>
            <a:r>
              <a:rPr lang="en-US" dirty="0"/>
              <a:t> </a:t>
            </a:r>
            <a:r>
              <a:rPr lang="en-US" dirty="0" err="1"/>
              <a:t>culties</a:t>
            </a:r>
            <a:r>
              <a:rPr lang="en-US" dirty="0"/>
              <a:t> with development and real-world use.</a:t>
            </a:r>
          </a:p>
        </p:txBody>
      </p:sp>
    </p:spTree>
    <p:extLst>
      <p:ext uri="{BB962C8B-B14F-4D97-AF65-F5344CB8AC3E}">
        <p14:creationId xmlns:p14="http://schemas.microsoft.com/office/powerpoint/2010/main" val="895483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8B31-CF46-6E29-FE03-3191FD410B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FD7B30-551A-DBD4-1630-BF3F32CD2E4C}"/>
              </a:ext>
            </a:extLst>
          </p:cNvPr>
          <p:cNvSpPr>
            <a:spLocks noGrp="1"/>
          </p:cNvSpPr>
          <p:nvPr>
            <p:ph idx="1"/>
          </p:nvPr>
        </p:nvSpPr>
        <p:spPr/>
        <p:txBody>
          <a:bodyPr/>
          <a:lstStyle/>
          <a:p>
            <a:r>
              <a:rPr lang="en-US" dirty="0"/>
              <a:t>Implementation of Blockchain applications requires comprehensive, enterprise- and risk-based approaches that capitalize on cyber security risk frameworks, best practices, and cybersecurity assurance services to mitigate risks. In addition, cyber intelligence capabilities, such as cognitive security, threat modeling, and artificial intelligence, can help to proactively predict cyber threats to create countermeasures. That is why AI is considered as the first line of defense while Block chain is the second line. </a:t>
            </a:r>
          </a:p>
        </p:txBody>
      </p:sp>
    </p:spTree>
    <p:extLst>
      <p:ext uri="{BB962C8B-B14F-4D97-AF65-F5344CB8AC3E}">
        <p14:creationId xmlns:p14="http://schemas.microsoft.com/office/powerpoint/2010/main" val="3969473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1A0C-8B9E-87C9-8E74-6D1540E11173}"/>
              </a:ext>
            </a:extLst>
          </p:cNvPr>
          <p:cNvSpPr>
            <a:spLocks noGrp="1"/>
          </p:cNvSpPr>
          <p:nvPr>
            <p:ph type="title"/>
          </p:nvPr>
        </p:nvSpPr>
        <p:spPr/>
        <p:txBody>
          <a:bodyPr/>
          <a:lstStyle/>
          <a:p>
            <a:r>
              <a:rPr lang="en-US" dirty="0"/>
              <a:t>cryptography</a:t>
            </a:r>
          </a:p>
        </p:txBody>
      </p:sp>
      <p:sp>
        <p:nvSpPr>
          <p:cNvPr id="3" name="Content Placeholder 2">
            <a:extLst>
              <a:ext uri="{FF2B5EF4-FFF2-40B4-BE49-F238E27FC236}">
                <a16:creationId xmlns:a16="http://schemas.microsoft.com/office/drawing/2014/main" id="{87B6C0D5-EEC7-5091-BDAE-C148EFD761E7}"/>
              </a:ext>
            </a:extLst>
          </p:cNvPr>
          <p:cNvSpPr>
            <a:spLocks noGrp="1"/>
          </p:cNvSpPr>
          <p:nvPr>
            <p:ph idx="1"/>
          </p:nvPr>
        </p:nvSpPr>
        <p:spPr/>
        <p:txBody>
          <a:bodyPr>
            <a:normAutofit fontScale="92500" lnSpcReduction="10000"/>
          </a:bodyPr>
          <a:lstStyle/>
          <a:p>
            <a:pPr marL="0" indent="0">
              <a:buNone/>
            </a:pPr>
            <a:r>
              <a:rPr lang="en-US" dirty="0"/>
              <a:t>In cryptography, a public key and private key are like a lock and a secret key.</a:t>
            </a:r>
          </a:p>
          <a:p>
            <a:r>
              <a:rPr lang="en-US" dirty="0"/>
              <a:t>Public key = can be shared with everyone </a:t>
            </a:r>
          </a:p>
          <a:p>
            <a:r>
              <a:rPr lang="en-US" dirty="0"/>
              <a:t>Private key = must be kept secret </a:t>
            </a:r>
          </a:p>
          <a:p>
            <a:pPr marL="0" indent="0">
              <a:buNone/>
            </a:pPr>
            <a:r>
              <a:rPr lang="en-US" dirty="0"/>
              <a:t>They work together using something called asymmetric cryptography.</a:t>
            </a:r>
          </a:p>
          <a:p>
            <a:pPr marL="0" indent="0">
              <a:buNone/>
            </a:pPr>
            <a:r>
              <a:rPr lang="en-US" dirty="0"/>
              <a:t>Imagine:</a:t>
            </a:r>
          </a:p>
          <a:p>
            <a:r>
              <a:rPr lang="en-US" dirty="0"/>
              <a:t>Public key = your home address </a:t>
            </a:r>
          </a:p>
          <a:p>
            <a:r>
              <a:rPr lang="en-US" dirty="0"/>
              <a:t>Private key = the key to your house </a:t>
            </a:r>
          </a:p>
          <a:p>
            <a:pPr marL="0" indent="0">
              <a:buNone/>
            </a:pPr>
            <a:r>
              <a:rPr lang="en-US" dirty="0"/>
              <a:t>Anyone can know your address and send you mail, but only you should have the key to open your house.</a:t>
            </a:r>
          </a:p>
          <a:p>
            <a:endParaRPr lang="en-US" dirty="0"/>
          </a:p>
        </p:txBody>
      </p:sp>
    </p:spTree>
    <p:extLst>
      <p:ext uri="{BB962C8B-B14F-4D97-AF65-F5344CB8AC3E}">
        <p14:creationId xmlns:p14="http://schemas.microsoft.com/office/powerpoint/2010/main" val="201083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0E9A-B312-E6CB-2499-A5A5AA8765A7}"/>
              </a:ext>
            </a:extLst>
          </p:cNvPr>
          <p:cNvSpPr>
            <a:spLocks noGrp="1"/>
          </p:cNvSpPr>
          <p:nvPr>
            <p:ph type="title"/>
          </p:nvPr>
        </p:nvSpPr>
        <p:spPr/>
        <p:txBody>
          <a:bodyPr/>
          <a:lstStyle/>
          <a:p>
            <a:r>
              <a:rPr lang="en-US" dirty="0"/>
              <a:t>Daily life example:</a:t>
            </a:r>
          </a:p>
        </p:txBody>
      </p:sp>
      <p:sp>
        <p:nvSpPr>
          <p:cNvPr id="3" name="Content Placeholder 2">
            <a:extLst>
              <a:ext uri="{FF2B5EF4-FFF2-40B4-BE49-F238E27FC236}">
                <a16:creationId xmlns:a16="http://schemas.microsoft.com/office/drawing/2014/main" id="{15620B11-0FCB-583C-67FB-000E8295F61C}"/>
              </a:ext>
            </a:extLst>
          </p:cNvPr>
          <p:cNvSpPr>
            <a:spLocks noGrp="1"/>
          </p:cNvSpPr>
          <p:nvPr>
            <p:ph idx="1"/>
          </p:nvPr>
        </p:nvSpPr>
        <p:spPr/>
        <p:txBody>
          <a:bodyPr/>
          <a:lstStyle/>
          <a:p>
            <a:pPr marL="0" indent="0">
              <a:buNone/>
            </a:pPr>
            <a:r>
              <a:rPr lang="en-US" dirty="0"/>
              <a:t>Suppose you have a locked mailbox outside your house.</a:t>
            </a:r>
          </a:p>
          <a:p>
            <a:r>
              <a:rPr lang="en-US" dirty="0"/>
              <a:t>The mailbox slot is public — anyone can drop a letter in. </a:t>
            </a:r>
          </a:p>
          <a:p>
            <a:r>
              <a:rPr lang="en-US" dirty="0"/>
              <a:t>But only you have the mailbox key to open it. </a:t>
            </a:r>
          </a:p>
          <a:p>
            <a:pPr marL="0" indent="0">
              <a:buNone/>
            </a:pPr>
            <a:r>
              <a:rPr lang="en-US" dirty="0"/>
              <a:t>In crypto:</a:t>
            </a:r>
          </a:p>
          <a:p>
            <a:r>
              <a:rPr lang="en-US" dirty="0"/>
              <a:t>Your public key lets people send coins to you. </a:t>
            </a:r>
          </a:p>
          <a:p>
            <a:r>
              <a:rPr lang="en-US" dirty="0"/>
              <a:t>Your private key lets you spend those coins.</a:t>
            </a:r>
          </a:p>
          <a:p>
            <a:endParaRPr lang="en-US" dirty="0"/>
          </a:p>
        </p:txBody>
      </p:sp>
    </p:spTree>
    <p:extLst>
      <p:ext uri="{BB962C8B-B14F-4D97-AF65-F5344CB8AC3E}">
        <p14:creationId xmlns:p14="http://schemas.microsoft.com/office/powerpoint/2010/main" val="2932847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E0B5C-D9DC-F9B6-A42D-403AD7E5148F}"/>
              </a:ext>
            </a:extLst>
          </p:cNvPr>
          <p:cNvSpPr>
            <a:spLocks noGrp="1"/>
          </p:cNvSpPr>
          <p:nvPr>
            <p:ph type="title"/>
          </p:nvPr>
        </p:nvSpPr>
        <p:spPr/>
        <p:txBody>
          <a:bodyPr/>
          <a:lstStyle/>
          <a:p>
            <a:r>
              <a:rPr lang="en-US" dirty="0"/>
              <a:t>Blockchain example:</a:t>
            </a:r>
          </a:p>
        </p:txBody>
      </p:sp>
      <p:sp>
        <p:nvSpPr>
          <p:cNvPr id="3" name="Content Placeholder 2">
            <a:extLst>
              <a:ext uri="{FF2B5EF4-FFF2-40B4-BE49-F238E27FC236}">
                <a16:creationId xmlns:a16="http://schemas.microsoft.com/office/drawing/2014/main" id="{AEBEA0B0-8F7C-A0B1-C866-216F792A1E5E}"/>
              </a:ext>
            </a:extLst>
          </p:cNvPr>
          <p:cNvSpPr>
            <a:spLocks noGrp="1"/>
          </p:cNvSpPr>
          <p:nvPr>
            <p:ph idx="1"/>
          </p:nvPr>
        </p:nvSpPr>
        <p:spPr/>
        <p:txBody>
          <a:bodyPr>
            <a:normAutofit fontScale="85000" lnSpcReduction="20000"/>
          </a:bodyPr>
          <a:lstStyle/>
          <a:p>
            <a:pPr marL="0" indent="0">
              <a:buNone/>
            </a:pPr>
            <a:r>
              <a:rPr lang="en-US" dirty="0"/>
              <a:t>On a blockchain like Bitcoin or Ethereum:</a:t>
            </a:r>
          </a:p>
          <a:p>
            <a:r>
              <a:rPr lang="en-US" dirty="0"/>
              <a:t>You create a wallet </a:t>
            </a:r>
          </a:p>
          <a:p>
            <a:r>
              <a:rPr lang="en-US" dirty="0"/>
              <a:t>The wallet generates: </a:t>
            </a:r>
          </a:p>
          <a:p>
            <a:pPr lvl="1"/>
            <a:r>
              <a:rPr lang="en-US" dirty="0"/>
              <a:t>Public key </a:t>
            </a:r>
          </a:p>
          <a:p>
            <a:pPr lvl="1"/>
            <a:r>
              <a:rPr lang="en-US" dirty="0"/>
              <a:t>Private key </a:t>
            </a:r>
          </a:p>
          <a:p>
            <a:r>
              <a:rPr lang="en-US" dirty="0"/>
              <a:t>Your wallet address is usually created from the public key </a:t>
            </a:r>
          </a:p>
          <a:p>
            <a:r>
              <a:rPr lang="en-US" dirty="0"/>
              <a:t>Others use your public address to send you crypto </a:t>
            </a:r>
          </a:p>
          <a:p>
            <a:r>
              <a:rPr lang="en-US" dirty="0"/>
              <a:t>You use your private key to sign transactions when sending crypto out </a:t>
            </a:r>
          </a:p>
          <a:p>
            <a:pPr marL="0" indent="0">
              <a:buNone/>
            </a:pPr>
            <a:r>
              <a:rPr lang="en-US" dirty="0"/>
              <a:t>For example:</a:t>
            </a:r>
          </a:p>
          <a:p>
            <a:r>
              <a:rPr lang="en-US" dirty="0"/>
              <a:t>Your wallet address: "abc123..." </a:t>
            </a:r>
          </a:p>
          <a:p>
            <a:r>
              <a:rPr lang="en-US" dirty="0"/>
              <a:t>Someone sends you coins there </a:t>
            </a:r>
          </a:p>
          <a:p>
            <a:r>
              <a:rPr lang="en-US" dirty="0"/>
              <a:t>To spend them later, you must prove ownership using your private key</a:t>
            </a:r>
          </a:p>
          <a:p>
            <a:endParaRPr lang="en-US" dirty="0"/>
          </a:p>
        </p:txBody>
      </p:sp>
    </p:spTree>
    <p:extLst>
      <p:ext uri="{BB962C8B-B14F-4D97-AF65-F5344CB8AC3E}">
        <p14:creationId xmlns:p14="http://schemas.microsoft.com/office/powerpoint/2010/main" val="273264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50AB9-C5D9-CE4C-3372-D092BCDCE06E}"/>
              </a:ext>
            </a:extLst>
          </p:cNvPr>
          <p:cNvSpPr>
            <a:spLocks noGrp="1"/>
          </p:cNvSpPr>
          <p:nvPr>
            <p:ph type="title"/>
          </p:nvPr>
        </p:nvSpPr>
        <p:spPr/>
        <p:txBody>
          <a:bodyPr/>
          <a:lstStyle/>
          <a:p>
            <a:r>
              <a:rPr lang="en-US" dirty="0"/>
              <a:t>Crypto example:</a:t>
            </a:r>
          </a:p>
        </p:txBody>
      </p:sp>
      <p:sp>
        <p:nvSpPr>
          <p:cNvPr id="3" name="Content Placeholder 2">
            <a:extLst>
              <a:ext uri="{FF2B5EF4-FFF2-40B4-BE49-F238E27FC236}">
                <a16:creationId xmlns:a16="http://schemas.microsoft.com/office/drawing/2014/main" id="{465B1A61-B327-0C71-F608-532A818CEDA3}"/>
              </a:ext>
            </a:extLst>
          </p:cNvPr>
          <p:cNvSpPr>
            <a:spLocks noGrp="1"/>
          </p:cNvSpPr>
          <p:nvPr>
            <p:ph idx="1"/>
          </p:nvPr>
        </p:nvSpPr>
        <p:spPr/>
        <p:txBody>
          <a:bodyPr>
            <a:normAutofit fontScale="92500" lnSpcReduction="20000"/>
          </a:bodyPr>
          <a:lstStyle/>
          <a:p>
            <a:pPr marL="0" indent="0">
              <a:buNone/>
            </a:pPr>
            <a:r>
              <a:rPr lang="en-US" dirty="0"/>
              <a:t>Suppose you own Bitcoin.</a:t>
            </a:r>
          </a:p>
          <a:p>
            <a:r>
              <a:rPr lang="en-US" dirty="0"/>
              <a:t>Public address: like your bank account number </a:t>
            </a:r>
          </a:p>
          <a:p>
            <a:r>
              <a:rPr lang="en-US" dirty="0"/>
              <a:t>Private key: like your ATM PIN + signature combined </a:t>
            </a:r>
          </a:p>
          <a:p>
            <a:pPr marL="0" indent="0">
              <a:buNone/>
            </a:pPr>
            <a:r>
              <a:rPr lang="en-US" dirty="0"/>
              <a:t>If someone knows only your public address:</a:t>
            </a:r>
          </a:p>
          <a:p>
            <a:r>
              <a:rPr lang="en-US" dirty="0"/>
              <a:t>They can send you Bitcoin </a:t>
            </a:r>
          </a:p>
          <a:p>
            <a:r>
              <a:rPr lang="en-US" dirty="0"/>
              <a:t>They cannot steal your Bitcoin </a:t>
            </a:r>
          </a:p>
          <a:p>
            <a:pPr marL="0" indent="0">
              <a:buNone/>
            </a:pPr>
            <a:r>
              <a:rPr lang="en-US" dirty="0"/>
              <a:t>If someone gets your private key:</a:t>
            </a:r>
          </a:p>
          <a:p>
            <a:r>
              <a:rPr lang="en-US" dirty="0"/>
              <a:t>They can control your wallet </a:t>
            </a:r>
          </a:p>
          <a:p>
            <a:r>
              <a:rPr lang="en-US" dirty="0"/>
              <a:t>They can send all your crypto away </a:t>
            </a:r>
          </a:p>
          <a:p>
            <a:pPr marL="0" indent="0">
              <a:buNone/>
            </a:pPr>
            <a:r>
              <a:rPr lang="en-US" dirty="0"/>
              <a:t>That is why private keys are extremely important.</a:t>
            </a:r>
          </a:p>
          <a:p>
            <a:endParaRPr lang="en-US" dirty="0"/>
          </a:p>
        </p:txBody>
      </p:sp>
    </p:spTree>
    <p:extLst>
      <p:ext uri="{BB962C8B-B14F-4D97-AF65-F5344CB8AC3E}">
        <p14:creationId xmlns:p14="http://schemas.microsoft.com/office/powerpoint/2010/main" val="3440604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4EBA-265E-4446-1AF8-19AF6BF292F8}"/>
              </a:ext>
            </a:extLst>
          </p:cNvPr>
          <p:cNvSpPr>
            <a:spLocks noGrp="1"/>
          </p:cNvSpPr>
          <p:nvPr>
            <p:ph type="title"/>
          </p:nvPr>
        </p:nvSpPr>
        <p:spPr/>
        <p:txBody>
          <a:bodyPr/>
          <a:lstStyle/>
          <a:p>
            <a:r>
              <a:rPr lang="en-US" dirty="0"/>
              <a:t>Simple comparison:</a:t>
            </a:r>
          </a:p>
        </p:txBody>
      </p:sp>
      <p:graphicFrame>
        <p:nvGraphicFramePr>
          <p:cNvPr id="4" name="Content Placeholder 3">
            <a:extLst>
              <a:ext uri="{FF2B5EF4-FFF2-40B4-BE49-F238E27FC236}">
                <a16:creationId xmlns:a16="http://schemas.microsoft.com/office/drawing/2014/main" id="{CCD33CC6-4379-9354-F791-A071A29CA508}"/>
              </a:ext>
            </a:extLst>
          </p:cNvPr>
          <p:cNvGraphicFramePr>
            <a:graphicFrameLocks noGrp="1"/>
          </p:cNvGraphicFramePr>
          <p:nvPr>
            <p:ph idx="1"/>
            <p:extLst>
              <p:ext uri="{D42A27DB-BD31-4B8C-83A1-F6EECF244321}">
                <p14:modId xmlns:p14="http://schemas.microsoft.com/office/powerpoint/2010/main" val="3045703210"/>
              </p:ext>
            </p:extLst>
          </p:nvPr>
        </p:nvGraphicFramePr>
        <p:xfrm>
          <a:off x="838200" y="1914525"/>
          <a:ext cx="10515600" cy="3138328"/>
        </p:xfrm>
        <a:graphic>
          <a:graphicData uri="http://schemas.openxmlformats.org/drawingml/2006/table">
            <a:tbl>
              <a:tblPr/>
              <a:tblGrid>
                <a:gridCol w="3505200">
                  <a:extLst>
                    <a:ext uri="{9D8B030D-6E8A-4147-A177-3AD203B41FA5}">
                      <a16:colId xmlns:a16="http://schemas.microsoft.com/office/drawing/2014/main" val="3426883248"/>
                    </a:ext>
                  </a:extLst>
                </a:gridCol>
                <a:gridCol w="3505200">
                  <a:extLst>
                    <a:ext uri="{9D8B030D-6E8A-4147-A177-3AD203B41FA5}">
                      <a16:colId xmlns:a16="http://schemas.microsoft.com/office/drawing/2014/main" val="1608463546"/>
                    </a:ext>
                  </a:extLst>
                </a:gridCol>
                <a:gridCol w="3505200">
                  <a:extLst>
                    <a:ext uri="{9D8B030D-6E8A-4147-A177-3AD203B41FA5}">
                      <a16:colId xmlns:a16="http://schemas.microsoft.com/office/drawing/2014/main" val="2532257609"/>
                    </a:ext>
                  </a:extLst>
                </a:gridCol>
              </a:tblGrid>
              <a:tr h="545796">
                <a:tc>
                  <a:txBody>
                    <a:bodyPr/>
                    <a:lstStyle/>
                    <a:p>
                      <a:pPr>
                        <a:buNone/>
                      </a:pPr>
                      <a:r>
                        <a:rPr lang="en-US" b="1"/>
                        <a:t>Thing</a:t>
                      </a:r>
                    </a:p>
                  </a:txBody>
                  <a:tcPr anchor="ctr">
                    <a:lnL>
                      <a:noFill/>
                    </a:lnL>
                    <a:lnR>
                      <a:noFill/>
                    </a:lnR>
                    <a:lnT>
                      <a:noFill/>
                    </a:lnT>
                    <a:lnB>
                      <a:noFill/>
                    </a:lnB>
                    <a:noFill/>
                  </a:tcPr>
                </a:tc>
                <a:tc>
                  <a:txBody>
                    <a:bodyPr/>
                    <a:lstStyle/>
                    <a:p>
                      <a:pPr>
                        <a:buNone/>
                      </a:pPr>
                      <a:r>
                        <a:rPr lang="en-US" b="1"/>
                        <a:t>Public Key</a:t>
                      </a:r>
                    </a:p>
                  </a:txBody>
                  <a:tcPr anchor="ctr">
                    <a:lnL>
                      <a:noFill/>
                    </a:lnL>
                    <a:lnR>
                      <a:noFill/>
                    </a:lnR>
                    <a:lnT>
                      <a:noFill/>
                    </a:lnT>
                    <a:lnB>
                      <a:noFill/>
                    </a:lnB>
                    <a:noFill/>
                  </a:tcPr>
                </a:tc>
                <a:tc>
                  <a:txBody>
                    <a:bodyPr/>
                    <a:lstStyle/>
                    <a:p>
                      <a:pPr>
                        <a:buNone/>
                      </a:pPr>
                      <a:r>
                        <a:rPr lang="en-US" b="1" dirty="0"/>
                        <a:t>Private Key</a:t>
                      </a:r>
                    </a:p>
                  </a:txBody>
                  <a:tcPr anchor="ctr">
                    <a:lnL>
                      <a:noFill/>
                    </a:lnL>
                    <a:lnR>
                      <a:noFill/>
                    </a:lnR>
                    <a:lnT>
                      <a:noFill/>
                    </a:lnT>
                    <a:lnB>
                      <a:noFill/>
                    </a:lnB>
                    <a:noFill/>
                  </a:tcPr>
                </a:tc>
                <a:extLst>
                  <a:ext uri="{0D108BD9-81ED-4DB2-BD59-A6C34878D82A}">
                    <a16:rowId xmlns:a16="http://schemas.microsoft.com/office/drawing/2014/main" val="79134520"/>
                  </a:ext>
                </a:extLst>
              </a:tr>
              <a:tr h="545796">
                <a:tc>
                  <a:txBody>
                    <a:bodyPr/>
                    <a:lstStyle/>
                    <a:p>
                      <a:pPr>
                        <a:buNone/>
                      </a:pPr>
                      <a:r>
                        <a:rPr lang="en-US"/>
                        <a:t>Can others see it?</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4198472935"/>
                  </a:ext>
                </a:extLst>
              </a:tr>
              <a:tr h="545796">
                <a:tc>
                  <a:txBody>
                    <a:bodyPr/>
                    <a:lstStyle/>
                    <a:p>
                      <a:pPr>
                        <a:buNone/>
                      </a:pPr>
                      <a:r>
                        <a:rPr lang="en-US"/>
                        <a:t>Can others use it?</a:t>
                      </a:r>
                    </a:p>
                  </a:txBody>
                  <a:tcPr anchor="ctr">
                    <a:lnL>
                      <a:noFill/>
                    </a:lnL>
                    <a:lnR>
                      <a:noFill/>
                    </a:lnR>
                    <a:lnT>
                      <a:noFill/>
                    </a:lnT>
                    <a:lnB>
                      <a:noFill/>
                    </a:lnB>
                    <a:noFill/>
                  </a:tcPr>
                </a:tc>
                <a:tc>
                  <a:txBody>
                    <a:bodyPr/>
                    <a:lstStyle/>
                    <a:p>
                      <a:pPr>
                        <a:buNone/>
                      </a:pPr>
                      <a:r>
                        <a:rPr lang="en-US"/>
                        <a:t>Yes, to send you data or crypto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975844449"/>
                  </a:ext>
                </a:extLst>
              </a:tr>
              <a:tr h="545796">
                <a:tc>
                  <a:txBody>
                    <a:bodyPr/>
                    <a:lstStyle/>
                    <a:p>
                      <a:pPr>
                        <a:buNone/>
                      </a:pPr>
                      <a:r>
                        <a:rPr lang="en-US"/>
                        <a:t>Main purpose</a:t>
                      </a:r>
                    </a:p>
                  </a:txBody>
                  <a:tcPr anchor="ctr">
                    <a:lnL>
                      <a:noFill/>
                    </a:lnL>
                    <a:lnR>
                      <a:noFill/>
                    </a:lnR>
                    <a:lnT>
                      <a:noFill/>
                    </a:lnT>
                    <a:lnB>
                      <a:noFill/>
                    </a:lnB>
                    <a:noFill/>
                  </a:tcPr>
                </a:tc>
                <a:tc>
                  <a:txBody>
                    <a:bodyPr/>
                    <a:lstStyle/>
                    <a:p>
                      <a:pPr>
                        <a:buNone/>
                      </a:pPr>
                      <a:r>
                        <a:rPr lang="en-US"/>
                        <a:t>Receive</a:t>
                      </a:r>
                    </a:p>
                  </a:txBody>
                  <a:tcPr anchor="ctr">
                    <a:lnL>
                      <a:noFill/>
                    </a:lnL>
                    <a:lnR>
                      <a:noFill/>
                    </a:lnR>
                    <a:lnT>
                      <a:noFill/>
                    </a:lnT>
                    <a:lnB>
                      <a:noFill/>
                    </a:lnB>
                    <a:noFill/>
                  </a:tcPr>
                </a:tc>
                <a:tc>
                  <a:txBody>
                    <a:bodyPr/>
                    <a:lstStyle/>
                    <a:p>
                      <a:pPr>
                        <a:buNone/>
                      </a:pPr>
                      <a:r>
                        <a:rPr lang="en-US"/>
                        <a:t>Spend / unlock</a:t>
                      </a:r>
                    </a:p>
                  </a:txBody>
                  <a:tcPr anchor="ctr">
                    <a:lnL>
                      <a:noFill/>
                    </a:lnL>
                    <a:lnR>
                      <a:noFill/>
                    </a:lnR>
                    <a:lnT>
                      <a:noFill/>
                    </a:lnT>
                    <a:lnB>
                      <a:noFill/>
                    </a:lnB>
                    <a:noFill/>
                  </a:tcPr>
                </a:tc>
                <a:extLst>
                  <a:ext uri="{0D108BD9-81ED-4DB2-BD59-A6C34878D82A}">
                    <a16:rowId xmlns:a16="http://schemas.microsoft.com/office/drawing/2014/main" val="3795602904"/>
                  </a:ext>
                </a:extLst>
              </a:tr>
              <a:tr h="955144">
                <a:tc>
                  <a:txBody>
                    <a:bodyPr/>
                    <a:lstStyle/>
                    <a:p>
                      <a:pPr>
                        <a:buNone/>
                      </a:pPr>
                      <a:r>
                        <a:rPr lang="en-US"/>
                        <a:t>Example</a:t>
                      </a:r>
                    </a:p>
                  </a:txBody>
                  <a:tcPr anchor="ctr">
                    <a:lnL>
                      <a:noFill/>
                    </a:lnL>
                    <a:lnR>
                      <a:noFill/>
                    </a:lnR>
                    <a:lnT>
                      <a:noFill/>
                    </a:lnT>
                    <a:lnB>
                      <a:noFill/>
                    </a:lnB>
                    <a:noFill/>
                  </a:tcPr>
                </a:tc>
                <a:tc>
                  <a:txBody>
                    <a:bodyPr/>
                    <a:lstStyle/>
                    <a:p>
                      <a:pPr>
                        <a:buNone/>
                      </a:pPr>
                      <a:r>
                        <a:rPr lang="en-US"/>
                        <a:t>Email address / bank account number</a:t>
                      </a:r>
                    </a:p>
                  </a:txBody>
                  <a:tcPr anchor="ctr">
                    <a:lnL>
                      <a:noFill/>
                    </a:lnL>
                    <a:lnR>
                      <a:noFill/>
                    </a:lnR>
                    <a:lnT>
                      <a:noFill/>
                    </a:lnT>
                    <a:lnB>
                      <a:noFill/>
                    </a:lnB>
                    <a:noFill/>
                  </a:tcPr>
                </a:tc>
                <a:tc>
                  <a:txBody>
                    <a:bodyPr/>
                    <a:lstStyle/>
                    <a:p>
                      <a:pPr>
                        <a:buNone/>
                      </a:pPr>
                      <a:r>
                        <a:rPr lang="en-US" dirty="0"/>
                        <a:t>Password / ATM PIN</a:t>
                      </a:r>
                    </a:p>
                  </a:txBody>
                  <a:tcPr anchor="ctr">
                    <a:lnL>
                      <a:noFill/>
                    </a:lnL>
                    <a:lnR>
                      <a:noFill/>
                    </a:lnR>
                    <a:lnT>
                      <a:noFill/>
                    </a:lnT>
                    <a:lnB>
                      <a:noFill/>
                    </a:lnB>
                    <a:noFill/>
                  </a:tcPr>
                </a:tc>
                <a:extLst>
                  <a:ext uri="{0D108BD9-81ED-4DB2-BD59-A6C34878D82A}">
                    <a16:rowId xmlns:a16="http://schemas.microsoft.com/office/drawing/2014/main" val="2706518558"/>
                  </a:ext>
                </a:extLst>
              </a:tr>
            </a:tbl>
          </a:graphicData>
        </a:graphic>
      </p:graphicFrame>
    </p:spTree>
    <p:extLst>
      <p:ext uri="{BB962C8B-B14F-4D97-AF65-F5344CB8AC3E}">
        <p14:creationId xmlns:p14="http://schemas.microsoft.com/office/powerpoint/2010/main" val="2440651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D275-DD5D-951B-EB1E-7F43BBFE19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C55911-C07A-1F21-55FD-0DC0E025E308}"/>
              </a:ext>
            </a:extLst>
          </p:cNvPr>
          <p:cNvSpPr>
            <a:spLocks noGrp="1"/>
          </p:cNvSpPr>
          <p:nvPr>
            <p:ph idx="1"/>
          </p:nvPr>
        </p:nvSpPr>
        <p:spPr/>
        <p:txBody>
          <a:bodyPr/>
          <a:lstStyle/>
          <a:p>
            <a:r>
              <a:rPr lang="en-US" dirty="0">
                <a:hlinkClick r:id="rId2"/>
              </a:rPr>
              <a:t>https://youtu.be/gTfNtop9vzM?si=gIrftBpYaO-zPmCD</a:t>
            </a:r>
            <a:endParaRPr lang="en-US" dirty="0"/>
          </a:p>
          <a:p>
            <a:endParaRPr lang="en-US" dirty="0"/>
          </a:p>
          <a:p>
            <a:r>
              <a:rPr lang="en-US" dirty="0">
                <a:hlinkClick r:id="rId3"/>
              </a:rPr>
              <a:t>https://youtu.be/o_g-M7UBqI8?si=CVsKBFgL0fCjETZl</a:t>
            </a:r>
            <a:endParaRPr lang="en-US" dirty="0"/>
          </a:p>
          <a:p>
            <a:endParaRPr lang="en-US" dirty="0"/>
          </a:p>
          <a:p>
            <a:r>
              <a:rPr lang="en-US">
                <a:hlinkClick r:id="rId4"/>
              </a:rPr>
              <a:t>https://youtu.be/lHipE05v4jg?si=ZSh2aiwjx87VJ76u</a:t>
            </a:r>
            <a:endParaRPr lang="en-US"/>
          </a:p>
          <a:p>
            <a:endParaRPr lang="en-US"/>
          </a:p>
        </p:txBody>
      </p:sp>
    </p:spTree>
    <p:extLst>
      <p:ext uri="{BB962C8B-B14F-4D97-AF65-F5344CB8AC3E}">
        <p14:creationId xmlns:p14="http://schemas.microsoft.com/office/powerpoint/2010/main" val="3054899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2015</Words>
  <Application>Microsoft Office PowerPoint</Application>
  <PresentationFormat>Widescreen</PresentationFormat>
  <Paragraphs>225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Week 6</vt:lpstr>
      <vt:lpstr>Cybersecurity &amp; Blockchain</vt:lpstr>
      <vt:lpstr>PowerPoint Presentation</vt:lpstr>
      <vt:lpstr>Cybersecurity in term of blockchain</vt:lpstr>
      <vt:lpstr>PowerPoint Presentation</vt:lpstr>
      <vt:lpstr>Implementing Blockchain in Cybersecurity</vt:lpstr>
      <vt:lpstr>PowerPoint Presentation</vt:lpstr>
      <vt:lpstr>Real-Life Cybersecurity Use Cases (Blockchain)</vt:lpstr>
      <vt:lpstr>PowerPoint Presentation</vt:lpstr>
      <vt:lpstr>PowerPoint Presentation</vt:lpstr>
      <vt:lpstr>Advantages vs Challenges table</vt:lpstr>
      <vt:lpstr>Comparison: Traditional vs Blockchain cybersecurity</vt:lpstr>
      <vt:lpstr>Traditional Cybersecurity (Centralized)</vt:lpstr>
      <vt:lpstr>Blockchain Cybersecurity (Decentralized)</vt:lpstr>
      <vt:lpstr>Quick Visual Difference</vt:lpstr>
      <vt:lpstr>Conclusion</vt:lpstr>
      <vt:lpstr>PowerPoint Presentation</vt:lpstr>
      <vt:lpstr>PowerPoint Presentation</vt:lpstr>
      <vt:lpstr>PowerPoint Presentation</vt:lpstr>
      <vt:lpstr>cryptography</vt:lpstr>
      <vt:lpstr>Daily life example:</vt:lpstr>
      <vt:lpstr>Blockchain example:</vt:lpstr>
      <vt:lpstr>Crypto example:</vt:lpstr>
      <vt:lpstr>Simple comparison: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FAHEEM</dc:creator>
  <cp:lastModifiedBy>KHAN FAHEEM</cp:lastModifiedBy>
  <cp:revision>4</cp:revision>
  <dcterms:created xsi:type="dcterms:W3CDTF">2026-02-18T07:46:10Z</dcterms:created>
  <dcterms:modified xsi:type="dcterms:W3CDTF">2026-04-08T06:54:57Z</dcterms:modified>
</cp:coreProperties>
</file>